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19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14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0.png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42.png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6.png"/><Relationship Id="rId7" Type="http://schemas.openxmlformats.org/officeDocument/2006/relationships/image" Target="../media/image4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1c323b54b9e2fed42b22298074780a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195" y="0"/>
            <a:ext cx="10096805" cy="10287311"/>
          </a:xfrm>
          <a:prstGeom prst="rect">
            <a:avLst/>
          </a:prstGeom>
        </p:spPr>
      </p:pic>
      <p:pic>
        <p:nvPicPr>
          <p:cNvPr id="3" name="Image 1" descr="gen-dedup-260669a040ad990ecea2837ff0ddbfa4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0" y="0"/>
            <a:ext cx="9525305" cy="10287000"/>
          </a:xfrm>
          <a:prstGeom prst="rect">
            <a:avLst/>
          </a:prstGeom>
        </p:spPr>
      </p:pic>
      <p:pic>
        <p:nvPicPr>
          <p:cNvPr id="4" name="Image 2" descr="gen-dedup-6f7d439f1708d6b2c78fb4dcf548d03b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1143000" y="1143000"/>
            <a:ext cx="571500" cy="28346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904695" y="1047902"/>
            <a:ext cx="4763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472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KNOWLEDGE SESSION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809598"/>
            <a:ext cx="7620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F3E9C7">
                    <a:alpha val="8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from 29 statutes to four codes —</a:t>
            </a:r>
            <a:endParaRPr lang="en-US" sz="1900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2381098"/>
            <a:ext cx="7810805" cy="2029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0" b="1" kern="0" spc="-117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New Labour</a:t>
            </a:r>
            <a:endParaRPr lang="en-US" sz="7800" dirty="0"/>
          </a:p>
          <a:p>
            <a:pPr marL="0" indent="0" algn="l">
              <a:buNone/>
            </a:pPr>
            <a:r>
              <a:rPr lang="en-US" sz="7800" b="1" kern="0" spc="-117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Codes</a:t>
            </a:r>
            <a:endParaRPr lang="en-US" sz="7800" dirty="0"/>
          </a:p>
        </p:txBody>
      </p:sp>
      <p:pic>
        <p:nvPicPr>
          <p:cNvPr id="8" name="Image 3" descr="gen-dedup-279eb22148ba3bcdf153f6d74422d694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143000" y="4953305"/>
            <a:ext cx="1714500" cy="19202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143000" y="5238598"/>
            <a:ext cx="7810805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i="1" dirty="0">
                <a:solidFill>
                  <a:srgbClr val="F3E9C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Common Pitfalls</a:t>
            </a:r>
            <a:endParaRPr lang="en-US" sz="3300" dirty="0"/>
          </a:p>
          <a:p>
            <a:pPr marL="0" indent="0" algn="l">
              <a:buNone/>
            </a:pPr>
            <a:r>
              <a:rPr lang="en-US" sz="3300" i="1" dirty="0">
                <a:solidFill>
                  <a:srgbClr val="F3E9C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&amp; Safeguards</a:t>
            </a:r>
            <a:endParaRPr lang="en-US" sz="3300" dirty="0"/>
          </a:p>
        </p:txBody>
      </p:sp>
      <p:sp>
        <p:nvSpPr>
          <p:cNvPr id="10" name="Shape 4"/>
          <p:cNvSpPr/>
          <p:nvPr/>
        </p:nvSpPr>
        <p:spPr>
          <a:xfrm>
            <a:off x="1143000" y="6858000"/>
            <a:ext cx="6886346" cy="761695"/>
          </a:xfrm>
          <a:prstGeom prst="rect">
            <a:avLst/>
          </a:prstGeom>
          <a:solidFill>
            <a:srgbClr val="C9A227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5"/>
          <p:cNvSpPr/>
          <p:nvPr/>
        </p:nvSpPr>
        <p:spPr>
          <a:xfrm>
            <a:off x="1143000" y="6858000"/>
            <a:ext cx="28346" cy="76169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6"/>
          <p:cNvSpPr txBox="1"/>
          <p:nvPr/>
        </p:nvSpPr>
        <p:spPr>
          <a:xfrm>
            <a:off x="1380744" y="7000646"/>
            <a:ext cx="65727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93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NOTIFIED · IN FORCE FROM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1380744" y="7258507"/>
            <a:ext cx="65727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21 November 2025 · Central Rules 8 May 2026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8572500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8839505"/>
            <a:ext cx="83064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 Vivek Agarwal </a:t>
            </a:r>
            <a:r>
              <a:rPr lang="en-US" sz="1600" b="1" i="1" dirty="0">
                <a:solidFill>
                  <a:srgbClr val="F3E9C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— FCA · DISA (ICAI) · B.Com</a:t>
            </a:r>
            <a:endParaRPr lang="en-US" sz="2400" dirty="0"/>
          </a:p>
        </p:txBody>
      </p:sp>
      <p:pic>
        <p:nvPicPr>
          <p:cNvPr id="16" name="Image 4" descr="gen-dedup-057560a69fb2792bb4017e45e61cd46f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143000" y="9715500"/>
            <a:ext cx="7619695" cy="91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43000" y="9858146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93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CALCUTTA CHAMBER OF COMMERCE · 17 JULY 2026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17145000" y="9858146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0cc9647b3001fa787cc5f02b4e4623c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0" y="0"/>
            <a:ext cx="7619695" cy="10287000"/>
          </a:xfrm>
          <a:prstGeom prst="rect">
            <a:avLst/>
          </a:prstGeom>
        </p:spPr>
      </p:pic>
      <p:pic>
        <p:nvPicPr>
          <p:cNvPr id="3" name="Image 1" descr="gen-dedup-3b29d105ac83029bcb35fed8453a8757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7619695" y="0"/>
            <a:ext cx="57607" cy="10287000"/>
          </a:xfrm>
          <a:prstGeom prst="rect">
            <a:avLst/>
          </a:prstGeom>
        </p:spPr>
      </p:pic>
      <p:pic>
        <p:nvPicPr>
          <p:cNvPr id="5" name="Image 2" descr="gen-dedup-9a2032636857f8bb216038f66a5d4950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8572500" y="4524451"/>
            <a:ext cx="761695" cy="28346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8572500" y="7524598"/>
            <a:ext cx="2695651" cy="15243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2"/>
          <p:cNvSpPr/>
          <p:nvPr/>
        </p:nvSpPr>
        <p:spPr>
          <a:xfrm>
            <a:off x="8572500" y="7524598"/>
            <a:ext cx="28346" cy="15243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11525098" y="7524598"/>
            <a:ext cx="2695651" cy="15243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11525098" y="7524598"/>
            <a:ext cx="28346" cy="15243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14477695" y="7524598"/>
            <a:ext cx="2695651" cy="15243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4477695" y="7524598"/>
            <a:ext cx="28346" cy="15243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9"/>
          <p:cNvSpPr txBox="1"/>
          <p:nvPr/>
        </p:nvSpPr>
        <p:spPr>
          <a:xfrm>
            <a:off x="4190695" y="9535363"/>
            <a:ext cx="3810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39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YOUR SPEAKER TODAY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8572500" y="190469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390" dirty="0">
                <a:solidFill>
                  <a:srgbClr val="2E54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IN INDIAN LABOUR LAWS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8572500" y="2381098"/>
            <a:ext cx="8572500" cy="176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 Vivek</a:t>
            </a:r>
            <a:endParaRPr lang="en-US" sz="6600" dirty="0"/>
          </a:p>
          <a:p>
            <a:pPr marL="0" indent="0" algn="l">
              <a:buNone/>
            </a:pPr>
            <a:r>
              <a:rPr lang="en-US" sz="6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Agarwal</a:t>
            </a:r>
            <a:endParaRPr lang="en-US" sz="6600" dirty="0"/>
          </a:p>
        </p:txBody>
      </p:sp>
      <p:sp>
        <p:nvSpPr>
          <p:cNvPr id="17" name="Text 12"/>
          <p:cNvSpPr txBox="1"/>
          <p:nvPr/>
        </p:nvSpPr>
        <p:spPr>
          <a:xfrm>
            <a:off x="8572500" y="4809744"/>
            <a:ext cx="8572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4A5A7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FCA · DISA (ICAI) · B.Com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572500" y="5715000"/>
            <a:ext cx="85725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fellow member of The Institute of Chartered Accountants of India, CA Vivek Agarwal specialises in advising corporates, industry associations and professionals on India's evolving labour and employment law landscape.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762695" y="7715707"/>
            <a:ext cx="2286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AREA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8762695" y="8001000"/>
            <a:ext cx="22860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Labour &amp; Employment Laws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1716207" y="7715707"/>
            <a:ext cx="2286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716207" y="8001000"/>
            <a:ext cx="22860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DISA — Info. Systems Audit (ICAI)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4668805" y="7715707"/>
            <a:ext cx="2286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TODAY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4668805" y="8001000"/>
            <a:ext cx="22860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Practical compliance under 4 new Codes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8572500" y="9525305"/>
            <a:ext cx="8572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63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HOSTED BY THE CALCUTTA CHAMBER OF COMMERCE · 17 JULY 2026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571500" y="9715500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13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D918768-F4D6-F6D8-B557-09863FF9CF0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1054" t="30502" r="27721"/>
          <a:stretch>
            <a:fillRect/>
          </a:stretch>
        </p:blipFill>
        <p:spPr>
          <a:xfrm flipH="1">
            <a:off x="352378" y="42043"/>
            <a:ext cx="5034217" cy="10244957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pic>
        <p:nvPicPr>
          <p:cNvPr id="3" name="Image 1" descr="gen-dedup-38d9db64e9131c2aec57f2468bdc88e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620402"/>
            <a:ext cx="16002000" cy="91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904695" y="952805"/>
            <a:ext cx="2857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 · 90 MINUTES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1143000" y="1380744"/>
            <a:ext cx="13335610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we will cover today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1143000" y="2333549"/>
            <a:ext cx="121158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4A5A7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Seven movements from 1881 to the notified Codes of 2025-2026 — and the compliance road ahead.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1143000" y="4543654"/>
            <a:ext cx="7905902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1143000" y="3638398"/>
            <a:ext cx="6099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1981505" y="3638398"/>
            <a:ext cx="4601261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Old Regime — 1881 to 2019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981505" y="4072738"/>
            <a:ext cx="528706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brief history of 29 central labour laws and 100+ state laws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143000" y="5665622"/>
            <a:ext cx="7905902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1143000" y="4760366"/>
            <a:ext cx="6099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2700" dirty="0"/>
          </a:p>
        </p:txBody>
      </p:sp>
      <p:sp>
        <p:nvSpPr>
          <p:cNvPr id="13" name="Text 9"/>
          <p:cNvSpPr txBox="1"/>
          <p:nvPr/>
        </p:nvSpPr>
        <p:spPr>
          <a:xfrm>
            <a:off x="1981505" y="4760366"/>
            <a:ext cx="5191963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Why Consolidation Became Inevitable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981505" y="5194706"/>
            <a:ext cx="450616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Second National Commission on Labour, 2002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143000" y="6787591"/>
            <a:ext cx="7905902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 txBox="1"/>
          <p:nvPr/>
        </p:nvSpPr>
        <p:spPr>
          <a:xfrm>
            <a:off x="1143000" y="5882335"/>
            <a:ext cx="6099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2700" dirty="0"/>
          </a:p>
        </p:txBody>
      </p:sp>
      <p:sp>
        <p:nvSpPr>
          <p:cNvPr id="17" name="Text 13"/>
          <p:cNvSpPr txBox="1"/>
          <p:nvPr/>
        </p:nvSpPr>
        <p:spPr>
          <a:xfrm>
            <a:off x="1981505" y="5882335"/>
            <a:ext cx="4582058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Four Codes — Anatomy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1981505" y="6316675"/>
            <a:ext cx="526785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laws mapped to 4 Codes; the uniform "wages" definition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" y="7004304"/>
            <a:ext cx="6099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2700" dirty="0"/>
          </a:p>
        </p:txBody>
      </p:sp>
      <p:sp>
        <p:nvSpPr>
          <p:cNvPr id="20" name="Text 16"/>
          <p:cNvSpPr txBox="1"/>
          <p:nvPr/>
        </p:nvSpPr>
        <p:spPr>
          <a:xfrm>
            <a:off x="1981505" y="7004304"/>
            <a:ext cx="312359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Code on Wages, 2019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1981505" y="7438644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changes · Pitfalls · Safeguards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9430207" y="4543654"/>
            <a:ext cx="7905902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 txBox="1"/>
          <p:nvPr/>
        </p:nvSpPr>
        <p:spPr>
          <a:xfrm>
            <a:off x="9430207" y="3638398"/>
            <a:ext cx="6099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2700" dirty="0"/>
          </a:p>
        </p:txBody>
      </p:sp>
      <p:sp>
        <p:nvSpPr>
          <p:cNvPr id="24" name="Text 20"/>
          <p:cNvSpPr txBox="1"/>
          <p:nvPr/>
        </p:nvSpPr>
        <p:spPr>
          <a:xfrm>
            <a:off x="10267798" y="3638398"/>
            <a:ext cx="5028286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Industrial Relations Code, 2020</a:t>
            </a:r>
            <a:endParaRPr lang="en-US" sz="1900" dirty="0"/>
          </a:p>
        </p:txBody>
      </p:sp>
      <p:sp>
        <p:nvSpPr>
          <p:cNvPr id="25" name="Text 21"/>
          <p:cNvSpPr txBox="1"/>
          <p:nvPr/>
        </p:nvSpPr>
        <p:spPr>
          <a:xfrm>
            <a:off x="10267798" y="4072738"/>
            <a:ext cx="522945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Standing Orders · Fixed-term · Strikes · Pitfalls · Safeguards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9430207" y="5665622"/>
            <a:ext cx="7905902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 txBox="1"/>
          <p:nvPr/>
        </p:nvSpPr>
        <p:spPr>
          <a:xfrm>
            <a:off x="9430207" y="4760366"/>
            <a:ext cx="6099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2700" dirty="0"/>
          </a:p>
        </p:txBody>
      </p:sp>
      <p:sp>
        <p:nvSpPr>
          <p:cNvPr id="28" name="Text 24"/>
          <p:cNvSpPr txBox="1"/>
          <p:nvPr/>
        </p:nvSpPr>
        <p:spPr>
          <a:xfrm>
            <a:off x="10267798" y="4760366"/>
            <a:ext cx="4972507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Code on Social Security, 2020</a:t>
            </a:r>
            <a:endParaRPr lang="en-US" sz="1900" dirty="0"/>
          </a:p>
        </p:txBody>
      </p:sp>
      <p:sp>
        <p:nvSpPr>
          <p:cNvPr id="29" name="Text 25"/>
          <p:cNvSpPr txBox="1"/>
          <p:nvPr/>
        </p:nvSpPr>
        <p:spPr>
          <a:xfrm>
            <a:off x="10267798" y="5194706"/>
            <a:ext cx="56583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EPF · ESI · Gratuity · Gig &amp; Platform workers · Pitfalls · Safeguards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9430207" y="6787591"/>
            <a:ext cx="7905902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 txBox="1"/>
          <p:nvPr/>
        </p:nvSpPr>
        <p:spPr>
          <a:xfrm>
            <a:off x="9430207" y="5882335"/>
            <a:ext cx="6099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07</a:t>
            </a:r>
            <a:endParaRPr lang="en-US" sz="2700" dirty="0"/>
          </a:p>
        </p:txBody>
      </p:sp>
      <p:sp>
        <p:nvSpPr>
          <p:cNvPr id="32" name="Text 28"/>
          <p:cNvSpPr txBox="1"/>
          <p:nvPr/>
        </p:nvSpPr>
        <p:spPr>
          <a:xfrm>
            <a:off x="10267798" y="5882335"/>
            <a:ext cx="566196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OSH &amp; Working Conditions Code, 2020</a:t>
            </a:r>
            <a:endParaRPr lang="en-US" sz="1900" dirty="0"/>
          </a:p>
        </p:txBody>
      </p:sp>
      <p:sp>
        <p:nvSpPr>
          <p:cNvPr id="33" name="Text 29"/>
          <p:cNvSpPr txBox="1"/>
          <p:nvPr/>
        </p:nvSpPr>
        <p:spPr>
          <a:xfrm>
            <a:off x="10267798" y="6316675"/>
            <a:ext cx="576346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Appointment letters · Contract labour · ISMW · Pitfalls · Safeguards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9430207" y="7004304"/>
            <a:ext cx="6099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08</a:t>
            </a:r>
            <a:endParaRPr lang="en-US" sz="2700" dirty="0"/>
          </a:p>
        </p:txBody>
      </p:sp>
      <p:sp>
        <p:nvSpPr>
          <p:cNvPr id="35" name="Text 31"/>
          <p:cNvSpPr txBox="1"/>
          <p:nvPr/>
        </p:nvSpPr>
        <p:spPr>
          <a:xfrm>
            <a:off x="10267798" y="7004304"/>
            <a:ext cx="3648456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Road Ahead</a:t>
            </a:r>
            <a:endParaRPr lang="en-US" sz="1900" dirty="0"/>
          </a:p>
        </p:txBody>
      </p:sp>
      <p:sp>
        <p:nvSpPr>
          <p:cNvPr id="36" name="Text 32"/>
          <p:cNvSpPr txBox="1"/>
          <p:nvPr/>
        </p:nvSpPr>
        <p:spPr>
          <a:xfrm>
            <a:off x="10267798" y="7438644"/>
            <a:ext cx="431048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30-60-90 day plan · Penalties at a glance · Q&amp;A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1143000" y="9810598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44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CALCUTTA CHAMBER OF COMMERCE · 17 JULY 2026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16383305" y="98105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375be14941e62041ad24427fe08059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2667305"/>
            <a:ext cx="5715000" cy="2915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0" i="1" dirty="0">
                <a:solidFill>
                  <a:srgbClr val="C9A227">
                    <a:alpha val="18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25500" dirty="0"/>
          </a:p>
        </p:txBody>
      </p:sp>
      <p:pic>
        <p:nvPicPr>
          <p:cNvPr id="4" name="Image 1" descr="gen-dedup-e3fdc12e66f4c942a9280406b7949b65.png"/>
          <p:cNvPicPr>
            <a:picLocks noChangeAspect="1"/>
          </p:cNvPicPr>
          <p:nvPr/>
        </p:nvPicPr>
        <p:blipFill>
          <a:blip r:embed="rId4"/>
          <a:srcRect l="-392" r="-392"/>
          <a:stretch/>
        </p:blipFill>
        <p:spPr>
          <a:xfrm>
            <a:off x="6096305" y="4238244"/>
            <a:ext cx="666598" cy="2834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53098" y="4143146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42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ONE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096305" y="4524451"/>
            <a:ext cx="11430000" cy="9244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Old Regime</a:t>
            </a:r>
            <a:endParaRPr lang="en-US" sz="6900" dirty="0"/>
          </a:p>
        </p:txBody>
      </p:sp>
      <p:sp>
        <p:nvSpPr>
          <p:cNvPr id="7" name="Text 3"/>
          <p:cNvSpPr txBox="1"/>
          <p:nvPr/>
        </p:nvSpPr>
        <p:spPr>
          <a:xfrm>
            <a:off x="6096305" y="5572354"/>
            <a:ext cx="114300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F3E9C7">
                    <a:alpha val="8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hundred and forty years of Indian labour law</a:t>
            </a:r>
            <a:endParaRPr lang="en-US" sz="2800" dirty="0"/>
          </a:p>
        </p:txBody>
      </p:sp>
      <p:pic>
        <p:nvPicPr>
          <p:cNvPr id="8" name="Image 2" descr="gen-dedup-724016dcbec5bb13d86a4a4d347d56d7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6096305" y="6381598"/>
            <a:ext cx="1143000" cy="91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096305" y="6620256"/>
            <a:ext cx="1047811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E8ECF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"The Factories Act of 1881 was the first attempt to regulate the Indian workplace. By 2019, that first attempt had grown into twenty-nine central statutes and over a hundred state laws — an archive of good intentions in urgent need of consolidation."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9858146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93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CCC · 17 JULY 2026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17145000" y="9858146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pic>
        <p:nvPicPr>
          <p:cNvPr id="3" name="Image 1" descr="gen-dedup-b1d8ef4ed736bab03ff59291750b5f1a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5619902"/>
            <a:ext cx="16002000" cy="1920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6667805"/>
            <a:ext cx="16040405" cy="2190902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1"/>
          <p:cNvSpPr/>
          <p:nvPr/>
        </p:nvSpPr>
        <p:spPr>
          <a:xfrm>
            <a:off x="1143000" y="6667805"/>
            <a:ext cx="38405" cy="219090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2" descr="gen-dedup-6e9d4cc5a8898abefdac46db40f4167f.png"/>
          <p:cNvPicPr>
            <a:picLocks noChangeAspect="1"/>
          </p:cNvPicPr>
          <p:nvPr/>
        </p:nvPicPr>
        <p:blipFill>
          <a:blip r:embed="rId5"/>
          <a:srcRect t="-2089" b="-2089"/>
          <a:stretch/>
        </p:blipFill>
        <p:spPr>
          <a:xfrm>
            <a:off x="5333695" y="6953098"/>
            <a:ext cx="9144" cy="1619402"/>
          </a:xfrm>
          <a:prstGeom prst="rect">
            <a:avLst/>
          </a:prstGeom>
        </p:spPr>
      </p:pic>
      <p:pic>
        <p:nvPicPr>
          <p:cNvPr id="7" name="Image 3" descr="gen-dedup-6e9d4cc5a8898abefdac46db40f4167f.png"/>
          <p:cNvPicPr>
            <a:picLocks noChangeAspect="1"/>
          </p:cNvPicPr>
          <p:nvPr/>
        </p:nvPicPr>
        <p:blipFill>
          <a:blip r:embed="rId5"/>
          <a:srcRect t="-2089" b="-2089"/>
          <a:stretch/>
        </p:blipFill>
        <p:spPr>
          <a:xfrm>
            <a:off x="9715500" y="6953098"/>
            <a:ext cx="9144" cy="1619402"/>
          </a:xfrm>
          <a:prstGeom prst="rect">
            <a:avLst/>
          </a:prstGeom>
        </p:spPr>
      </p:pic>
      <p:pic>
        <p:nvPicPr>
          <p:cNvPr id="8" name="Image 4" descr="gen-dedup-6e9d4cc5a8898abefdac46db40f4167f.png"/>
          <p:cNvPicPr>
            <a:picLocks noChangeAspect="1"/>
          </p:cNvPicPr>
          <p:nvPr/>
        </p:nvPicPr>
        <p:blipFill>
          <a:blip r:embed="rId5"/>
          <a:srcRect t="-2089" b="-2089"/>
          <a:stretch/>
        </p:blipFill>
        <p:spPr>
          <a:xfrm>
            <a:off x="14002207" y="6953098"/>
            <a:ext cx="9144" cy="1619402"/>
          </a:xfrm>
          <a:prstGeom prst="rect">
            <a:avLst/>
          </a:prstGeom>
        </p:spPr>
      </p:pic>
      <p:pic>
        <p:nvPicPr>
          <p:cNvPr id="9" name="Image 5" descr="gen-dedup-38d9db64e9131c2aec57f2468bdc88e2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9829800"/>
            <a:ext cx="16002000" cy="9144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1619402" y="5544007"/>
            <a:ext cx="228600" cy="228600"/>
          </a:xfrm>
          <a:prstGeom prst="ellipse">
            <a:avLst/>
          </a:prstGeom>
          <a:solidFill>
            <a:srgbClr val="C9A227"/>
          </a:solidFill>
          <a:ln w="38100">
            <a:solidFill>
              <a:srgbClr val="FDF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3"/>
          <p:cNvSpPr/>
          <p:nvPr/>
        </p:nvSpPr>
        <p:spPr>
          <a:xfrm>
            <a:off x="3524098" y="5544007"/>
            <a:ext cx="228600" cy="228600"/>
          </a:xfrm>
          <a:prstGeom prst="ellipse">
            <a:avLst/>
          </a:prstGeom>
          <a:solidFill>
            <a:srgbClr val="C9A227"/>
          </a:solidFill>
          <a:ln w="38100">
            <a:solidFill>
              <a:srgbClr val="FDF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4"/>
          <p:cNvSpPr/>
          <p:nvPr/>
        </p:nvSpPr>
        <p:spPr>
          <a:xfrm>
            <a:off x="5429707" y="5544007"/>
            <a:ext cx="228600" cy="228600"/>
          </a:xfrm>
          <a:prstGeom prst="ellipse">
            <a:avLst/>
          </a:prstGeom>
          <a:solidFill>
            <a:srgbClr val="C9A227"/>
          </a:solidFill>
          <a:ln w="38100">
            <a:solidFill>
              <a:srgbClr val="FDF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5"/>
          <p:cNvSpPr/>
          <p:nvPr/>
        </p:nvSpPr>
        <p:spPr>
          <a:xfrm>
            <a:off x="7334402" y="5544007"/>
            <a:ext cx="228600" cy="228600"/>
          </a:xfrm>
          <a:prstGeom prst="ellipse">
            <a:avLst/>
          </a:prstGeom>
          <a:solidFill>
            <a:srgbClr val="C9A227"/>
          </a:solidFill>
          <a:ln w="38100">
            <a:solidFill>
              <a:srgbClr val="FDF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6"/>
          <p:cNvSpPr/>
          <p:nvPr/>
        </p:nvSpPr>
        <p:spPr>
          <a:xfrm>
            <a:off x="9572854" y="5544007"/>
            <a:ext cx="228600" cy="228600"/>
          </a:xfrm>
          <a:prstGeom prst="ellipse">
            <a:avLst/>
          </a:prstGeom>
          <a:solidFill>
            <a:srgbClr val="C9A227"/>
          </a:solidFill>
          <a:ln w="38100">
            <a:solidFill>
              <a:srgbClr val="FDF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7"/>
          <p:cNvSpPr/>
          <p:nvPr/>
        </p:nvSpPr>
        <p:spPr>
          <a:xfrm>
            <a:off x="11811305" y="5486400"/>
            <a:ext cx="323698" cy="323698"/>
          </a:xfrm>
          <a:prstGeom prst="ellipse">
            <a:avLst/>
          </a:prstGeom>
          <a:solidFill>
            <a:srgbClr val="8B2635"/>
          </a:solidFill>
          <a:ln w="50800">
            <a:solidFill>
              <a:srgbClr val="FDF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8"/>
          <p:cNvSpPr/>
          <p:nvPr/>
        </p:nvSpPr>
        <p:spPr>
          <a:xfrm>
            <a:off x="14097305" y="5544007"/>
            <a:ext cx="228600" cy="228600"/>
          </a:xfrm>
          <a:prstGeom prst="ellipse">
            <a:avLst/>
          </a:prstGeom>
          <a:solidFill>
            <a:srgbClr val="C9A227"/>
          </a:solidFill>
          <a:ln w="38100">
            <a:solidFill>
              <a:srgbClr val="FDF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9"/>
          <p:cNvSpPr/>
          <p:nvPr/>
        </p:nvSpPr>
        <p:spPr>
          <a:xfrm>
            <a:off x="16288207" y="5486400"/>
            <a:ext cx="323698" cy="323698"/>
          </a:xfrm>
          <a:prstGeom prst="ellipse">
            <a:avLst/>
          </a:prstGeom>
          <a:solidFill>
            <a:srgbClr val="8B2635"/>
          </a:solidFill>
          <a:ln w="50800">
            <a:solidFill>
              <a:srgbClr val="FDF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0"/>
          <p:cNvSpPr txBox="1"/>
          <p:nvPr/>
        </p:nvSpPr>
        <p:spPr>
          <a:xfrm>
            <a:off x="1904695" y="952805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BRIEF HISTORY</a:t>
            </a:r>
            <a:endParaRPr lang="en-US" sz="1000" dirty="0"/>
          </a:p>
        </p:txBody>
      </p:sp>
      <p:sp>
        <p:nvSpPr>
          <p:cNvPr id="19" name="Text 11"/>
          <p:cNvSpPr txBox="1"/>
          <p:nvPr/>
        </p:nvSpPr>
        <p:spPr>
          <a:xfrm>
            <a:off x="1142999" y="1380744"/>
            <a:ext cx="13744977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From 1881 to 2026 — the long march of Indian labour law</a:t>
            </a:r>
            <a:endParaRPr lang="en-US" sz="4500" dirty="0"/>
          </a:p>
        </p:txBody>
      </p:sp>
      <p:sp>
        <p:nvSpPr>
          <p:cNvPr id="20" name="Text 12"/>
          <p:cNvSpPr txBox="1"/>
          <p:nvPr/>
        </p:nvSpPr>
        <p:spPr>
          <a:xfrm>
            <a:off x="1143000" y="3143707"/>
            <a:ext cx="1905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886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1881</a:t>
            </a:r>
            <a:endParaRPr lang="en-US" sz="2400" dirty="0"/>
          </a:p>
        </p:txBody>
      </p:sp>
      <p:sp>
        <p:nvSpPr>
          <p:cNvPr id="21" name="Text 13"/>
          <p:cNvSpPr txBox="1"/>
          <p:nvPr/>
        </p:nvSpPr>
        <p:spPr>
          <a:xfrm>
            <a:off x="1143000" y="3557930"/>
            <a:ext cx="190561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00" b="1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Factories Act</a:t>
            </a:r>
            <a:endParaRPr lang="en-US" sz="10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workplace regulation in colonial India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3095244" y="3143707"/>
            <a:ext cx="1905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886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1926</a:t>
            </a:r>
            <a:endParaRPr lang="en-US" sz="2400" dirty="0"/>
          </a:p>
        </p:txBody>
      </p:sp>
      <p:sp>
        <p:nvSpPr>
          <p:cNvPr id="23" name="Text 15"/>
          <p:cNvSpPr txBox="1"/>
          <p:nvPr/>
        </p:nvSpPr>
        <p:spPr>
          <a:xfrm>
            <a:off x="3095244" y="3557930"/>
            <a:ext cx="190561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00" b="1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 Unions Act</a:t>
            </a:r>
            <a:endParaRPr lang="en-US" sz="10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recognition to worker associations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5000854" y="3143707"/>
            <a:ext cx="1905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886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1936</a:t>
            </a:r>
            <a:endParaRPr lang="en-US" sz="2400" dirty="0"/>
          </a:p>
        </p:txBody>
      </p:sp>
      <p:sp>
        <p:nvSpPr>
          <p:cNvPr id="25" name="Text 17"/>
          <p:cNvSpPr txBox="1"/>
          <p:nvPr/>
        </p:nvSpPr>
        <p:spPr>
          <a:xfrm>
            <a:off x="5000854" y="3557930"/>
            <a:ext cx="190561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00" b="1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of Wages Act</a:t>
            </a:r>
            <a:endParaRPr lang="en-US" sz="10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timely-wage legislation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6905549" y="3143707"/>
            <a:ext cx="20958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886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1947–48</a:t>
            </a:r>
            <a:endParaRPr lang="en-US" sz="2400" dirty="0"/>
          </a:p>
        </p:txBody>
      </p:sp>
      <p:sp>
        <p:nvSpPr>
          <p:cNvPr id="27" name="Text 19"/>
          <p:cNvSpPr txBox="1"/>
          <p:nvPr/>
        </p:nvSpPr>
        <p:spPr>
          <a:xfrm>
            <a:off x="6905549" y="3557930"/>
            <a:ext cx="209580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00" b="1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Act · Min. Wages · ESI · Factories</a:t>
            </a:r>
            <a:endParaRPr lang="en-US" sz="10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Post-independence architecture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9096451" y="3143707"/>
            <a:ext cx="20958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886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1952–72</a:t>
            </a:r>
            <a:endParaRPr lang="en-US" sz="2400" dirty="0"/>
          </a:p>
        </p:txBody>
      </p:sp>
      <p:sp>
        <p:nvSpPr>
          <p:cNvPr id="29" name="Text 21"/>
          <p:cNvSpPr txBox="1"/>
          <p:nvPr/>
        </p:nvSpPr>
        <p:spPr>
          <a:xfrm>
            <a:off x="9096451" y="3557930"/>
            <a:ext cx="209580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00" b="1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EPF · Maternity · Bonus · Contract Labour · Gratuity</a:t>
            </a:r>
            <a:endParaRPr lang="en-US" sz="10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Welfare-state era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11382451" y="3143707"/>
            <a:ext cx="1905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2002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11382451" y="3557930"/>
            <a:ext cx="2095805" cy="60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00" b="1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r>
              <a:rPr lang="en-US" sz="800" b="1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nd</a:t>
            </a:r>
            <a:r>
              <a:rPr lang="en-US" sz="1000" b="1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Nat'l Commission on Labour</a:t>
            </a:r>
            <a:endParaRPr lang="en-US" sz="10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Recommends 4-5 functional Codes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13668451" y="3143707"/>
            <a:ext cx="1905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886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2019–20</a:t>
            </a:r>
            <a:endParaRPr lang="en-US" sz="2400" dirty="0"/>
          </a:p>
        </p:txBody>
      </p:sp>
      <p:sp>
        <p:nvSpPr>
          <p:cNvPr id="33" name="Text 25"/>
          <p:cNvSpPr txBox="1"/>
          <p:nvPr/>
        </p:nvSpPr>
        <p:spPr>
          <a:xfrm>
            <a:off x="13668451" y="3557930"/>
            <a:ext cx="209580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00" b="1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Codes enacted</a:t>
            </a:r>
            <a:endParaRPr lang="en-US" sz="10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Wages (Aug '19); IR, SS, OSH (Sept '20)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15764256" y="3143707"/>
            <a:ext cx="1905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2025–26</a:t>
            </a:r>
            <a:endParaRPr lang="en-US" sz="2400" dirty="0"/>
          </a:p>
        </p:txBody>
      </p:sp>
      <p:sp>
        <p:nvSpPr>
          <p:cNvPr id="35" name="Text 27"/>
          <p:cNvSpPr txBox="1"/>
          <p:nvPr/>
        </p:nvSpPr>
        <p:spPr>
          <a:xfrm>
            <a:off x="15764256" y="3557930"/>
            <a:ext cx="190561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00" b="1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Codes in force</a:t>
            </a:r>
            <a:endParaRPr lang="en-US" sz="10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Nov 2025 · Central Rules 8 May 2026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1524305" y="6953098"/>
            <a:ext cx="4457700" cy="952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140</a:t>
            </a:r>
            <a:r>
              <a:rPr lang="en-US" sz="42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yrs</a:t>
            </a:r>
            <a:endParaRPr lang="en-US" sz="7500" dirty="0"/>
          </a:p>
        </p:txBody>
      </p:sp>
      <p:sp>
        <p:nvSpPr>
          <p:cNvPr id="37" name="Text 29"/>
          <p:cNvSpPr txBox="1"/>
          <p:nvPr/>
        </p:nvSpPr>
        <p:spPr>
          <a:xfrm>
            <a:off x="1524305" y="8143646"/>
            <a:ext cx="3810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8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FACTORIES ACT TO CODES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5810098" y="6953098"/>
            <a:ext cx="4457700" cy="952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29</a:t>
            </a:r>
            <a:r>
              <a:rPr lang="en-US" sz="27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laws</a:t>
            </a:r>
            <a:endParaRPr lang="en-US" sz="7500" dirty="0"/>
          </a:p>
        </p:txBody>
      </p:sp>
      <p:sp>
        <p:nvSpPr>
          <p:cNvPr id="39" name="Text 31"/>
          <p:cNvSpPr txBox="1"/>
          <p:nvPr/>
        </p:nvSpPr>
        <p:spPr>
          <a:xfrm>
            <a:off x="5810098" y="8143646"/>
            <a:ext cx="3810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8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STATUTES AT PEAK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10191902" y="6953098"/>
            <a:ext cx="3810305" cy="952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100</a:t>
            </a:r>
            <a:r>
              <a:rPr lang="en-US" sz="42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+</a:t>
            </a:r>
            <a:endParaRPr lang="en-US" sz="7500" dirty="0"/>
          </a:p>
        </p:txBody>
      </p:sp>
      <p:sp>
        <p:nvSpPr>
          <p:cNvPr id="41" name="Text 33"/>
          <p:cNvSpPr txBox="1"/>
          <p:nvPr/>
        </p:nvSpPr>
        <p:spPr>
          <a:xfrm>
            <a:off x="10191902" y="8143646"/>
            <a:ext cx="3810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8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LEGISLATIONS ON TOP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14477695" y="6953098"/>
            <a:ext cx="2667305" cy="952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7500" dirty="0"/>
          </a:p>
        </p:txBody>
      </p:sp>
      <p:sp>
        <p:nvSpPr>
          <p:cNvPr id="43" name="Text 35"/>
          <p:cNvSpPr txBox="1"/>
          <p:nvPr/>
        </p:nvSpPr>
        <p:spPr>
          <a:xfrm>
            <a:off x="14477695" y="8143646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8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CODES SINCE 21 NOV 2025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1143000" y="9620402"/>
            <a:ext cx="15240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PIB Backgrounder 21 Nov 2025 · Ministry of Labour &amp; Employment · pib.gov.in/PressReleasePage.aspx?PRID=2192524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1143000" y="9924898"/>
            <a:ext cx="8572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LABOUR CODES · PITFALLS &amp; SAFEGUARDS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857500"/>
            <a:ext cx="5162702" cy="3286354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43000" y="2857500"/>
            <a:ext cx="5162702" cy="38405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572707" y="2857500"/>
            <a:ext cx="5162702" cy="3286354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572707" y="2857500"/>
            <a:ext cx="5162702" cy="38405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2001500" y="2857500"/>
            <a:ext cx="5162702" cy="3286354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2001500" y="2857500"/>
            <a:ext cx="5162702" cy="38405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143000" y="6381598"/>
            <a:ext cx="5162702" cy="3286354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143000" y="6381598"/>
            <a:ext cx="5162702" cy="38405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572707" y="6381598"/>
            <a:ext cx="5162702" cy="3286354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572707" y="6381598"/>
            <a:ext cx="5162702" cy="38405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12001500" y="6381598"/>
            <a:ext cx="5162702" cy="3286354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12001500" y="6381598"/>
            <a:ext cx="5162702" cy="38405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gen-dedup-38d9db64e9131c2aec57f2468bdc88e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829800"/>
            <a:ext cx="16002000" cy="91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REFORM BECAME UNAVOIDABLE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1380744"/>
            <a:ext cx="16573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Six chronic ailments of the old labour-law regime</a:t>
            </a:r>
            <a:endParaRPr lang="en-US" sz="4500" dirty="0"/>
          </a:p>
        </p:txBody>
      </p:sp>
      <p:sp>
        <p:nvSpPr>
          <p:cNvPr id="18" name="Text 14"/>
          <p:cNvSpPr txBox="1"/>
          <p:nvPr/>
        </p:nvSpPr>
        <p:spPr>
          <a:xfrm>
            <a:off x="1524305" y="3143707"/>
            <a:ext cx="5715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3000" dirty="0"/>
          </a:p>
        </p:txBody>
      </p:sp>
      <p:sp>
        <p:nvSpPr>
          <p:cNvPr id="19" name="Text 15"/>
          <p:cNvSpPr txBox="1"/>
          <p:nvPr/>
        </p:nvSpPr>
        <p:spPr>
          <a:xfrm>
            <a:off x="1524305" y="3762756"/>
            <a:ext cx="450342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Multiplicity of statutes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1524305" y="4429354"/>
            <a:ext cx="4381805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central labour laws with overlapping definitions, and 100+ state laws on top. An HR manager in a mid-sized company had to track more than 40 discrete filings a year.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953098" y="3143707"/>
            <a:ext cx="5715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3000" dirty="0"/>
          </a:p>
        </p:txBody>
      </p:sp>
      <p:sp>
        <p:nvSpPr>
          <p:cNvPr id="22" name="Text 18"/>
          <p:cNvSpPr txBox="1"/>
          <p:nvPr/>
        </p:nvSpPr>
        <p:spPr>
          <a:xfrm>
            <a:off x="6953098" y="3762756"/>
            <a:ext cx="450342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Inconsistent definitions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6953098" y="4429354"/>
            <a:ext cx="4381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"Wages", "employee", "workman", "establishment" were defined differently across statutes — spawning parallel payroll computations and endless litigation.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2382805" y="3143707"/>
            <a:ext cx="5715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3000" dirty="0"/>
          </a:p>
        </p:txBody>
      </p:sp>
      <p:sp>
        <p:nvSpPr>
          <p:cNvPr id="25" name="Text 21"/>
          <p:cNvSpPr txBox="1"/>
          <p:nvPr/>
        </p:nvSpPr>
        <p:spPr>
          <a:xfrm>
            <a:off x="12382805" y="3762756"/>
            <a:ext cx="450342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Excluded informal sector</a:t>
            </a:r>
            <a:endParaRPr lang="en-US" sz="2200" dirty="0"/>
          </a:p>
        </p:txBody>
      </p:sp>
      <p:sp>
        <p:nvSpPr>
          <p:cNvPr id="26" name="Text 22"/>
          <p:cNvSpPr txBox="1"/>
          <p:nvPr/>
        </p:nvSpPr>
        <p:spPr>
          <a:xfrm>
            <a:off x="12382805" y="4429354"/>
            <a:ext cx="4381805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~30% of workers were covered by the Minimum Wages Act's scheduled employments. Gig, platform and unorganised workers — India's fastest-growing cohorts — sat entirely outside the net.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1524305" y="6667805"/>
            <a:ext cx="5715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3000" dirty="0"/>
          </a:p>
        </p:txBody>
      </p:sp>
      <p:sp>
        <p:nvSpPr>
          <p:cNvPr id="28" name="Text 24"/>
          <p:cNvSpPr txBox="1"/>
          <p:nvPr/>
        </p:nvSpPr>
        <p:spPr>
          <a:xfrm>
            <a:off x="1524305" y="7286854"/>
            <a:ext cx="4381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Inspector Raj</a:t>
            </a:r>
            <a:endParaRPr lang="en-US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1524305" y="7953451"/>
            <a:ext cx="4381805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authorities, discretionary inspections, adversarial enforcement culture — small businesses saw compliance as a cost of doing business, not a shared duty.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6953098" y="6667805"/>
            <a:ext cx="5715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3000" dirty="0"/>
          </a:p>
        </p:txBody>
      </p:sp>
      <p:sp>
        <p:nvSpPr>
          <p:cNvPr id="31" name="Text 27"/>
          <p:cNvSpPr txBox="1"/>
          <p:nvPr/>
        </p:nvSpPr>
        <p:spPr>
          <a:xfrm>
            <a:off x="6953098" y="7286854"/>
            <a:ext cx="4381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Paper-heavy compliance</a:t>
            </a:r>
            <a:endParaRPr lang="en-US" sz="2200" dirty="0"/>
          </a:p>
        </p:txBody>
      </p:sp>
      <p:sp>
        <p:nvSpPr>
          <p:cNvPr id="32" name="Text 28"/>
          <p:cNvSpPr txBox="1"/>
          <p:nvPr/>
        </p:nvSpPr>
        <p:spPr>
          <a:xfrm>
            <a:off x="6953098" y="7953451"/>
            <a:ext cx="4381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OSH alone, industry maintained 84 registers, 55 forms and 21 returns — most of which duplicated the same data across statutes.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12382805" y="6667805"/>
            <a:ext cx="5715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3000" dirty="0"/>
          </a:p>
        </p:txBody>
      </p:sp>
      <p:sp>
        <p:nvSpPr>
          <p:cNvPr id="34" name="Text 30"/>
          <p:cNvSpPr txBox="1"/>
          <p:nvPr/>
        </p:nvSpPr>
        <p:spPr>
          <a:xfrm>
            <a:off x="12382805" y="7286854"/>
            <a:ext cx="4381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Colonial-era text</a:t>
            </a:r>
            <a:endParaRPr lang="en-US" sz="2200" dirty="0"/>
          </a:p>
        </p:txBody>
      </p:sp>
      <p:sp>
        <p:nvSpPr>
          <p:cNvPr id="35" name="Text 31"/>
          <p:cNvSpPr txBox="1"/>
          <p:nvPr/>
        </p:nvSpPr>
        <p:spPr>
          <a:xfrm>
            <a:off x="12382805" y="7953451"/>
            <a:ext cx="4381805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Several statutes traced their DNA to pre-Independence drafting and no longer spoke to the realities of services, IT, e-commerce, aggregator platforms or work-from-home.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1143000" y="9924898"/>
            <a:ext cx="8572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LABOUR CODES · PITFALLS &amp; SAFEGUARDS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pic>
        <p:nvPicPr>
          <p:cNvPr id="3" name="Image 1" descr="gen-dedup-249db179fa6fc54706b8b2c0bbf6a854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1143000" y="2857500"/>
            <a:ext cx="7810805" cy="6286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334195" y="8762695"/>
            <a:ext cx="7839151" cy="571500"/>
          </a:xfrm>
          <a:prstGeom prst="rect">
            <a:avLst/>
          </a:prstGeom>
          <a:solidFill>
            <a:srgbClr val="F3E9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1"/>
          <p:cNvSpPr/>
          <p:nvPr/>
        </p:nvSpPr>
        <p:spPr>
          <a:xfrm>
            <a:off x="9334195" y="8762695"/>
            <a:ext cx="28346" cy="571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2" descr="gen-dedup-38d9db64e9131c2aec57f2468bdc88e2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43000" y="9829800"/>
            <a:ext cx="16002000" cy="914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INTELLECTUAL PARENT · 2002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1380744"/>
            <a:ext cx="1482151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Second National Commission on Labour</a:t>
            </a:r>
            <a:endParaRPr lang="en-US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1619402" y="3238805"/>
            <a:ext cx="1143000" cy="12006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0" i="1" dirty="0">
                <a:solidFill>
                  <a:srgbClr val="C9A227">
                    <a:alpha val="50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</a:t>
            </a:r>
            <a:endParaRPr lang="en-US" sz="13500" dirty="0"/>
          </a:p>
        </p:txBody>
      </p:sp>
      <p:sp>
        <p:nvSpPr>
          <p:cNvPr id="10" name="Text 5"/>
          <p:cNvSpPr txBox="1"/>
          <p:nvPr/>
        </p:nvSpPr>
        <p:spPr>
          <a:xfrm>
            <a:off x="1714500" y="4381805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existing set of labour laws should be broadly grouped into four or five labour codes on functional basis.</a:t>
            </a:r>
            <a:endParaRPr lang="en-US" sz="2400" dirty="0"/>
          </a:p>
        </p:txBody>
      </p:sp>
      <p:pic>
        <p:nvPicPr>
          <p:cNvPr id="11" name="Image 3" descr="gen-dedup-587bf74b6462f210fb4a2245c25dbfdf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1714500" y="6953098"/>
            <a:ext cx="761695" cy="1920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714500" y="7144207"/>
            <a:ext cx="6858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CHAIRPERSON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1714500" y="7381951"/>
            <a:ext cx="6858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Shri Ravindra Varma</a:t>
            </a:r>
            <a:endParaRPr lang="en-US" sz="1900" dirty="0"/>
          </a:p>
        </p:txBody>
      </p:sp>
      <p:sp>
        <p:nvSpPr>
          <p:cNvPr id="14" name="Text 8"/>
          <p:cNvSpPr txBox="1"/>
          <p:nvPr/>
        </p:nvSpPr>
        <p:spPr>
          <a:xfrm>
            <a:off x="1714500" y="7905902"/>
            <a:ext cx="6858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SUBMITTED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1714500" y="8143646"/>
            <a:ext cx="6858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June 2002 · Government of India</a:t>
            </a:r>
            <a:endParaRPr lang="en-US" sz="1900" dirty="0"/>
          </a:p>
        </p:txBody>
      </p:sp>
      <p:sp>
        <p:nvSpPr>
          <p:cNvPr id="16" name="Text 10"/>
          <p:cNvSpPr txBox="1"/>
          <p:nvPr/>
        </p:nvSpPr>
        <p:spPr>
          <a:xfrm>
            <a:off x="9334195" y="2857500"/>
            <a:ext cx="7810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GUIDING RECOMMENDATIONS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9334195" y="3191256"/>
            <a:ext cx="84966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the Commission asked Parliament to do</a:t>
            </a:r>
            <a:endParaRPr lang="en-US" sz="2500" dirty="0"/>
          </a:p>
        </p:txBody>
      </p:sp>
      <p:sp>
        <p:nvSpPr>
          <p:cNvPr id="18" name="Shape 12"/>
          <p:cNvSpPr/>
          <p:nvPr/>
        </p:nvSpPr>
        <p:spPr>
          <a:xfrm>
            <a:off x="9334195" y="4914900"/>
            <a:ext cx="7810805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9334195" y="4390949"/>
            <a:ext cx="3813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9887407" y="4390949"/>
            <a:ext cx="59436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Consolidate</a:t>
            </a: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29 central laws into 4-5 functional codes.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9334195" y="5832958"/>
            <a:ext cx="7810805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 txBox="1"/>
          <p:nvPr/>
        </p:nvSpPr>
        <p:spPr>
          <a:xfrm>
            <a:off x="9334195" y="5071262"/>
            <a:ext cx="352958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ii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858146" y="5071262"/>
            <a:ext cx="72969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Uniform definitions</a:t>
            </a: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one meaning of "wages", "worker", "employer", "establishment".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9334195" y="6757416"/>
            <a:ext cx="7810805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 txBox="1"/>
          <p:nvPr/>
        </p:nvSpPr>
        <p:spPr>
          <a:xfrm>
            <a:off x="9334195" y="5994806"/>
            <a:ext cx="314554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iii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9813341" y="5994806"/>
            <a:ext cx="73344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Universal minimum wage</a:t>
            </a: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extend statutory floor to all workers, not scheduled employments alone.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9334195" y="7443216"/>
            <a:ext cx="7810805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 txBox="1"/>
          <p:nvPr/>
        </p:nvSpPr>
        <p:spPr>
          <a:xfrm>
            <a:off x="9334195" y="6919265"/>
            <a:ext cx="3813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iv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9887407" y="6919265"/>
            <a:ext cx="73152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security for unorganised sector</a:t>
            </a: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bridge for the excluded 70%.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9334195" y="7599578"/>
            <a:ext cx="3246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9828886" y="7599578"/>
            <a:ext cx="7325258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Simplify enforcement</a:t>
            </a: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single registration, single licence, single return; inspector as facilitator.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9572854" y="8934602"/>
            <a:ext cx="82113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From </a:t>
            </a:r>
            <a:r>
              <a:rPr lang="en-US" sz="1500" b="1" i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Report (2002)</a:t>
            </a:r>
            <a:r>
              <a:rPr lang="en-US" sz="1500" i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to </a:t>
            </a:r>
            <a:r>
              <a:rPr lang="en-US" sz="1500" b="1" i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notified Codes (2025-26)</a:t>
            </a:r>
            <a:r>
              <a:rPr lang="en-US" sz="1500" i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— a 23-year policy journey.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1143000" y="9620402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Ministry of Labour &amp; Employment — Report of the National Commission on Labour, Vol. I &amp; II · vvgnli.gov.in/en/second-2002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143000" y="9924898"/>
            <a:ext cx="8572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LABOUR CODES · PITFALLS &amp; SAFEGUARDS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857500"/>
            <a:ext cx="7830007" cy="5544007"/>
          </a:xfrm>
          <a:prstGeom prst="rect">
            <a:avLst/>
          </a:prstGeom>
          <a:solidFill>
            <a:srgbClr val="F5EEE8"/>
          </a:solidFill>
          <a:ln w="12700">
            <a:solidFill>
              <a:srgbClr val="D6C2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1" descr="gen-dedup-3c66eab452f1fecd2fe86ab86f12a2c3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524305" y="4286707"/>
            <a:ext cx="7048195" cy="9144"/>
          </a:xfrm>
          <a:prstGeom prst="rect">
            <a:avLst/>
          </a:prstGeom>
        </p:spPr>
      </p:pic>
      <p:pic>
        <p:nvPicPr>
          <p:cNvPr id="5" name="Image 2" descr="gen-dedup-4c2e9e30648a80b41a1bdd43e9242d97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9905695" y="2857500"/>
            <a:ext cx="7239305" cy="5524805"/>
          </a:xfrm>
          <a:prstGeom prst="rect">
            <a:avLst/>
          </a:prstGeom>
        </p:spPr>
      </p:pic>
      <p:pic>
        <p:nvPicPr>
          <p:cNvPr id="6" name="Image 3" descr="gen-dedup-25fc4cc76786227da9376a3e7f125cb0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0287000" y="4286707"/>
            <a:ext cx="6476695" cy="9144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143000" y="8667598"/>
            <a:ext cx="16040405" cy="76169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2"/>
          <p:cNvSpPr/>
          <p:nvPr/>
        </p:nvSpPr>
        <p:spPr>
          <a:xfrm>
            <a:off x="1143000" y="8667598"/>
            <a:ext cx="38405" cy="76169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4" descr="gen-dedup-38d9db64e9131c2aec57f2468bdc88e2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143000" y="9829800"/>
            <a:ext cx="16002000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904695" y="952805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 OF THE REFORM</a:t>
            </a:r>
            <a:endParaRPr lang="en-US" sz="10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1380744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the Government set out to achieve</a:t>
            </a:r>
            <a:endParaRPr lang="en-US" sz="4500" dirty="0"/>
          </a:p>
        </p:txBody>
      </p:sp>
      <p:sp>
        <p:nvSpPr>
          <p:cNvPr id="12" name="Text 5"/>
          <p:cNvSpPr txBox="1"/>
          <p:nvPr/>
        </p:nvSpPr>
        <p:spPr>
          <a:xfrm>
            <a:off x="1524305" y="3191256"/>
            <a:ext cx="3810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9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· PRE-2019</a:t>
            </a:r>
            <a:endParaRPr lang="en-US" sz="900" dirty="0"/>
          </a:p>
        </p:txBody>
      </p:sp>
      <p:sp>
        <p:nvSpPr>
          <p:cNvPr id="13" name="Text 6"/>
          <p:cNvSpPr txBox="1"/>
          <p:nvPr/>
        </p:nvSpPr>
        <p:spPr>
          <a:xfrm>
            <a:off x="1524305" y="3524098"/>
            <a:ext cx="70491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Fragmented</a:t>
            </a:r>
            <a:endParaRPr lang="en-US" sz="3300" dirty="0"/>
          </a:p>
        </p:txBody>
      </p:sp>
      <p:sp>
        <p:nvSpPr>
          <p:cNvPr id="14" name="Shape 7"/>
          <p:cNvSpPr/>
          <p:nvPr/>
        </p:nvSpPr>
        <p:spPr>
          <a:xfrm>
            <a:off x="1524305" y="5039258"/>
            <a:ext cx="7048195" cy="9144"/>
          </a:xfrm>
          <a:prstGeom prst="rect">
            <a:avLst/>
          </a:prstGeom>
          <a:solidFill>
            <a:srgbClr val="D6C2B0"/>
          </a:solidFill>
          <a:ln w="12700">
            <a:solidFill>
              <a:srgbClr val="D6C2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8"/>
          <p:cNvSpPr txBox="1"/>
          <p:nvPr/>
        </p:nvSpPr>
        <p:spPr>
          <a:xfrm>
            <a:off x="1524305" y="4600346"/>
            <a:ext cx="243779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labour statutes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1524305" y="5563210"/>
            <a:ext cx="7048195" cy="9144"/>
          </a:xfrm>
          <a:prstGeom prst="rect">
            <a:avLst/>
          </a:prstGeom>
          <a:solidFill>
            <a:srgbClr val="D6C2B0"/>
          </a:solidFill>
          <a:ln w="12700">
            <a:solidFill>
              <a:srgbClr val="D6C2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0"/>
          <p:cNvSpPr txBox="1"/>
          <p:nvPr/>
        </p:nvSpPr>
        <p:spPr>
          <a:xfrm>
            <a:off x="1524305" y="5124298"/>
            <a:ext cx="269839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laws layered on top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1524305" y="6087161"/>
            <a:ext cx="7048195" cy="9144"/>
          </a:xfrm>
          <a:prstGeom prst="rect">
            <a:avLst/>
          </a:prstGeom>
          <a:solidFill>
            <a:srgbClr val="D6C2B0"/>
          </a:solidFill>
          <a:ln w="12700">
            <a:solidFill>
              <a:srgbClr val="D6C2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2"/>
          <p:cNvSpPr txBox="1"/>
          <p:nvPr/>
        </p:nvSpPr>
        <p:spPr>
          <a:xfrm>
            <a:off x="1524305" y="5648249"/>
            <a:ext cx="36576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Workers covered by minimum wage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1524305" y="6611112"/>
            <a:ext cx="7048195" cy="9144"/>
          </a:xfrm>
          <a:prstGeom prst="rect">
            <a:avLst/>
          </a:prstGeom>
          <a:solidFill>
            <a:srgbClr val="D6C2B0"/>
          </a:solidFill>
          <a:ln w="12700">
            <a:solidFill>
              <a:srgbClr val="D6C2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4"/>
          <p:cNvSpPr txBox="1"/>
          <p:nvPr/>
        </p:nvSpPr>
        <p:spPr>
          <a:xfrm>
            <a:off x="1524305" y="6172200"/>
            <a:ext cx="3389681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Registrations under OSH-family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1524305" y="7135063"/>
            <a:ext cx="7048195" cy="9144"/>
          </a:xfrm>
          <a:prstGeom prst="rect">
            <a:avLst/>
          </a:prstGeom>
          <a:solidFill>
            <a:srgbClr val="D6C2B0"/>
          </a:solidFill>
          <a:ln w="12700">
            <a:solidFill>
              <a:srgbClr val="D6C2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6"/>
          <p:cNvSpPr txBox="1"/>
          <p:nvPr/>
        </p:nvSpPr>
        <p:spPr>
          <a:xfrm>
            <a:off x="1524305" y="6696151"/>
            <a:ext cx="295717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Licences under OSH-family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1524305" y="7659014"/>
            <a:ext cx="7048195" cy="9144"/>
          </a:xfrm>
          <a:prstGeom prst="rect">
            <a:avLst/>
          </a:prstGeom>
          <a:solidFill>
            <a:srgbClr val="D6C2B0"/>
          </a:solidFill>
          <a:ln w="12700">
            <a:solidFill>
              <a:srgbClr val="D6C2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8"/>
          <p:cNvSpPr txBox="1"/>
          <p:nvPr/>
        </p:nvSpPr>
        <p:spPr>
          <a:xfrm>
            <a:off x="1524305" y="7220102"/>
            <a:ext cx="2879446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Forms · Returns · Registers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524305" y="7744054"/>
            <a:ext cx="2723083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Compounding of offences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8328355" y="4667098"/>
            <a:ext cx="247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8104327" y="5191049"/>
            <a:ext cx="476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100+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7999171" y="5715000"/>
            <a:ext cx="5815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~30%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449056" y="6238951"/>
            <a:ext cx="1243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8443570" y="6762902"/>
            <a:ext cx="1335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7573061" y="7286854"/>
            <a:ext cx="11905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 · 21 · 84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7370064" y="7810805"/>
            <a:ext cx="14401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provided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9096451" y="5333695"/>
            <a:ext cx="667512" cy="752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endParaRPr lang="en-US" sz="4800" dirty="0"/>
          </a:p>
        </p:txBody>
      </p:sp>
      <p:sp>
        <p:nvSpPr>
          <p:cNvPr id="35" name="Text 28"/>
          <p:cNvSpPr txBox="1"/>
          <p:nvPr/>
        </p:nvSpPr>
        <p:spPr>
          <a:xfrm>
            <a:off x="10287000" y="3191256"/>
            <a:ext cx="3810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9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· POST-21 NOV 2025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10287000" y="3524098"/>
            <a:ext cx="666780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Consolidated</a:t>
            </a:r>
            <a:endParaRPr lang="en-US" sz="3300" dirty="0"/>
          </a:p>
        </p:txBody>
      </p:sp>
      <p:sp>
        <p:nvSpPr>
          <p:cNvPr id="37" name="Shape 30"/>
          <p:cNvSpPr/>
          <p:nvPr/>
        </p:nvSpPr>
        <p:spPr>
          <a:xfrm>
            <a:off x="10287000" y="5039258"/>
            <a:ext cx="6476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1"/>
          <p:cNvSpPr txBox="1"/>
          <p:nvPr/>
        </p:nvSpPr>
        <p:spPr>
          <a:xfrm>
            <a:off x="10287000" y="4600346"/>
            <a:ext cx="1422806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Labour Codes</a:t>
            </a:r>
            <a:endParaRPr lang="en-US" sz="1500" dirty="0"/>
          </a:p>
        </p:txBody>
      </p:sp>
      <p:sp>
        <p:nvSpPr>
          <p:cNvPr id="39" name="Shape 32"/>
          <p:cNvSpPr/>
          <p:nvPr/>
        </p:nvSpPr>
        <p:spPr>
          <a:xfrm>
            <a:off x="10287000" y="5563210"/>
            <a:ext cx="6476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3"/>
          <p:cNvSpPr txBox="1"/>
          <p:nvPr/>
        </p:nvSpPr>
        <p:spPr>
          <a:xfrm>
            <a:off x="10287000" y="5124298"/>
            <a:ext cx="318577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Uniform definition of "wages"</a:t>
            </a:r>
            <a:endParaRPr lang="en-US" sz="1500" dirty="0"/>
          </a:p>
        </p:txBody>
      </p:sp>
      <p:sp>
        <p:nvSpPr>
          <p:cNvPr id="41" name="Shape 34"/>
          <p:cNvSpPr/>
          <p:nvPr/>
        </p:nvSpPr>
        <p:spPr>
          <a:xfrm>
            <a:off x="10287000" y="6087161"/>
            <a:ext cx="6476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5"/>
          <p:cNvSpPr txBox="1"/>
          <p:nvPr/>
        </p:nvSpPr>
        <p:spPr>
          <a:xfrm>
            <a:off x="10287000" y="5648249"/>
            <a:ext cx="249265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Minimum-wage coverage</a:t>
            </a:r>
            <a:endParaRPr lang="en-US" sz="1500" dirty="0"/>
          </a:p>
        </p:txBody>
      </p:sp>
      <p:sp>
        <p:nvSpPr>
          <p:cNvPr id="43" name="Shape 36"/>
          <p:cNvSpPr/>
          <p:nvPr/>
        </p:nvSpPr>
        <p:spPr>
          <a:xfrm>
            <a:off x="10287000" y="6611112"/>
            <a:ext cx="6476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7"/>
          <p:cNvSpPr txBox="1"/>
          <p:nvPr/>
        </p:nvSpPr>
        <p:spPr>
          <a:xfrm>
            <a:off x="10287000" y="6172200"/>
            <a:ext cx="320863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· Licence · Return</a:t>
            </a:r>
            <a:endParaRPr lang="en-US" sz="1500" dirty="0"/>
          </a:p>
        </p:txBody>
      </p:sp>
      <p:sp>
        <p:nvSpPr>
          <p:cNvPr id="45" name="Shape 38"/>
          <p:cNvSpPr/>
          <p:nvPr/>
        </p:nvSpPr>
        <p:spPr>
          <a:xfrm>
            <a:off x="10287000" y="7135063"/>
            <a:ext cx="6476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39"/>
          <p:cNvSpPr txBox="1"/>
          <p:nvPr/>
        </p:nvSpPr>
        <p:spPr>
          <a:xfrm>
            <a:off x="10287000" y="6696151"/>
            <a:ext cx="1496873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OSH registers</a:t>
            </a:r>
            <a:endParaRPr lang="en-US" sz="1500" dirty="0"/>
          </a:p>
        </p:txBody>
      </p:sp>
      <p:sp>
        <p:nvSpPr>
          <p:cNvPr id="47" name="Shape 40"/>
          <p:cNvSpPr/>
          <p:nvPr/>
        </p:nvSpPr>
        <p:spPr>
          <a:xfrm>
            <a:off x="10287000" y="7659014"/>
            <a:ext cx="6476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1"/>
          <p:cNvSpPr txBox="1"/>
          <p:nvPr/>
        </p:nvSpPr>
        <p:spPr>
          <a:xfrm>
            <a:off x="10287000" y="7220102"/>
            <a:ext cx="2723083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Compounding of offences</a:t>
            </a:r>
            <a:endParaRPr lang="en-US" sz="1500" dirty="0"/>
          </a:p>
        </p:txBody>
      </p:sp>
      <p:sp>
        <p:nvSpPr>
          <p:cNvPr id="49" name="Text 42"/>
          <p:cNvSpPr txBox="1"/>
          <p:nvPr/>
        </p:nvSpPr>
        <p:spPr>
          <a:xfrm>
            <a:off x="10287000" y="7744054"/>
            <a:ext cx="2459736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Gig &amp; platform workers</a:t>
            </a:r>
            <a:endParaRPr lang="en-US" sz="1500" dirty="0"/>
          </a:p>
        </p:txBody>
      </p:sp>
      <p:sp>
        <p:nvSpPr>
          <p:cNvPr id="50" name="Text 43"/>
          <p:cNvSpPr txBox="1"/>
          <p:nvPr/>
        </p:nvSpPr>
        <p:spPr>
          <a:xfrm>
            <a:off x="16634765" y="4667098"/>
            <a:ext cx="1335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51" name="Text 44"/>
          <p:cNvSpPr txBox="1"/>
          <p:nvPr/>
        </p:nvSpPr>
        <p:spPr>
          <a:xfrm>
            <a:off x="16425367" y="5191049"/>
            <a:ext cx="3685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500" dirty="0"/>
          </a:p>
        </p:txBody>
      </p:sp>
      <p:sp>
        <p:nvSpPr>
          <p:cNvPr id="52" name="Text 45"/>
          <p:cNvSpPr txBox="1"/>
          <p:nvPr/>
        </p:nvSpPr>
        <p:spPr>
          <a:xfrm>
            <a:off x="15883128" y="5715000"/>
            <a:ext cx="10543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Universal</a:t>
            </a:r>
            <a:endParaRPr lang="en-US" sz="1500" dirty="0"/>
          </a:p>
        </p:txBody>
      </p:sp>
      <p:sp>
        <p:nvSpPr>
          <p:cNvPr id="53" name="Text 46"/>
          <p:cNvSpPr txBox="1"/>
          <p:nvPr/>
        </p:nvSpPr>
        <p:spPr>
          <a:xfrm>
            <a:off x="16209569" y="6238951"/>
            <a:ext cx="6693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1 · 1</a:t>
            </a:r>
            <a:endParaRPr lang="en-US" sz="1500" dirty="0"/>
          </a:p>
        </p:txBody>
      </p:sp>
      <p:sp>
        <p:nvSpPr>
          <p:cNvPr id="54" name="Text 47"/>
          <p:cNvSpPr txBox="1"/>
          <p:nvPr/>
        </p:nvSpPr>
        <p:spPr>
          <a:xfrm>
            <a:off x="16106242" y="6762902"/>
            <a:ext cx="7360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 → 8</a:t>
            </a:r>
            <a:endParaRPr lang="en-US" sz="1500" dirty="0"/>
          </a:p>
        </p:txBody>
      </p:sp>
      <p:sp>
        <p:nvSpPr>
          <p:cNvPr id="55" name="Text 48"/>
          <p:cNvSpPr txBox="1"/>
          <p:nvPr/>
        </p:nvSpPr>
        <p:spPr>
          <a:xfrm>
            <a:off x="14928494" y="7286854"/>
            <a:ext cx="218815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50-75% of max fine</a:t>
            </a:r>
            <a:endParaRPr lang="en-US" sz="1500" dirty="0"/>
          </a:p>
        </p:txBody>
      </p:sp>
      <p:sp>
        <p:nvSpPr>
          <p:cNvPr id="56" name="Text 49"/>
          <p:cNvSpPr txBox="1"/>
          <p:nvPr/>
        </p:nvSpPr>
        <p:spPr>
          <a:xfrm>
            <a:off x="14866315" y="7810805"/>
            <a:ext cx="22677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Formally recognised</a:t>
            </a:r>
            <a:endParaRPr lang="en-US" sz="1500" dirty="0"/>
          </a:p>
        </p:txBody>
      </p:sp>
      <p:sp>
        <p:nvSpPr>
          <p:cNvPr id="57" name="Text 50"/>
          <p:cNvSpPr txBox="1"/>
          <p:nvPr/>
        </p:nvSpPr>
        <p:spPr>
          <a:xfrm>
            <a:off x="1524305" y="8839505"/>
            <a:ext cx="159261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i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reform's promise:</a:t>
            </a:r>
            <a:r>
              <a:rPr lang="en-US" sz="1800" i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the same worker gets stronger, wider, more portable rights — and the same employer files fewer, simpler, digital returns.</a:t>
            </a:r>
            <a:endParaRPr lang="en-US" sz="1800" dirty="0"/>
          </a:p>
        </p:txBody>
      </p:sp>
      <p:sp>
        <p:nvSpPr>
          <p:cNvPr id="58" name="Text 51"/>
          <p:cNvSpPr txBox="1"/>
          <p:nvPr/>
        </p:nvSpPr>
        <p:spPr>
          <a:xfrm>
            <a:off x="1143000" y="9924898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PIB Backgrounder 21 Nov 2025 · PIB Factsheet OSH (Id 150475) · MoLE FAQs 16 Mar 2026</a:t>
            </a:r>
            <a:endParaRPr lang="en-US" sz="900" dirty="0"/>
          </a:p>
        </p:txBody>
      </p:sp>
      <p:sp>
        <p:nvSpPr>
          <p:cNvPr id="59" name="Text 52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375be14941e62041ad24427fe08059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2667305"/>
            <a:ext cx="5715000" cy="2915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0" i="1" dirty="0">
                <a:solidFill>
                  <a:srgbClr val="C9A227">
                    <a:alpha val="18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II</a:t>
            </a:r>
            <a:endParaRPr lang="en-US" sz="25500" dirty="0"/>
          </a:p>
        </p:txBody>
      </p:sp>
      <p:pic>
        <p:nvPicPr>
          <p:cNvPr id="4" name="Image 1" descr="gen-dedup-e3fdc12e66f4c942a9280406b7949b65.png"/>
          <p:cNvPicPr>
            <a:picLocks noChangeAspect="1"/>
          </p:cNvPicPr>
          <p:nvPr/>
        </p:nvPicPr>
        <p:blipFill>
          <a:blip r:embed="rId4"/>
          <a:srcRect l="-392" r="-392"/>
          <a:stretch/>
        </p:blipFill>
        <p:spPr>
          <a:xfrm>
            <a:off x="6096305" y="4238244"/>
            <a:ext cx="666598" cy="2834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53098" y="4143146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42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TWO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096305" y="4524451"/>
            <a:ext cx="11430000" cy="1848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Anatomy of the</a:t>
            </a:r>
            <a:endParaRPr lang="en-US" sz="6900" dirty="0"/>
          </a:p>
          <a:p>
            <a:pPr marL="0" indent="0" algn="l">
              <a:buNone/>
            </a:pPr>
            <a:r>
              <a:rPr lang="en-US" sz="69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Four Codes</a:t>
            </a:r>
            <a:endParaRPr lang="en-US" sz="6900" dirty="0"/>
          </a:p>
        </p:txBody>
      </p:sp>
      <p:sp>
        <p:nvSpPr>
          <p:cNvPr id="7" name="Text 3"/>
          <p:cNvSpPr txBox="1"/>
          <p:nvPr/>
        </p:nvSpPr>
        <p:spPr>
          <a:xfrm>
            <a:off x="6096305" y="6620256"/>
            <a:ext cx="11430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F3E9C7">
                    <a:alpha val="8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Which laws were folded into which Code — and why "wages" is the single definition that unifies them.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9858146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93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CCC · 17 JULY 2026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7145000" y="9858146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pic>
        <p:nvPicPr>
          <p:cNvPr id="3" name="Image 1" descr="gen-dedup-dab479dc78be8f8e8c94e98a60ecc2b2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1143000" y="2952598"/>
            <a:ext cx="3857854" cy="6286500"/>
          </a:xfrm>
          <a:prstGeom prst="rect">
            <a:avLst/>
          </a:prstGeom>
        </p:spPr>
      </p:pic>
      <p:pic>
        <p:nvPicPr>
          <p:cNvPr id="4" name="Image 2" descr="gen-dedup-2f2653ef618b0c412f1eb247fdc27ab7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5191049" y="2952598"/>
            <a:ext cx="3857854" cy="6286500"/>
          </a:xfrm>
          <a:prstGeom prst="rect">
            <a:avLst/>
          </a:prstGeom>
        </p:spPr>
      </p:pic>
      <p:pic>
        <p:nvPicPr>
          <p:cNvPr id="5" name="Image 3" descr="gen-dedup-c75332229c5c8d1f4074ff92bac5302c.png"/>
          <p:cNvPicPr>
            <a:picLocks noChangeAspect="1"/>
          </p:cNvPicPr>
          <p:nvPr/>
        </p:nvPicPr>
        <p:blipFill>
          <a:blip r:embed="rId6"/>
          <a:srcRect l="-3" r="-3"/>
          <a:stretch/>
        </p:blipFill>
        <p:spPr>
          <a:xfrm>
            <a:off x="9239098" y="2952598"/>
            <a:ext cx="3857854" cy="6286500"/>
          </a:xfrm>
          <a:prstGeom prst="rect">
            <a:avLst/>
          </a:prstGeom>
        </p:spPr>
      </p:pic>
      <p:pic>
        <p:nvPicPr>
          <p:cNvPr id="6" name="Image 4" descr="gen-dedup-37e2349824bcf7e6b675213eb8fa0852.png"/>
          <p:cNvPicPr>
            <a:picLocks noChangeAspect="1"/>
          </p:cNvPicPr>
          <p:nvPr/>
        </p:nvPicPr>
        <p:blipFill>
          <a:blip r:embed="rId7"/>
          <a:srcRect l="-3" r="-3"/>
          <a:stretch/>
        </p:blipFill>
        <p:spPr>
          <a:xfrm>
            <a:off x="13287146" y="2952598"/>
            <a:ext cx="3857854" cy="6286500"/>
          </a:xfrm>
          <a:prstGeom prst="rect">
            <a:avLst/>
          </a:prstGeom>
        </p:spPr>
      </p:pic>
      <p:pic>
        <p:nvPicPr>
          <p:cNvPr id="7" name="Image 5" descr="gen-dedup-38d9db64e9131c2aec57f2468bdc88e2.png"/>
          <p:cNvPicPr>
            <a:picLocks noChangeAspect="1"/>
          </p:cNvPicPr>
          <p:nvPr/>
        </p:nvPicPr>
        <p:blipFill>
          <a:blip r:embed="rId8"/>
          <a:srcRect l="-2083" r="-2083"/>
          <a:stretch/>
        </p:blipFill>
        <p:spPr>
          <a:xfrm>
            <a:off x="1143000" y="9620402"/>
            <a:ext cx="16002000" cy="9144"/>
          </a:xfrm>
          <a:prstGeom prst="rect">
            <a:avLst/>
          </a:prstGeom>
        </p:spPr>
      </p:pic>
      <p:pic>
        <p:nvPicPr>
          <p:cNvPr id="8" name="Image 6" descr="gen-dedup-a144bf09bc71ccebcb81598b6f8a2e7c.png"/>
          <p:cNvPicPr>
            <a:picLocks noChangeAspect="1"/>
          </p:cNvPicPr>
          <p:nvPr/>
        </p:nvPicPr>
        <p:blipFill>
          <a:blip r:embed="rId9"/>
          <a:srcRect t="-397" b="-397"/>
          <a:stretch/>
        </p:blipFill>
        <p:spPr>
          <a:xfrm>
            <a:off x="1143000" y="2952598"/>
            <a:ext cx="3857854" cy="57607"/>
          </a:xfrm>
          <a:prstGeom prst="rect">
            <a:avLst/>
          </a:prstGeom>
        </p:spPr>
      </p:pic>
      <p:pic>
        <p:nvPicPr>
          <p:cNvPr id="9" name="Image 7" descr="gen-dedup-a144bf09bc71ccebcb81598b6f8a2e7c.png"/>
          <p:cNvPicPr>
            <a:picLocks noChangeAspect="1"/>
          </p:cNvPicPr>
          <p:nvPr/>
        </p:nvPicPr>
        <p:blipFill>
          <a:blip r:embed="rId9"/>
          <a:srcRect t="-397" b="-397"/>
          <a:stretch/>
        </p:blipFill>
        <p:spPr>
          <a:xfrm>
            <a:off x="5191049" y="2952598"/>
            <a:ext cx="3857854" cy="57607"/>
          </a:xfrm>
          <a:prstGeom prst="rect">
            <a:avLst/>
          </a:prstGeom>
        </p:spPr>
      </p:pic>
      <p:pic>
        <p:nvPicPr>
          <p:cNvPr id="10" name="Image 8" descr="gen-dedup-a144bf09bc71ccebcb81598b6f8a2e7c.png"/>
          <p:cNvPicPr>
            <a:picLocks noChangeAspect="1"/>
          </p:cNvPicPr>
          <p:nvPr/>
        </p:nvPicPr>
        <p:blipFill>
          <a:blip r:embed="rId9"/>
          <a:srcRect t="-397" b="-397"/>
          <a:stretch/>
        </p:blipFill>
        <p:spPr>
          <a:xfrm>
            <a:off x="9239098" y="2952598"/>
            <a:ext cx="3857854" cy="57607"/>
          </a:xfrm>
          <a:prstGeom prst="rect">
            <a:avLst/>
          </a:prstGeom>
        </p:spPr>
      </p:pic>
      <p:pic>
        <p:nvPicPr>
          <p:cNvPr id="11" name="Image 9" descr="gen-dedup-a144bf09bc71ccebcb81598b6f8a2e7c.png"/>
          <p:cNvPicPr>
            <a:picLocks noChangeAspect="1"/>
          </p:cNvPicPr>
          <p:nvPr/>
        </p:nvPicPr>
        <p:blipFill>
          <a:blip r:embed="rId9"/>
          <a:srcRect t="-397" b="-397"/>
          <a:stretch/>
        </p:blipFill>
        <p:spPr>
          <a:xfrm>
            <a:off x="13287146" y="2952598"/>
            <a:ext cx="3857854" cy="57607"/>
          </a:xfrm>
          <a:prstGeom prst="rect">
            <a:avLst/>
          </a:prstGeom>
        </p:spPr>
      </p:pic>
      <p:sp>
        <p:nvSpPr>
          <p:cNvPr id="12" name="Text 0"/>
          <p:cNvSpPr txBox="1"/>
          <p:nvPr/>
        </p:nvSpPr>
        <p:spPr>
          <a:xfrm>
            <a:off x="1904695" y="952805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 CODES AT A GLANCE</a:t>
            </a:r>
            <a:endParaRPr lang="en-US" sz="1000" dirty="0"/>
          </a:p>
        </p:txBody>
      </p:sp>
      <p:sp>
        <p:nvSpPr>
          <p:cNvPr id="13" name="Text 1"/>
          <p:cNvSpPr txBox="1"/>
          <p:nvPr/>
        </p:nvSpPr>
        <p:spPr>
          <a:xfrm>
            <a:off x="1143000" y="1380744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Four Codes, one architecture</a:t>
            </a:r>
            <a:endParaRPr lang="en-US" sz="4500" dirty="0"/>
          </a:p>
        </p:txBody>
      </p:sp>
      <p:sp>
        <p:nvSpPr>
          <p:cNvPr id="14" name="Text 2"/>
          <p:cNvSpPr txBox="1"/>
          <p:nvPr/>
        </p:nvSpPr>
        <p:spPr>
          <a:xfrm>
            <a:off x="1143000" y="2143354"/>
            <a:ext cx="149733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4A5A7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29 central laws folded along four functional axes — wages, industrial relations, social security, safety.</a:t>
            </a:r>
            <a:endParaRPr lang="en-US" sz="1800" dirty="0"/>
          </a:p>
        </p:txBody>
      </p:sp>
      <p:sp>
        <p:nvSpPr>
          <p:cNvPr id="15" name="Text 3"/>
          <p:cNvSpPr txBox="1"/>
          <p:nvPr/>
        </p:nvSpPr>
        <p:spPr>
          <a:xfrm>
            <a:off x="1524305" y="3286354"/>
            <a:ext cx="571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4800" dirty="0"/>
          </a:p>
        </p:txBody>
      </p:sp>
      <p:sp>
        <p:nvSpPr>
          <p:cNvPr id="16" name="Text 4"/>
          <p:cNvSpPr txBox="1"/>
          <p:nvPr/>
        </p:nvSpPr>
        <p:spPr>
          <a:xfrm>
            <a:off x="1524305" y="4143146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ON</a:t>
            </a:r>
            <a:endParaRPr lang="en-US" sz="900" dirty="0"/>
          </a:p>
        </p:txBody>
      </p:sp>
      <p:sp>
        <p:nvSpPr>
          <p:cNvPr id="17" name="Text 5"/>
          <p:cNvSpPr txBox="1"/>
          <p:nvPr/>
        </p:nvSpPr>
        <p:spPr>
          <a:xfrm>
            <a:off x="1524305" y="4381805"/>
            <a:ext cx="3238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Wages, 2019</a:t>
            </a:r>
            <a:endParaRPr lang="en-US" sz="2700" dirty="0"/>
          </a:p>
        </p:txBody>
      </p:sp>
      <p:sp>
        <p:nvSpPr>
          <p:cNvPr id="18" name="Text 6"/>
          <p:cNvSpPr txBox="1"/>
          <p:nvPr/>
        </p:nvSpPr>
        <p:spPr>
          <a:xfrm>
            <a:off x="1524305" y="5191049"/>
            <a:ext cx="3238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13" dirty="0">
                <a:solidFill>
                  <a:srgbClr val="F3E9C7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NOTIFIED 8 AUG 2019</a:t>
            </a:r>
            <a:endParaRPr lang="en-US" sz="1100" dirty="0"/>
          </a:p>
        </p:txBody>
      </p:sp>
      <p:pic>
        <p:nvPicPr>
          <p:cNvPr id="19" name="Image 10" descr="gen-dedup-d2d3812f68184953c212d3b6c2ca6c76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524305" y="5572354"/>
            <a:ext cx="571500" cy="19202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1524305" y="5762549"/>
            <a:ext cx="32388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6000" dirty="0"/>
          </a:p>
        </p:txBody>
      </p:sp>
      <p:sp>
        <p:nvSpPr>
          <p:cNvPr id="21" name="Text 8"/>
          <p:cNvSpPr txBox="1"/>
          <p:nvPr/>
        </p:nvSpPr>
        <p:spPr>
          <a:xfrm>
            <a:off x="1524305" y="6620256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8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LAWS CONSOLIDATED</a:t>
            </a:r>
            <a:endParaRPr lang="en-US" sz="1200" dirty="0"/>
          </a:p>
        </p:txBody>
      </p:sp>
      <p:sp>
        <p:nvSpPr>
          <p:cNvPr id="22" name="Text 9"/>
          <p:cNvSpPr txBox="1"/>
          <p:nvPr/>
        </p:nvSpPr>
        <p:spPr>
          <a:xfrm>
            <a:off x="1524305" y="7144207"/>
            <a:ext cx="3238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of Wages · Minimum Wages · Payment of Bonus · Equal Remuneration</a:t>
            </a:r>
            <a:endParaRPr lang="en-US" sz="1200" dirty="0"/>
          </a:p>
        </p:txBody>
      </p:sp>
      <p:sp>
        <p:nvSpPr>
          <p:cNvPr id="23" name="Text 10"/>
          <p:cNvSpPr txBox="1"/>
          <p:nvPr/>
        </p:nvSpPr>
        <p:spPr>
          <a:xfrm>
            <a:off x="1524305" y="8715146"/>
            <a:ext cx="361096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3E9C7">
                    <a:alpha val="7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Sets the wage floor for all of India.</a:t>
            </a:r>
            <a:endParaRPr lang="en-US" sz="1200" dirty="0"/>
          </a:p>
        </p:txBody>
      </p:sp>
      <p:sp>
        <p:nvSpPr>
          <p:cNvPr id="24" name="Text 11"/>
          <p:cNvSpPr txBox="1"/>
          <p:nvPr/>
        </p:nvSpPr>
        <p:spPr>
          <a:xfrm>
            <a:off x="5572354" y="3286354"/>
            <a:ext cx="826618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II</a:t>
            </a:r>
            <a:endParaRPr lang="en-US" sz="4800" dirty="0"/>
          </a:p>
        </p:txBody>
      </p:sp>
      <p:sp>
        <p:nvSpPr>
          <p:cNvPr id="25" name="Text 12"/>
          <p:cNvSpPr txBox="1"/>
          <p:nvPr/>
        </p:nvSpPr>
        <p:spPr>
          <a:xfrm>
            <a:off x="5572354" y="4143146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 RELATIONS</a:t>
            </a:r>
            <a:endParaRPr lang="en-US" sz="900" dirty="0"/>
          </a:p>
        </p:txBody>
      </p:sp>
      <p:sp>
        <p:nvSpPr>
          <p:cNvPr id="26" name="Text 13"/>
          <p:cNvSpPr txBox="1"/>
          <p:nvPr/>
        </p:nvSpPr>
        <p:spPr>
          <a:xfrm>
            <a:off x="5572354" y="4381805"/>
            <a:ext cx="3238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Code, 2020</a:t>
            </a:r>
            <a:endParaRPr lang="en-US" sz="2700" dirty="0"/>
          </a:p>
        </p:txBody>
      </p:sp>
      <p:sp>
        <p:nvSpPr>
          <p:cNvPr id="27" name="Text 14"/>
          <p:cNvSpPr txBox="1"/>
          <p:nvPr/>
        </p:nvSpPr>
        <p:spPr>
          <a:xfrm>
            <a:off x="5572354" y="5191049"/>
            <a:ext cx="3238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13" dirty="0">
                <a:solidFill>
                  <a:srgbClr val="F3E9C7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NOTIFIED 29 SEP 2020</a:t>
            </a:r>
            <a:endParaRPr lang="en-US" sz="1100" dirty="0"/>
          </a:p>
        </p:txBody>
      </p:sp>
      <p:pic>
        <p:nvPicPr>
          <p:cNvPr id="28" name="Image 11" descr="gen-dedup-d2d3812f68184953c212d3b6c2ca6c76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5572354" y="5572354"/>
            <a:ext cx="571500" cy="19202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5572354" y="5762549"/>
            <a:ext cx="32388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6000" dirty="0"/>
          </a:p>
        </p:txBody>
      </p:sp>
      <p:sp>
        <p:nvSpPr>
          <p:cNvPr id="30" name="Text 16"/>
          <p:cNvSpPr txBox="1"/>
          <p:nvPr/>
        </p:nvSpPr>
        <p:spPr>
          <a:xfrm>
            <a:off x="5572354" y="6620256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8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LAWS CONSOLIDATED</a:t>
            </a:r>
            <a:endParaRPr lang="en-US" sz="1200" dirty="0"/>
          </a:p>
        </p:txBody>
      </p:sp>
      <p:sp>
        <p:nvSpPr>
          <p:cNvPr id="31" name="Text 17"/>
          <p:cNvSpPr txBox="1"/>
          <p:nvPr/>
        </p:nvSpPr>
        <p:spPr>
          <a:xfrm>
            <a:off x="5572354" y="7144207"/>
            <a:ext cx="3238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 Unions · Standing Orders · Industrial Disputes</a:t>
            </a:r>
            <a:endParaRPr lang="en-US" sz="1200" dirty="0"/>
          </a:p>
        </p:txBody>
      </p:sp>
      <p:sp>
        <p:nvSpPr>
          <p:cNvPr id="32" name="Text 18"/>
          <p:cNvSpPr txBox="1"/>
          <p:nvPr/>
        </p:nvSpPr>
        <p:spPr>
          <a:xfrm>
            <a:off x="5572354" y="8715146"/>
            <a:ext cx="383865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3E9C7">
                    <a:alpha val="7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Governs the employer-worker relationship.</a:t>
            </a:r>
            <a:endParaRPr lang="en-US" sz="1200" dirty="0"/>
          </a:p>
        </p:txBody>
      </p:sp>
      <p:sp>
        <p:nvSpPr>
          <p:cNvPr id="33" name="Text 19"/>
          <p:cNvSpPr txBox="1"/>
          <p:nvPr/>
        </p:nvSpPr>
        <p:spPr>
          <a:xfrm>
            <a:off x="9620402" y="3286354"/>
            <a:ext cx="120426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III</a:t>
            </a:r>
            <a:endParaRPr lang="en-US" sz="4800" dirty="0"/>
          </a:p>
        </p:txBody>
      </p:sp>
      <p:sp>
        <p:nvSpPr>
          <p:cNvPr id="34" name="Text 20"/>
          <p:cNvSpPr txBox="1"/>
          <p:nvPr/>
        </p:nvSpPr>
        <p:spPr>
          <a:xfrm>
            <a:off x="9620402" y="4143146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ON</a:t>
            </a:r>
            <a:endParaRPr lang="en-US" sz="900" dirty="0"/>
          </a:p>
        </p:txBody>
      </p:sp>
      <p:sp>
        <p:nvSpPr>
          <p:cNvPr id="35" name="Text 21"/>
          <p:cNvSpPr txBox="1"/>
          <p:nvPr/>
        </p:nvSpPr>
        <p:spPr>
          <a:xfrm>
            <a:off x="9620402" y="4162862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Social Security, 2020</a:t>
            </a:r>
            <a:endParaRPr lang="en-US" sz="2700" dirty="0"/>
          </a:p>
        </p:txBody>
      </p:sp>
      <p:sp>
        <p:nvSpPr>
          <p:cNvPr id="36" name="Text 22"/>
          <p:cNvSpPr txBox="1"/>
          <p:nvPr/>
        </p:nvSpPr>
        <p:spPr>
          <a:xfrm>
            <a:off x="9620402" y="5191049"/>
            <a:ext cx="3238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13" dirty="0">
                <a:solidFill>
                  <a:srgbClr val="F3E9C7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NOTIFIED 29 SEP 2020</a:t>
            </a:r>
            <a:endParaRPr lang="en-US" sz="1100" dirty="0"/>
          </a:p>
        </p:txBody>
      </p:sp>
      <p:pic>
        <p:nvPicPr>
          <p:cNvPr id="37" name="Image 12" descr="gen-dedup-d2d3812f68184953c212d3b6c2ca6c76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9620402" y="5572354"/>
            <a:ext cx="571500" cy="19202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9620402" y="5762549"/>
            <a:ext cx="32388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9</a:t>
            </a:r>
            <a:endParaRPr lang="en-US" sz="6000" dirty="0"/>
          </a:p>
        </p:txBody>
      </p:sp>
      <p:sp>
        <p:nvSpPr>
          <p:cNvPr id="39" name="Text 24"/>
          <p:cNvSpPr txBox="1"/>
          <p:nvPr/>
        </p:nvSpPr>
        <p:spPr>
          <a:xfrm>
            <a:off x="9620402" y="6620256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8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LAWS CONSOLIDATED</a:t>
            </a:r>
            <a:endParaRPr lang="en-US" sz="1200" dirty="0"/>
          </a:p>
        </p:txBody>
      </p:sp>
      <p:sp>
        <p:nvSpPr>
          <p:cNvPr id="40" name="Text 25"/>
          <p:cNvSpPr txBox="1"/>
          <p:nvPr/>
        </p:nvSpPr>
        <p:spPr>
          <a:xfrm>
            <a:off x="9620402" y="7144207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EPF · ESI · Gratuity · Maternity · EC · Employment Exchanges · Cine Welfare · BOCW Cess · Unorganised Workers</a:t>
            </a:r>
            <a:endParaRPr lang="en-US" sz="1200" dirty="0"/>
          </a:p>
        </p:txBody>
      </p:sp>
      <p:sp>
        <p:nvSpPr>
          <p:cNvPr id="41" name="Text 26"/>
          <p:cNvSpPr txBox="1"/>
          <p:nvPr/>
        </p:nvSpPr>
        <p:spPr>
          <a:xfrm>
            <a:off x="9620402" y="8715146"/>
            <a:ext cx="3238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3E9C7">
                    <a:alpha val="7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Universal safety net, incl. gig.</a:t>
            </a:r>
            <a:endParaRPr lang="en-US" sz="1200" dirty="0"/>
          </a:p>
        </p:txBody>
      </p:sp>
      <p:sp>
        <p:nvSpPr>
          <p:cNvPr id="42" name="Text 27"/>
          <p:cNvSpPr txBox="1"/>
          <p:nvPr/>
        </p:nvSpPr>
        <p:spPr>
          <a:xfrm>
            <a:off x="13668451" y="3286354"/>
            <a:ext cx="841248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IV</a:t>
            </a:r>
            <a:endParaRPr lang="en-US" sz="4800" dirty="0"/>
          </a:p>
        </p:txBody>
      </p:sp>
      <p:sp>
        <p:nvSpPr>
          <p:cNvPr id="43" name="Text 28"/>
          <p:cNvSpPr txBox="1"/>
          <p:nvPr/>
        </p:nvSpPr>
        <p:spPr>
          <a:xfrm>
            <a:off x="13668451" y="4143146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OSH &amp; WORKING CONDITIONS</a:t>
            </a:r>
            <a:endParaRPr lang="en-US" sz="900" dirty="0"/>
          </a:p>
        </p:txBody>
      </p:sp>
      <p:sp>
        <p:nvSpPr>
          <p:cNvPr id="44" name="Text 29"/>
          <p:cNvSpPr txBox="1"/>
          <p:nvPr/>
        </p:nvSpPr>
        <p:spPr>
          <a:xfrm>
            <a:off x="13668451" y="4381805"/>
            <a:ext cx="3238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Code, 2020</a:t>
            </a:r>
            <a:endParaRPr lang="en-US" sz="2700" dirty="0"/>
          </a:p>
        </p:txBody>
      </p:sp>
      <p:sp>
        <p:nvSpPr>
          <p:cNvPr id="45" name="Text 30"/>
          <p:cNvSpPr txBox="1"/>
          <p:nvPr/>
        </p:nvSpPr>
        <p:spPr>
          <a:xfrm>
            <a:off x="13668451" y="5191049"/>
            <a:ext cx="3238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13" dirty="0">
                <a:solidFill>
                  <a:srgbClr val="F3E9C7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NOTIFIED 29 SEP 2020</a:t>
            </a:r>
            <a:endParaRPr lang="en-US" sz="1100" dirty="0"/>
          </a:p>
        </p:txBody>
      </p:sp>
      <p:pic>
        <p:nvPicPr>
          <p:cNvPr id="46" name="Image 13" descr="gen-dedup-d2d3812f68184953c212d3b6c2ca6c76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3668451" y="5572354"/>
            <a:ext cx="571500" cy="19202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13668451" y="5762549"/>
            <a:ext cx="32388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13</a:t>
            </a:r>
            <a:endParaRPr lang="en-US" sz="6000" dirty="0"/>
          </a:p>
        </p:txBody>
      </p:sp>
      <p:sp>
        <p:nvSpPr>
          <p:cNvPr id="48" name="Text 32"/>
          <p:cNvSpPr txBox="1"/>
          <p:nvPr/>
        </p:nvSpPr>
        <p:spPr>
          <a:xfrm>
            <a:off x="13668451" y="6620256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8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LAWS CONSOLIDATED</a:t>
            </a:r>
            <a:endParaRPr lang="en-US" sz="1200" dirty="0"/>
          </a:p>
        </p:txBody>
      </p:sp>
      <p:sp>
        <p:nvSpPr>
          <p:cNvPr id="49" name="Text 33"/>
          <p:cNvSpPr txBox="1"/>
          <p:nvPr/>
        </p:nvSpPr>
        <p:spPr>
          <a:xfrm>
            <a:off x="13668451" y="7144207"/>
            <a:ext cx="3238805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Factories · Mines · Contract Labour · ISMW · Plantations · Motor Transport · Beedi · Journalists · Cine · Dock · BOCW · Sales Promotion</a:t>
            </a:r>
            <a:endParaRPr lang="en-US" sz="1200" dirty="0"/>
          </a:p>
        </p:txBody>
      </p:sp>
      <p:sp>
        <p:nvSpPr>
          <p:cNvPr id="50" name="Text 34"/>
          <p:cNvSpPr txBox="1"/>
          <p:nvPr/>
        </p:nvSpPr>
        <p:spPr>
          <a:xfrm>
            <a:off x="13668451" y="8715146"/>
            <a:ext cx="370514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3E9C7">
                    <a:alpha val="7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Safety, health and working conditions.</a:t>
            </a:r>
            <a:endParaRPr lang="en-US" sz="1200" dirty="0"/>
          </a:p>
        </p:txBody>
      </p:sp>
      <p:sp>
        <p:nvSpPr>
          <p:cNvPr id="51" name="Text 35"/>
          <p:cNvSpPr txBox="1"/>
          <p:nvPr/>
        </p:nvSpPr>
        <p:spPr>
          <a:xfrm>
            <a:off x="1143000" y="9763049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PIB Backgrounder 21 Nov 2025 · Ministry of Labour &amp; Employment · labour.gov.in</a:t>
            </a:r>
            <a:endParaRPr lang="en-US" sz="900" dirty="0"/>
          </a:p>
        </p:txBody>
      </p:sp>
      <p:sp>
        <p:nvSpPr>
          <p:cNvPr id="52" name="Text 36"/>
          <p:cNvSpPr txBox="1"/>
          <p:nvPr/>
        </p:nvSpPr>
        <p:spPr>
          <a:xfrm>
            <a:off x="1143000" y="10001707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LABOUR CODES · PITFALLS &amp; SAFEGUARDS</a:t>
            </a:r>
            <a:endParaRPr lang="en-US" sz="900" dirty="0"/>
          </a:p>
        </p:txBody>
      </p:sp>
      <p:sp>
        <p:nvSpPr>
          <p:cNvPr id="53" name="Text 37"/>
          <p:cNvSpPr txBox="1"/>
          <p:nvPr/>
        </p:nvSpPr>
        <p:spPr>
          <a:xfrm>
            <a:off x="17145000" y="10001707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761695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190902"/>
            <a:ext cx="3857854" cy="495605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191049" y="2190902"/>
            <a:ext cx="3857854" cy="495605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9239098" y="2190902"/>
            <a:ext cx="3857854" cy="495605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3287146" y="2190902"/>
            <a:ext cx="3857854" cy="495605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gen-dedup-38d9db64e9131c2aec57f2468bdc88e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620402"/>
            <a:ext cx="16002000" cy="91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904695" y="666598"/>
            <a:ext cx="4763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COMPLETE MAPPING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095451"/>
            <a:ext cx="1657350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All 29 central laws — precisely mapped to their new Code</a:t>
            </a:r>
            <a:endParaRPr lang="en-US" sz="3900" dirty="0"/>
          </a:p>
        </p:txBody>
      </p:sp>
      <p:sp>
        <p:nvSpPr>
          <p:cNvPr id="10" name="Text 6"/>
          <p:cNvSpPr txBox="1"/>
          <p:nvPr/>
        </p:nvSpPr>
        <p:spPr>
          <a:xfrm>
            <a:off x="1380744" y="2314346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</a:rPr>
              <a:t>Code on Wages, 2019 —</a:t>
            </a:r>
            <a:r>
              <a:rPr lang="en-US" sz="1000" b="1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143000" y="2876702"/>
            <a:ext cx="3857854" cy="7242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1143000" y="2876702"/>
            <a:ext cx="28346" cy="7242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1143000" y="3696005"/>
            <a:ext cx="3857854" cy="7242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1143000" y="3696005"/>
            <a:ext cx="28346" cy="7242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143000" y="4515307"/>
            <a:ext cx="3857854" cy="7242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1143000" y="4515307"/>
            <a:ext cx="28346" cy="7242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1143000" y="5333695"/>
            <a:ext cx="3857854" cy="7242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1143000" y="5333695"/>
            <a:ext cx="28346" cy="7242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 txBox="1"/>
          <p:nvPr/>
        </p:nvSpPr>
        <p:spPr>
          <a:xfrm>
            <a:off x="1343254" y="3029407"/>
            <a:ext cx="195773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of Wages Act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1343254" y="3276295"/>
            <a:ext cx="36576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1936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343254" y="3847795"/>
            <a:ext cx="166786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Wages Act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343254" y="4095598"/>
            <a:ext cx="36758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1948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1343254" y="4667098"/>
            <a:ext cx="19559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of Bonus Act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343254" y="4914900"/>
            <a:ext cx="36576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1965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1343254" y="5486400"/>
            <a:ext cx="213146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Equal Remuneration Act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343254" y="5734202"/>
            <a:ext cx="36484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1976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5391302" y="2189073"/>
            <a:ext cx="3429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Industrial Relations Code, 2020 </a:t>
            </a:r>
            <a:r>
              <a:rPr lang="en-US" sz="1000" b="1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3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191049" y="2876702"/>
            <a:ext cx="3857854" cy="7242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5191049" y="2876702"/>
            <a:ext cx="28346" cy="7242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5191049" y="3696005"/>
            <a:ext cx="3857854" cy="7242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5191049" y="3696005"/>
            <a:ext cx="28346" cy="7242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5191049" y="4515307"/>
            <a:ext cx="3857854" cy="7242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9"/>
          <p:cNvSpPr/>
          <p:nvPr/>
        </p:nvSpPr>
        <p:spPr>
          <a:xfrm>
            <a:off x="5191049" y="4515307"/>
            <a:ext cx="28346" cy="7242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 txBox="1"/>
          <p:nvPr/>
        </p:nvSpPr>
        <p:spPr>
          <a:xfrm>
            <a:off x="5391302" y="3029407"/>
            <a:ext cx="153070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 Unions Act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5391302" y="3276295"/>
            <a:ext cx="36576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1926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5391302" y="3847795"/>
            <a:ext cx="3948379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 Employment (Standing Orders) Act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5391302" y="4095598"/>
            <a:ext cx="36758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1946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5391302" y="4667098"/>
            <a:ext cx="201808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 Disputes Act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5391302" y="4914900"/>
            <a:ext cx="36576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1947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9477756" y="2314346"/>
            <a:ext cx="40581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Code on Social Security, 2020 </a:t>
            </a:r>
            <a:r>
              <a:rPr lang="en-US" sz="1000" b="1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9</a:t>
            </a:r>
            <a:endParaRPr lang="en-US" sz="1600" dirty="0"/>
          </a:p>
        </p:txBody>
      </p:sp>
      <p:sp>
        <p:nvSpPr>
          <p:cNvPr id="41" name="Shape 37"/>
          <p:cNvSpPr/>
          <p:nvPr/>
        </p:nvSpPr>
        <p:spPr>
          <a:xfrm>
            <a:off x="9239098" y="2876702"/>
            <a:ext cx="3857854" cy="342900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8"/>
          <p:cNvSpPr/>
          <p:nvPr/>
        </p:nvSpPr>
        <p:spPr>
          <a:xfrm>
            <a:off x="9239098" y="2876702"/>
            <a:ext cx="28346" cy="3429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9"/>
          <p:cNvSpPr txBox="1"/>
          <p:nvPr/>
        </p:nvSpPr>
        <p:spPr>
          <a:xfrm>
            <a:off x="9400946" y="2876702"/>
            <a:ext cx="3696005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Employees' Compensation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1923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9239098" y="3272638"/>
            <a:ext cx="3857854" cy="342900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1"/>
          <p:cNvSpPr/>
          <p:nvPr/>
        </p:nvSpPr>
        <p:spPr>
          <a:xfrm>
            <a:off x="9239098" y="3272638"/>
            <a:ext cx="28346" cy="3429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 txBox="1"/>
          <p:nvPr/>
        </p:nvSpPr>
        <p:spPr>
          <a:xfrm>
            <a:off x="9400946" y="3272638"/>
            <a:ext cx="3696005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Employees' State Insurance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1948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9239098" y="3667658"/>
            <a:ext cx="3857854" cy="342900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9239098" y="3667658"/>
            <a:ext cx="28346" cy="3429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 txBox="1"/>
          <p:nvPr/>
        </p:nvSpPr>
        <p:spPr>
          <a:xfrm>
            <a:off x="9400946" y="3667658"/>
            <a:ext cx="3696005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Employees' Provident Funds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1952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9239098" y="4063594"/>
            <a:ext cx="3857854" cy="342900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7"/>
          <p:cNvSpPr/>
          <p:nvPr/>
        </p:nvSpPr>
        <p:spPr>
          <a:xfrm>
            <a:off x="9239098" y="4063594"/>
            <a:ext cx="28346" cy="3429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8"/>
          <p:cNvSpPr txBox="1"/>
          <p:nvPr/>
        </p:nvSpPr>
        <p:spPr>
          <a:xfrm>
            <a:off x="9400946" y="4063594"/>
            <a:ext cx="3696005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Employment Exchanges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1959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9239098" y="4459529"/>
            <a:ext cx="3857854" cy="342900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0"/>
          <p:cNvSpPr/>
          <p:nvPr/>
        </p:nvSpPr>
        <p:spPr>
          <a:xfrm>
            <a:off x="9239098" y="4459529"/>
            <a:ext cx="28346" cy="3429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 txBox="1"/>
          <p:nvPr/>
        </p:nvSpPr>
        <p:spPr>
          <a:xfrm>
            <a:off x="9400946" y="4459529"/>
            <a:ext cx="3696005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Maternity Benefit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1961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9239098" y="4855464"/>
            <a:ext cx="3857854" cy="342900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3"/>
          <p:cNvSpPr/>
          <p:nvPr/>
        </p:nvSpPr>
        <p:spPr>
          <a:xfrm>
            <a:off x="9239098" y="4855464"/>
            <a:ext cx="28346" cy="3429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4"/>
          <p:cNvSpPr txBox="1"/>
          <p:nvPr/>
        </p:nvSpPr>
        <p:spPr>
          <a:xfrm>
            <a:off x="9400946" y="4855464"/>
            <a:ext cx="3696005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of Gratuity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1972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9239098" y="5251399"/>
            <a:ext cx="3857854" cy="342900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9239098" y="5251399"/>
            <a:ext cx="28346" cy="3429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 txBox="1"/>
          <p:nvPr/>
        </p:nvSpPr>
        <p:spPr>
          <a:xfrm>
            <a:off x="9400946" y="5251399"/>
            <a:ext cx="3696005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Cine-Workers Welfare Fund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1981</a:t>
            </a:r>
            <a:endParaRPr lang="en-US" sz="900" dirty="0"/>
          </a:p>
        </p:txBody>
      </p:sp>
      <p:sp>
        <p:nvSpPr>
          <p:cNvPr id="62" name="Shape 58"/>
          <p:cNvSpPr/>
          <p:nvPr/>
        </p:nvSpPr>
        <p:spPr>
          <a:xfrm>
            <a:off x="9239098" y="5646420"/>
            <a:ext cx="3857854" cy="342900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59"/>
          <p:cNvSpPr/>
          <p:nvPr/>
        </p:nvSpPr>
        <p:spPr>
          <a:xfrm>
            <a:off x="9239098" y="5646420"/>
            <a:ext cx="28346" cy="3429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0"/>
          <p:cNvSpPr txBox="1"/>
          <p:nvPr/>
        </p:nvSpPr>
        <p:spPr>
          <a:xfrm>
            <a:off x="9400946" y="5646420"/>
            <a:ext cx="3696005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BOCW Welfare Cess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1996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9239098" y="6042355"/>
            <a:ext cx="3857854" cy="342900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2"/>
          <p:cNvSpPr/>
          <p:nvPr/>
        </p:nvSpPr>
        <p:spPr>
          <a:xfrm>
            <a:off x="9239098" y="6042355"/>
            <a:ext cx="28346" cy="3429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3"/>
          <p:cNvSpPr txBox="1"/>
          <p:nvPr/>
        </p:nvSpPr>
        <p:spPr>
          <a:xfrm>
            <a:off x="9400946" y="6042355"/>
            <a:ext cx="3696005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Unorganised Workers' SS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2008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13525805" y="2314346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OSH &amp; WC </a:t>
            </a:r>
            <a:r>
              <a:rPr lang="en-US" sz="16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</a:rPr>
              <a:t>Code</a:t>
            </a:r>
            <a:r>
              <a:rPr lang="en-US" sz="16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, 2020 </a:t>
            </a:r>
            <a:r>
              <a:rPr lang="en-US" sz="1000" b="1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13</a:t>
            </a:r>
            <a:endParaRPr lang="en-US" sz="1600" dirty="0"/>
          </a:p>
        </p:txBody>
      </p:sp>
      <p:sp>
        <p:nvSpPr>
          <p:cNvPr id="69" name="Shape 65"/>
          <p:cNvSpPr/>
          <p:nvPr/>
        </p:nvSpPr>
        <p:spPr>
          <a:xfrm>
            <a:off x="13287146" y="2876702"/>
            <a:ext cx="3857854" cy="2670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6"/>
          <p:cNvSpPr/>
          <p:nvPr/>
        </p:nvSpPr>
        <p:spPr>
          <a:xfrm>
            <a:off x="13287146" y="2876702"/>
            <a:ext cx="28346" cy="2670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7"/>
          <p:cNvSpPr txBox="1"/>
          <p:nvPr/>
        </p:nvSpPr>
        <p:spPr>
          <a:xfrm>
            <a:off x="13429793" y="2876702"/>
            <a:ext cx="37152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Factories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1948</a:t>
            </a:r>
            <a:endParaRPr lang="en-US" sz="900" dirty="0"/>
          </a:p>
        </p:txBody>
      </p:sp>
      <p:sp>
        <p:nvSpPr>
          <p:cNvPr id="72" name="Shape 68"/>
          <p:cNvSpPr/>
          <p:nvPr/>
        </p:nvSpPr>
        <p:spPr>
          <a:xfrm>
            <a:off x="13287146" y="3177540"/>
            <a:ext cx="3857854" cy="2670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69"/>
          <p:cNvSpPr/>
          <p:nvPr/>
        </p:nvSpPr>
        <p:spPr>
          <a:xfrm>
            <a:off x="13287146" y="3177540"/>
            <a:ext cx="28346" cy="2670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0"/>
          <p:cNvSpPr txBox="1"/>
          <p:nvPr/>
        </p:nvSpPr>
        <p:spPr>
          <a:xfrm>
            <a:off x="13429793" y="3177540"/>
            <a:ext cx="37152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Plantations Labour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1951</a:t>
            </a:r>
            <a:endParaRPr lang="en-US" sz="900" dirty="0"/>
          </a:p>
        </p:txBody>
      </p:sp>
      <p:sp>
        <p:nvSpPr>
          <p:cNvPr id="75" name="Shape 71"/>
          <p:cNvSpPr/>
          <p:nvPr/>
        </p:nvSpPr>
        <p:spPr>
          <a:xfrm>
            <a:off x="13287146" y="3478378"/>
            <a:ext cx="3857854" cy="2670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2"/>
          <p:cNvSpPr/>
          <p:nvPr/>
        </p:nvSpPr>
        <p:spPr>
          <a:xfrm>
            <a:off x="13287146" y="3478378"/>
            <a:ext cx="28346" cy="2670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 txBox="1"/>
          <p:nvPr/>
        </p:nvSpPr>
        <p:spPr>
          <a:xfrm>
            <a:off x="13429793" y="3478378"/>
            <a:ext cx="37152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Mines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1952</a:t>
            </a:r>
            <a:endParaRPr lang="en-US" sz="900" dirty="0"/>
          </a:p>
        </p:txBody>
      </p:sp>
      <p:sp>
        <p:nvSpPr>
          <p:cNvPr id="78" name="Shape 74"/>
          <p:cNvSpPr/>
          <p:nvPr/>
        </p:nvSpPr>
        <p:spPr>
          <a:xfrm>
            <a:off x="13287146" y="3779215"/>
            <a:ext cx="3857854" cy="2670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5"/>
          <p:cNvSpPr/>
          <p:nvPr/>
        </p:nvSpPr>
        <p:spPr>
          <a:xfrm>
            <a:off x="13287146" y="3779215"/>
            <a:ext cx="28346" cy="2670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6"/>
          <p:cNvSpPr txBox="1"/>
          <p:nvPr/>
        </p:nvSpPr>
        <p:spPr>
          <a:xfrm>
            <a:off x="13429793" y="3779215"/>
            <a:ext cx="37152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Journalists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1955</a:t>
            </a:r>
            <a:endParaRPr lang="en-US" sz="900" dirty="0"/>
          </a:p>
        </p:txBody>
      </p:sp>
      <p:sp>
        <p:nvSpPr>
          <p:cNvPr id="81" name="Shape 77"/>
          <p:cNvSpPr/>
          <p:nvPr/>
        </p:nvSpPr>
        <p:spPr>
          <a:xfrm>
            <a:off x="13287146" y="4080053"/>
            <a:ext cx="3857854" cy="2670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78"/>
          <p:cNvSpPr/>
          <p:nvPr/>
        </p:nvSpPr>
        <p:spPr>
          <a:xfrm>
            <a:off x="13287146" y="4080053"/>
            <a:ext cx="28346" cy="2670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79"/>
          <p:cNvSpPr txBox="1"/>
          <p:nvPr/>
        </p:nvSpPr>
        <p:spPr>
          <a:xfrm>
            <a:off x="13429793" y="4080053"/>
            <a:ext cx="37152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Journalists Wages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1958</a:t>
            </a:r>
            <a:endParaRPr lang="en-US" sz="900" dirty="0"/>
          </a:p>
        </p:txBody>
      </p:sp>
      <p:sp>
        <p:nvSpPr>
          <p:cNvPr id="84" name="Shape 80"/>
          <p:cNvSpPr/>
          <p:nvPr/>
        </p:nvSpPr>
        <p:spPr>
          <a:xfrm>
            <a:off x="13287146" y="4380890"/>
            <a:ext cx="3857854" cy="2670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Shape 81"/>
          <p:cNvSpPr/>
          <p:nvPr/>
        </p:nvSpPr>
        <p:spPr>
          <a:xfrm>
            <a:off x="13287146" y="4380890"/>
            <a:ext cx="28346" cy="2670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 txBox="1"/>
          <p:nvPr/>
        </p:nvSpPr>
        <p:spPr>
          <a:xfrm>
            <a:off x="13429793" y="4380890"/>
            <a:ext cx="37152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Transport Workers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1961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13287146" y="4681728"/>
            <a:ext cx="3857854" cy="2670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13287146" y="4681728"/>
            <a:ext cx="28346" cy="2670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 txBox="1"/>
          <p:nvPr/>
        </p:nvSpPr>
        <p:spPr>
          <a:xfrm>
            <a:off x="13429793" y="4681728"/>
            <a:ext cx="37152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Beedi &amp; Cigar Workers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1966</a:t>
            </a:r>
            <a:endParaRPr lang="en-US" sz="900" dirty="0"/>
          </a:p>
        </p:txBody>
      </p:sp>
      <p:sp>
        <p:nvSpPr>
          <p:cNvPr id="90" name="Shape 86"/>
          <p:cNvSpPr/>
          <p:nvPr/>
        </p:nvSpPr>
        <p:spPr>
          <a:xfrm>
            <a:off x="13287146" y="4983480"/>
            <a:ext cx="3857854" cy="2670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Shape 87"/>
          <p:cNvSpPr/>
          <p:nvPr/>
        </p:nvSpPr>
        <p:spPr>
          <a:xfrm>
            <a:off x="13287146" y="4983480"/>
            <a:ext cx="28346" cy="2670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 txBox="1"/>
          <p:nvPr/>
        </p:nvSpPr>
        <p:spPr>
          <a:xfrm>
            <a:off x="13429793" y="4983480"/>
            <a:ext cx="37152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Labour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1970</a:t>
            </a:r>
            <a:endParaRPr lang="en-US" sz="900" dirty="0"/>
          </a:p>
        </p:txBody>
      </p:sp>
      <p:sp>
        <p:nvSpPr>
          <p:cNvPr id="93" name="Shape 89"/>
          <p:cNvSpPr/>
          <p:nvPr/>
        </p:nvSpPr>
        <p:spPr>
          <a:xfrm>
            <a:off x="13287146" y="5284318"/>
            <a:ext cx="3857854" cy="2670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Shape 90"/>
          <p:cNvSpPr/>
          <p:nvPr/>
        </p:nvSpPr>
        <p:spPr>
          <a:xfrm>
            <a:off x="13287146" y="5284318"/>
            <a:ext cx="28346" cy="2670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 txBox="1"/>
          <p:nvPr/>
        </p:nvSpPr>
        <p:spPr>
          <a:xfrm>
            <a:off x="13429793" y="5284318"/>
            <a:ext cx="37152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Promotion Employees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1976</a:t>
            </a:r>
            <a:endParaRPr lang="en-US" sz="900" dirty="0"/>
          </a:p>
        </p:txBody>
      </p:sp>
      <p:sp>
        <p:nvSpPr>
          <p:cNvPr id="96" name="Shape 92"/>
          <p:cNvSpPr/>
          <p:nvPr/>
        </p:nvSpPr>
        <p:spPr>
          <a:xfrm>
            <a:off x="13287146" y="5585155"/>
            <a:ext cx="3857854" cy="2670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Shape 93"/>
          <p:cNvSpPr/>
          <p:nvPr/>
        </p:nvSpPr>
        <p:spPr>
          <a:xfrm>
            <a:off x="13287146" y="5585155"/>
            <a:ext cx="28346" cy="2670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 txBox="1"/>
          <p:nvPr/>
        </p:nvSpPr>
        <p:spPr>
          <a:xfrm>
            <a:off x="13429793" y="5585155"/>
            <a:ext cx="37152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Inter-State Migrant Workmen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1979</a:t>
            </a:r>
            <a:endParaRPr lang="en-US" sz="900" dirty="0"/>
          </a:p>
        </p:txBody>
      </p:sp>
      <p:sp>
        <p:nvSpPr>
          <p:cNvPr id="99" name="Shape 95"/>
          <p:cNvSpPr/>
          <p:nvPr/>
        </p:nvSpPr>
        <p:spPr>
          <a:xfrm>
            <a:off x="13287146" y="5885993"/>
            <a:ext cx="3857854" cy="2670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Shape 96"/>
          <p:cNvSpPr/>
          <p:nvPr/>
        </p:nvSpPr>
        <p:spPr>
          <a:xfrm>
            <a:off x="13287146" y="5885993"/>
            <a:ext cx="28346" cy="2670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 txBox="1"/>
          <p:nvPr/>
        </p:nvSpPr>
        <p:spPr>
          <a:xfrm>
            <a:off x="13429793" y="5885993"/>
            <a:ext cx="37152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Cine-Workers &amp; Cinema Theatre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1981</a:t>
            </a:r>
            <a:endParaRPr lang="en-US" sz="900" dirty="0"/>
          </a:p>
        </p:txBody>
      </p:sp>
      <p:sp>
        <p:nvSpPr>
          <p:cNvPr id="102" name="Shape 98"/>
          <p:cNvSpPr/>
          <p:nvPr/>
        </p:nvSpPr>
        <p:spPr>
          <a:xfrm>
            <a:off x="13287146" y="6186830"/>
            <a:ext cx="3857854" cy="2670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Shape 99"/>
          <p:cNvSpPr/>
          <p:nvPr/>
        </p:nvSpPr>
        <p:spPr>
          <a:xfrm>
            <a:off x="13287146" y="6186830"/>
            <a:ext cx="28346" cy="2670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0"/>
          <p:cNvSpPr txBox="1"/>
          <p:nvPr/>
        </p:nvSpPr>
        <p:spPr>
          <a:xfrm>
            <a:off x="13429793" y="6186830"/>
            <a:ext cx="37152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 Workers (SHW)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1986</a:t>
            </a:r>
            <a:endParaRPr lang="en-US" sz="900" dirty="0"/>
          </a:p>
        </p:txBody>
      </p:sp>
      <p:sp>
        <p:nvSpPr>
          <p:cNvPr id="105" name="Shape 101"/>
          <p:cNvSpPr/>
          <p:nvPr/>
        </p:nvSpPr>
        <p:spPr>
          <a:xfrm>
            <a:off x="13287146" y="6487668"/>
            <a:ext cx="3857854" cy="2670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13287146" y="6487668"/>
            <a:ext cx="28346" cy="2670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 txBox="1"/>
          <p:nvPr/>
        </p:nvSpPr>
        <p:spPr>
          <a:xfrm>
            <a:off x="13429793" y="6487668"/>
            <a:ext cx="37152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BOCW Act</a:t>
            </a:r>
            <a:r>
              <a:rPr lang="en-US" sz="9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1996</a:t>
            </a:r>
            <a:endParaRPr lang="en-US" sz="900" dirty="0"/>
          </a:p>
        </p:txBody>
      </p:sp>
      <p:sp>
        <p:nvSpPr>
          <p:cNvPr id="108" name="Text 104"/>
          <p:cNvSpPr txBox="1"/>
          <p:nvPr/>
        </p:nvSpPr>
        <p:spPr>
          <a:xfrm>
            <a:off x="1143000" y="9763049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PIB Backgrounder 21 Nov 2025 (PRID 2192524) · Ministry of Labour &amp; Employment</a:t>
            </a:r>
            <a:endParaRPr lang="en-US" sz="900" dirty="0"/>
          </a:p>
        </p:txBody>
      </p:sp>
      <p:sp>
        <p:nvSpPr>
          <p:cNvPr id="109" name="Text 105"/>
          <p:cNvSpPr txBox="1"/>
          <p:nvPr/>
        </p:nvSpPr>
        <p:spPr>
          <a:xfrm>
            <a:off x="1143000" y="10001707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LABOUR CODES · PITFALLS &amp; SAFEGUARDS</a:t>
            </a:r>
            <a:endParaRPr lang="en-US" sz="900" dirty="0"/>
          </a:p>
        </p:txBody>
      </p:sp>
      <p:sp>
        <p:nvSpPr>
          <p:cNvPr id="110" name="Text 106"/>
          <p:cNvSpPr txBox="1"/>
          <p:nvPr/>
        </p:nvSpPr>
        <p:spPr>
          <a:xfrm>
            <a:off x="17145000" y="10001707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pic>
        <p:nvPicPr>
          <p:cNvPr id="3" name="Image 1" descr="gen-dedup-38d9db64e9131c2aec57f2468bdc88e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620402"/>
            <a:ext cx="16002000" cy="91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904695" y="952805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COMPLIANCE SCORECARD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1143000" y="1380744"/>
            <a:ext cx="1555303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How much did the reform actually simplify?</a:t>
            </a:r>
            <a:endParaRPr lang="en-US" sz="4500" dirty="0"/>
          </a:p>
        </p:txBody>
      </p:sp>
      <p:sp>
        <p:nvSpPr>
          <p:cNvPr id="6" name="Text 2"/>
          <p:cNvSpPr txBox="1"/>
          <p:nvPr/>
        </p:nvSpPr>
        <p:spPr>
          <a:xfrm>
            <a:off x="1143000" y="2143354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4A5A7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PIB's own numbers, from the OSH factsheet published 22 November 2025.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3047695"/>
          <a:ext cx="16002000" cy="5268890"/>
        </p:xfrm>
        <a:graphic>
          <a:graphicData uri="http://schemas.openxmlformats.org/drawingml/2006/table">
            <a:tbl>
              <a:tblPr/>
              <a:tblGrid>
                <a:gridCol w="4969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4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6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1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36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8F5EE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Metric (OSH-family)</a:t>
                      </a:r>
                      <a:endParaRPr lang="en-US" sz="18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8F5EE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Before (13 Acts)</a:t>
                      </a:r>
                      <a:endParaRPr lang="en-US" sz="18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8F5EE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After (OSH Code)</a:t>
                      </a:r>
                      <a:endParaRPr lang="en-US" sz="18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9A227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Reduction</a:t>
                      </a:r>
                      <a:endParaRPr lang="en-US" sz="18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6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Number of Acts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13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−92%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6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Sections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620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143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−77%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6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Rules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868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175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−80%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6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Registrations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6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−83%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6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Licences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4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−75%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6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Forms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55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20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−64%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36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Returns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21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−95%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67005" marR="267005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1143000" y="9763049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PIB Factsheet — OSH Code 2020 (Id 150475) · 22 November 2025 · pib.gov.in/FactsheetDetails.aspx?Id=150475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10001707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LABOUR CODES · PITFALLS &amp; SAFEGUARDS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17145000" y="10001707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952598"/>
            <a:ext cx="5581498" cy="533369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43000" y="2952598"/>
            <a:ext cx="57607" cy="5333695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1" descr="gen-dedup-0e23b977ecb169d816232f91b2ce2deb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1524305" y="4667098"/>
            <a:ext cx="47621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524305" y="6953098"/>
            <a:ext cx="4762195" cy="1143000"/>
          </a:xfrm>
          <a:prstGeom prst="roundRect">
            <a:avLst>
              <a:gd name="adj" fmla="val 1680"/>
            </a:avLst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6953098" y="2952598"/>
            <a:ext cx="10248595" cy="533369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6953098" y="2952598"/>
            <a:ext cx="57607" cy="5333695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2" descr="gen-dedup-5ed905c99a4a07d769f09c044d8ea75b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7334402" y="4524451"/>
            <a:ext cx="9430207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334402" y="6953098"/>
            <a:ext cx="9430207" cy="1143000"/>
          </a:xfrm>
          <a:prstGeom prst="roundRect">
            <a:avLst>
              <a:gd name="adj" fmla="val 1680"/>
            </a:avLst>
          </a:prstGeom>
          <a:solidFill>
            <a:srgbClr val="F3E1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" y="8620049"/>
            <a:ext cx="16002000" cy="666598"/>
          </a:xfrm>
          <a:prstGeom prst="rect">
            <a:avLst/>
          </a:prstGeom>
          <a:solidFill>
            <a:srgbClr val="0F1F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7"/>
          <p:cNvSpPr txBox="1"/>
          <p:nvPr/>
        </p:nvSpPr>
        <p:spPr>
          <a:xfrm>
            <a:off x="1904695" y="952805"/>
            <a:ext cx="4763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KEYSTONE OF ALL FOUR CODES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1380744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single, uniform definition of "wages"</a:t>
            </a:r>
            <a:endParaRPr lang="en-US" sz="45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2143354"/>
            <a:ext cx="14287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4A5A7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Section 2(y) Code on Wages · mirrored by Section 2(88) Code on Social Security. Every calculation — PF, gratuity, bonus, ESI — flows from this one clause.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524305" y="3238805"/>
            <a:ext cx="4763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INCLUDED — "WAGES"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524305" y="3571646"/>
            <a:ext cx="476311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All remuneration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capable of expression in terms of money</a:t>
            </a:r>
            <a:endParaRPr lang="en-US" sz="2500" dirty="0"/>
          </a:p>
        </p:txBody>
      </p:sp>
      <p:sp>
        <p:nvSpPr>
          <p:cNvPr id="17" name="Shape 12"/>
          <p:cNvSpPr/>
          <p:nvPr/>
        </p:nvSpPr>
        <p:spPr>
          <a:xfrm>
            <a:off x="1524305" y="5411419"/>
            <a:ext cx="4762195" cy="9144"/>
          </a:xfrm>
          <a:prstGeom prst="rect">
            <a:avLst/>
          </a:prstGeom>
          <a:solidFill>
            <a:srgbClr val="B7B29F"/>
          </a:solidFill>
          <a:ln w="12700">
            <a:solidFill>
              <a:srgbClr val="B7B2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 txBox="1"/>
          <p:nvPr/>
        </p:nvSpPr>
        <p:spPr>
          <a:xfrm>
            <a:off x="1524305" y="4858207"/>
            <a:ext cx="4763110" cy="4581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a)</a:t>
            </a: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Basic pay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1524305" y="5972861"/>
            <a:ext cx="4762195" cy="9144"/>
          </a:xfrm>
          <a:prstGeom prst="rect">
            <a:avLst/>
          </a:prstGeom>
          <a:solidFill>
            <a:srgbClr val="B7B29F"/>
          </a:solidFill>
          <a:ln w="12700">
            <a:solidFill>
              <a:srgbClr val="B7B2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 txBox="1"/>
          <p:nvPr/>
        </p:nvSpPr>
        <p:spPr>
          <a:xfrm>
            <a:off x="1524305" y="5419649"/>
            <a:ext cx="4763110" cy="4581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b)</a:t>
            </a: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Dearness allowance (DA)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524305" y="5982005"/>
            <a:ext cx="4763110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c)</a:t>
            </a: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Retaining allowance, if any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714500" y="7125005"/>
            <a:ext cx="4381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701621" y="7133515"/>
            <a:ext cx="4381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This trio must always make up at least 50% of total remuneration — if it doesn't, the excess is </a:t>
            </a:r>
            <a:r>
              <a:rPr lang="en-US" sz="1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added back</a:t>
            </a:r>
            <a:r>
              <a:rPr lang="en-US" sz="1500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7334402" y="3238805"/>
            <a:ext cx="8572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SPECIFICALLY EXCLUDED — S. 2(y)(a) TO (i)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7334402" y="3571646"/>
            <a:ext cx="9525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Nine categories carved out</a:t>
            </a:r>
            <a:endParaRPr lang="en-US" sz="2500" dirty="0"/>
          </a:p>
        </p:txBody>
      </p:sp>
      <p:sp>
        <p:nvSpPr>
          <p:cNvPr id="26" name="Shape 21"/>
          <p:cNvSpPr/>
          <p:nvPr/>
        </p:nvSpPr>
        <p:spPr>
          <a:xfrm>
            <a:off x="7334402" y="5162702"/>
            <a:ext cx="4714646" cy="9144"/>
          </a:xfrm>
          <a:prstGeom prst="rect">
            <a:avLst/>
          </a:prstGeom>
          <a:solidFill>
            <a:srgbClr val="B7B29F"/>
          </a:solidFill>
          <a:ln w="12700">
            <a:solidFill>
              <a:srgbClr val="B7B2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 txBox="1"/>
          <p:nvPr/>
        </p:nvSpPr>
        <p:spPr>
          <a:xfrm>
            <a:off x="7334402" y="4762195"/>
            <a:ext cx="4715561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63500" rIns="635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</a:t>
            </a: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Statutory bonus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334402" y="5570525"/>
            <a:ext cx="4714646" cy="9144"/>
          </a:xfrm>
          <a:prstGeom prst="rect">
            <a:avLst/>
          </a:prstGeom>
          <a:solidFill>
            <a:srgbClr val="B7B29F"/>
          </a:solidFill>
          <a:ln w="12700">
            <a:solidFill>
              <a:srgbClr val="B7B2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 txBox="1"/>
          <p:nvPr/>
        </p:nvSpPr>
        <p:spPr>
          <a:xfrm>
            <a:off x="7334402" y="5170018"/>
            <a:ext cx="4715561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63500" rIns="635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</a:t>
            </a: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Value of house accommodation, utilities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7334402" y="5977433"/>
            <a:ext cx="4714646" cy="9144"/>
          </a:xfrm>
          <a:prstGeom prst="rect">
            <a:avLst/>
          </a:prstGeom>
          <a:solidFill>
            <a:srgbClr val="B7B29F"/>
          </a:solidFill>
          <a:ln w="12700">
            <a:solidFill>
              <a:srgbClr val="B7B2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6"/>
          <p:cNvSpPr txBox="1"/>
          <p:nvPr/>
        </p:nvSpPr>
        <p:spPr>
          <a:xfrm>
            <a:off x="7334402" y="5576926"/>
            <a:ext cx="4715561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63500" rIns="635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</a:t>
            </a: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Employer's PF &amp; pension contribution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7334402" y="6384341"/>
            <a:ext cx="4714646" cy="9144"/>
          </a:xfrm>
          <a:prstGeom prst="rect">
            <a:avLst/>
          </a:prstGeom>
          <a:solidFill>
            <a:srgbClr val="B7B29F"/>
          </a:solidFill>
          <a:ln w="12700">
            <a:solidFill>
              <a:srgbClr val="B7B2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 txBox="1"/>
          <p:nvPr/>
        </p:nvSpPr>
        <p:spPr>
          <a:xfrm>
            <a:off x="7334402" y="5983834"/>
            <a:ext cx="4715561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63500" rIns="635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</a:t>
            </a: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Conveyance allowance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7334402" y="6391656"/>
            <a:ext cx="4715561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(e)</a:t>
            </a: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Special expenses reimbursed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12287707" y="5162702"/>
            <a:ext cx="4572000" cy="9144"/>
          </a:xfrm>
          <a:prstGeom prst="rect">
            <a:avLst/>
          </a:prstGeom>
          <a:solidFill>
            <a:srgbClr val="B7B29F"/>
          </a:solidFill>
          <a:ln w="12700">
            <a:solidFill>
              <a:srgbClr val="B7B2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 txBox="1"/>
          <p:nvPr/>
        </p:nvSpPr>
        <p:spPr>
          <a:xfrm>
            <a:off x="12287707" y="4762195"/>
            <a:ext cx="45720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63500" rIns="635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(f)</a:t>
            </a: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House Rent Allowance (HRA)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12287707" y="5570525"/>
            <a:ext cx="4572000" cy="9144"/>
          </a:xfrm>
          <a:prstGeom prst="rect">
            <a:avLst/>
          </a:prstGeom>
          <a:solidFill>
            <a:srgbClr val="B7B29F"/>
          </a:solidFill>
          <a:ln w="12700">
            <a:solidFill>
              <a:srgbClr val="B7B2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 txBox="1"/>
          <p:nvPr/>
        </p:nvSpPr>
        <p:spPr>
          <a:xfrm>
            <a:off x="12287707" y="5170018"/>
            <a:ext cx="45720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63500" rIns="635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(g)</a:t>
            </a: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Overtime allowance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12287707" y="5977433"/>
            <a:ext cx="4572000" cy="9144"/>
          </a:xfrm>
          <a:prstGeom prst="rect">
            <a:avLst/>
          </a:prstGeom>
          <a:solidFill>
            <a:srgbClr val="B7B29F"/>
          </a:solidFill>
          <a:ln w="12700">
            <a:solidFill>
              <a:srgbClr val="B7B2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 txBox="1"/>
          <p:nvPr/>
        </p:nvSpPr>
        <p:spPr>
          <a:xfrm>
            <a:off x="12287707" y="5576926"/>
            <a:ext cx="45720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63500" rIns="635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(h)</a:t>
            </a: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Commission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12287707" y="6384341"/>
            <a:ext cx="4572000" cy="9144"/>
          </a:xfrm>
          <a:prstGeom prst="rect">
            <a:avLst/>
          </a:prstGeom>
          <a:solidFill>
            <a:srgbClr val="B7B29F"/>
          </a:solidFill>
          <a:ln w="12700">
            <a:solidFill>
              <a:srgbClr val="B7B2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7"/>
          <p:cNvSpPr txBox="1"/>
          <p:nvPr/>
        </p:nvSpPr>
        <p:spPr>
          <a:xfrm>
            <a:off x="12287707" y="5983834"/>
            <a:ext cx="45720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63500" rIns="635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(i)</a:t>
            </a: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Gratuity, retrenchment compensation, ex gratia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12287707" y="6391656"/>
            <a:ext cx="4572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any lump-sum on termination</a:t>
            </a:r>
            <a:endParaRPr lang="en-US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7524598" y="7125005"/>
            <a:ext cx="8953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 — THE 50% PROVISO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7524598" y="7391095"/>
            <a:ext cx="9144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If the total of (a)-(i) </a:t>
            </a:r>
            <a:r>
              <a:rPr lang="en-US" sz="1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exceeds 50%</a:t>
            </a:r>
            <a:r>
              <a:rPr lang="en-US" sz="1500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of remuneration, the excess is treated as "wages" for all statutory calculations — PF, gratuity, bonus, ESI.</a:t>
            </a:r>
            <a:endParaRPr lang="en-US" sz="1500" dirty="0"/>
          </a:p>
        </p:txBody>
      </p:sp>
      <p:sp>
        <p:nvSpPr>
          <p:cNvPr id="46" name="Text 41"/>
          <p:cNvSpPr txBox="1"/>
          <p:nvPr/>
        </p:nvSpPr>
        <p:spPr>
          <a:xfrm>
            <a:off x="1380744" y="8829446"/>
            <a:ext cx="164025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EFFECTIVE DATE →</a:t>
            </a:r>
            <a:r>
              <a:rPr lang="en-US" sz="1400" i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The revised "wages" definition applies from </a:t>
            </a:r>
            <a:r>
              <a:rPr lang="en-US" sz="1400" b="1" i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21 November 2025</a:t>
            </a:r>
            <a:r>
              <a:rPr lang="en-US" sz="1400" i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 Gratuity calculation follows the same rule from that date. </a:t>
            </a:r>
            <a:r>
              <a:rPr lang="en-US" sz="1200" i="1" dirty="0">
                <a:solidFill>
                  <a:srgbClr val="F3E9C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[MoLE FAQ, 16 Mar 2026, Q6-Q11]</a:t>
            </a:r>
            <a:endParaRPr lang="en-US" sz="1400" dirty="0"/>
          </a:p>
        </p:txBody>
      </p:sp>
      <p:sp>
        <p:nvSpPr>
          <p:cNvPr id="47" name="Text 42"/>
          <p:cNvSpPr txBox="1"/>
          <p:nvPr/>
        </p:nvSpPr>
        <p:spPr>
          <a:xfrm>
            <a:off x="1143000" y="9763049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Code on Wages 2019, Sec. 2(y) · Code on Social Security 2020, Sec. 2(88) · MoLE Additional FAQs 16 Mar 2026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1143000" y="10001707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LABOUR CODES · PITFALLS &amp; SAFEGUARDS</a:t>
            </a:r>
            <a:endParaRPr lang="en-US" sz="900" dirty="0"/>
          </a:p>
        </p:txBody>
      </p:sp>
      <p:sp>
        <p:nvSpPr>
          <p:cNvPr id="49" name="Text 44"/>
          <p:cNvSpPr txBox="1"/>
          <p:nvPr/>
        </p:nvSpPr>
        <p:spPr>
          <a:xfrm>
            <a:off x="17145000" y="10001707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857500"/>
            <a:ext cx="7830007" cy="5924398"/>
          </a:xfrm>
          <a:prstGeom prst="rect">
            <a:avLst/>
          </a:prstGeom>
          <a:solidFill>
            <a:srgbClr val="F5EEE8"/>
          </a:solidFill>
          <a:ln w="12700">
            <a:solidFill>
              <a:srgbClr val="D6C2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524305" y="7334402"/>
            <a:ext cx="7048195" cy="1238098"/>
          </a:xfrm>
          <a:prstGeom prst="rect">
            <a:avLst/>
          </a:prstGeom>
          <a:solidFill>
            <a:srgbClr val="EAD4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1" descr="gen-dedup-dd01617df35e1c0a441d63f5692b16ca.png"/>
          <p:cNvPicPr>
            <a:picLocks noChangeAspect="1"/>
          </p:cNvPicPr>
          <p:nvPr/>
        </p:nvPicPr>
        <p:blipFill>
          <a:blip r:embed="rId4"/>
          <a:srcRect l="-5" r="-5"/>
          <a:stretch/>
        </p:blipFill>
        <p:spPr>
          <a:xfrm>
            <a:off x="9905695" y="2857500"/>
            <a:ext cx="7239305" cy="59051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287000" y="7334402"/>
            <a:ext cx="6495898" cy="1257300"/>
          </a:xfrm>
          <a:prstGeom prst="rect">
            <a:avLst/>
          </a:prstGeom>
          <a:solidFill>
            <a:srgbClr val="C9A227">
              <a:alpha val="15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1143000" y="8953805"/>
            <a:ext cx="16040405" cy="571500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1143000" y="8953805"/>
            <a:ext cx="38405" cy="571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2" descr="gen-dedup-38d9db64e9131c2aec57f2468bdc88e2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43000" y="9829800"/>
            <a:ext cx="16002000" cy="91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904695" y="952805"/>
            <a:ext cx="4763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WORKED EXAMPLE · THE 50% RULE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1380744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rule in one payslip</a:t>
            </a:r>
            <a:endParaRPr lang="en-US" sz="4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2143354"/>
            <a:ext cx="1428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A5A7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Employee X · Gross monthly CTC ₹1,00,000 · Two ways of structuring the same package.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1524305" y="3095244"/>
            <a:ext cx="3810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4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OLD STRUCTURE · BASIC ONLY 30%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524305" y="3381451"/>
            <a:ext cx="7049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Allowance-heavy salary</a:t>
            </a:r>
            <a:endParaRPr lang="en-US" sz="2500" dirty="0"/>
          </a:p>
        </p:txBody>
      </p:sp>
      <p:sp>
        <p:nvSpPr>
          <p:cNvPr id="15" name="Shape 10"/>
          <p:cNvSpPr/>
          <p:nvPr/>
        </p:nvSpPr>
        <p:spPr>
          <a:xfrm>
            <a:off x="1524305" y="4610405"/>
            <a:ext cx="7048195" cy="9144"/>
          </a:xfrm>
          <a:prstGeom prst="rect">
            <a:avLst/>
          </a:prstGeom>
          <a:solidFill>
            <a:srgbClr val="D6C2B0"/>
          </a:solidFill>
          <a:ln w="12700">
            <a:solidFill>
              <a:srgbClr val="D6C2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 txBox="1"/>
          <p:nvPr/>
        </p:nvSpPr>
        <p:spPr>
          <a:xfrm>
            <a:off x="1524305" y="4172407"/>
            <a:ext cx="178033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+ DA 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(30%)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797089" y="4172407"/>
            <a:ext cx="83210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₹30,000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1524305" y="5134356"/>
            <a:ext cx="7048195" cy="9144"/>
          </a:xfrm>
          <a:prstGeom prst="rect">
            <a:avLst/>
          </a:prstGeom>
          <a:solidFill>
            <a:srgbClr val="D6C2B0"/>
          </a:solidFill>
          <a:ln w="12700">
            <a:solidFill>
              <a:srgbClr val="D6C2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 txBox="1"/>
          <p:nvPr/>
        </p:nvSpPr>
        <p:spPr>
          <a:xfrm>
            <a:off x="1524305" y="4695444"/>
            <a:ext cx="40050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HRA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800746" y="4695444"/>
            <a:ext cx="83210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₹25,000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1524305" y="5658307"/>
            <a:ext cx="7048195" cy="9144"/>
          </a:xfrm>
          <a:prstGeom prst="rect">
            <a:avLst/>
          </a:prstGeom>
          <a:solidFill>
            <a:srgbClr val="D6C2B0"/>
          </a:solidFill>
          <a:ln w="12700">
            <a:solidFill>
              <a:srgbClr val="D6C2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 txBox="1"/>
          <p:nvPr/>
        </p:nvSpPr>
        <p:spPr>
          <a:xfrm>
            <a:off x="1524305" y="5219395"/>
            <a:ext cx="118872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Conveyance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7800746" y="5219395"/>
            <a:ext cx="83210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₹10,000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1524305" y="6182258"/>
            <a:ext cx="7048195" cy="9144"/>
          </a:xfrm>
          <a:prstGeom prst="rect">
            <a:avLst/>
          </a:prstGeom>
          <a:solidFill>
            <a:srgbClr val="D6C2B0"/>
          </a:solidFill>
          <a:ln w="12700">
            <a:solidFill>
              <a:srgbClr val="D6C2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 txBox="1"/>
          <p:nvPr/>
        </p:nvSpPr>
        <p:spPr>
          <a:xfrm>
            <a:off x="1524305" y="5743346"/>
            <a:ext cx="192755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 allowance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7800746" y="5743346"/>
            <a:ext cx="83210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₹25,000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1524305" y="6706210"/>
            <a:ext cx="7048195" cy="9144"/>
          </a:xfrm>
          <a:prstGeom prst="rect">
            <a:avLst/>
          </a:prstGeom>
          <a:solidFill>
            <a:srgbClr val="D6C2B0"/>
          </a:solidFill>
          <a:ln w="12700">
            <a:solidFill>
              <a:srgbClr val="D6C2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 txBox="1"/>
          <p:nvPr/>
        </p:nvSpPr>
        <p:spPr>
          <a:xfrm>
            <a:off x="1524305" y="6267298"/>
            <a:ext cx="327629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perks &amp; reimbursements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7800746" y="6267298"/>
            <a:ext cx="83210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₹10,000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1524305" y="6715354"/>
            <a:ext cx="7048195" cy="1920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6"/>
          <p:cNvSpPr txBox="1"/>
          <p:nvPr/>
        </p:nvSpPr>
        <p:spPr>
          <a:xfrm>
            <a:off x="1524305" y="6933895"/>
            <a:ext cx="11036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CTC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7622438" y="6933895"/>
            <a:ext cx="11018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₹1,00,000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1714500" y="7477049"/>
            <a:ext cx="6667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STATUTORY CALCULATIONS BASE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1714500" y="7742225"/>
            <a:ext cx="6667805" cy="61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00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Employer PF @ 12% on ₹30,000 = </a:t>
            </a: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₹3,600/m</a:t>
            </a:r>
            <a:endParaRPr lang="en-US" sz="1600" dirty="0"/>
          </a:p>
          <a:p>
            <a:pPr marL="0" indent="0" algn="l">
              <a:lnSpc>
                <a:spcPts val="2310"/>
              </a:lnSpc>
              <a:buNone/>
            </a:pPr>
            <a:r>
              <a:rPr lang="en-US" sz="1600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Gratuity accrues on </a:t>
            </a: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₹30,000</a:t>
            </a:r>
            <a:r>
              <a:rPr lang="en-US" sz="1600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base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9096451" y="5524805"/>
            <a:ext cx="667512" cy="7525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endParaRPr lang="en-US" sz="4800" dirty="0"/>
          </a:p>
        </p:txBody>
      </p:sp>
      <p:sp>
        <p:nvSpPr>
          <p:cNvPr id="36" name="Text 31"/>
          <p:cNvSpPr txBox="1"/>
          <p:nvPr/>
        </p:nvSpPr>
        <p:spPr>
          <a:xfrm>
            <a:off x="10287000" y="3095244"/>
            <a:ext cx="3810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41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THE CODES · 21 NOV 2025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10287000" y="3381451"/>
            <a:ext cx="6477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"Add-back" kicks in</a:t>
            </a:r>
            <a:endParaRPr lang="en-US" sz="2500" dirty="0"/>
          </a:p>
        </p:txBody>
      </p:sp>
      <p:sp>
        <p:nvSpPr>
          <p:cNvPr id="38" name="Shape 33"/>
          <p:cNvSpPr/>
          <p:nvPr/>
        </p:nvSpPr>
        <p:spPr>
          <a:xfrm>
            <a:off x="10287000" y="4610405"/>
            <a:ext cx="6476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4"/>
          <p:cNvSpPr txBox="1"/>
          <p:nvPr/>
        </p:nvSpPr>
        <p:spPr>
          <a:xfrm>
            <a:off x="10287000" y="4172407"/>
            <a:ext cx="2902306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Excluded components (a-i)</a:t>
            </a:r>
            <a:endParaRPr lang="en-US" sz="1500" dirty="0"/>
          </a:p>
        </p:txBody>
      </p:sp>
      <p:sp>
        <p:nvSpPr>
          <p:cNvPr id="40" name="Text 35"/>
          <p:cNvSpPr txBox="1"/>
          <p:nvPr/>
        </p:nvSpPr>
        <p:spPr>
          <a:xfrm>
            <a:off x="15991942" y="4172407"/>
            <a:ext cx="83210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₹70,000</a:t>
            </a:r>
            <a:endParaRPr lang="en-US" sz="1500" dirty="0"/>
          </a:p>
        </p:txBody>
      </p:sp>
      <p:sp>
        <p:nvSpPr>
          <p:cNvPr id="41" name="Shape 36"/>
          <p:cNvSpPr/>
          <p:nvPr/>
        </p:nvSpPr>
        <p:spPr>
          <a:xfrm>
            <a:off x="10287000" y="5134356"/>
            <a:ext cx="6476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7"/>
          <p:cNvSpPr txBox="1"/>
          <p:nvPr/>
        </p:nvSpPr>
        <p:spPr>
          <a:xfrm>
            <a:off x="10287000" y="4695444"/>
            <a:ext cx="2969971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 of ₹1,00,000 threshold</a:t>
            </a:r>
            <a:endParaRPr lang="en-US" sz="1500" dirty="0"/>
          </a:p>
        </p:txBody>
      </p:sp>
      <p:sp>
        <p:nvSpPr>
          <p:cNvPr id="43" name="Text 38"/>
          <p:cNvSpPr txBox="1"/>
          <p:nvPr/>
        </p:nvSpPr>
        <p:spPr>
          <a:xfrm>
            <a:off x="15991942" y="4695444"/>
            <a:ext cx="83210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₹50,000</a:t>
            </a:r>
            <a:endParaRPr lang="en-US" sz="1500" dirty="0"/>
          </a:p>
        </p:txBody>
      </p:sp>
      <p:sp>
        <p:nvSpPr>
          <p:cNvPr id="44" name="Shape 39"/>
          <p:cNvSpPr/>
          <p:nvPr/>
        </p:nvSpPr>
        <p:spPr>
          <a:xfrm>
            <a:off x="10287000" y="5658307"/>
            <a:ext cx="6476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0"/>
          <p:cNvSpPr txBox="1"/>
          <p:nvPr/>
        </p:nvSpPr>
        <p:spPr>
          <a:xfrm>
            <a:off x="10287000" y="5219395"/>
            <a:ext cx="269839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Excess to be added back</a:t>
            </a:r>
            <a:endParaRPr lang="en-US" sz="1500" dirty="0"/>
          </a:p>
        </p:txBody>
      </p:sp>
      <p:sp>
        <p:nvSpPr>
          <p:cNvPr id="46" name="Text 41"/>
          <p:cNvSpPr txBox="1"/>
          <p:nvPr/>
        </p:nvSpPr>
        <p:spPr>
          <a:xfrm>
            <a:off x="15988284" y="5219395"/>
            <a:ext cx="83210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₹20,000</a:t>
            </a:r>
            <a:endParaRPr lang="en-US" sz="1500" dirty="0"/>
          </a:p>
        </p:txBody>
      </p:sp>
      <p:sp>
        <p:nvSpPr>
          <p:cNvPr id="47" name="Shape 42"/>
          <p:cNvSpPr/>
          <p:nvPr/>
        </p:nvSpPr>
        <p:spPr>
          <a:xfrm>
            <a:off x="10287000" y="5667451"/>
            <a:ext cx="6476695" cy="1920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3"/>
          <p:cNvSpPr txBox="1"/>
          <p:nvPr/>
        </p:nvSpPr>
        <p:spPr>
          <a:xfrm>
            <a:off x="10287000" y="5886907"/>
            <a:ext cx="26755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Statutory "wages" base</a:t>
            </a:r>
            <a:endParaRPr lang="en-US" sz="1500" dirty="0"/>
          </a:p>
        </p:txBody>
      </p:sp>
      <p:sp>
        <p:nvSpPr>
          <p:cNvPr id="49" name="Text 44"/>
          <p:cNvSpPr txBox="1"/>
          <p:nvPr/>
        </p:nvSpPr>
        <p:spPr>
          <a:xfrm>
            <a:off x="15988284" y="5886907"/>
            <a:ext cx="8586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₹50,000</a:t>
            </a:r>
            <a:endParaRPr lang="en-US" sz="1500" dirty="0"/>
          </a:p>
        </p:txBody>
      </p:sp>
      <p:sp>
        <p:nvSpPr>
          <p:cNvPr id="50" name="Text 45"/>
          <p:cNvSpPr txBox="1"/>
          <p:nvPr/>
        </p:nvSpPr>
        <p:spPr>
          <a:xfrm>
            <a:off x="10287000" y="6314846"/>
            <a:ext cx="64776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3E9C7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₹30,000 (Basic + DA) + ₹20,000 (add-back)</a:t>
            </a:r>
            <a:endParaRPr lang="en-US" sz="1200" dirty="0"/>
          </a:p>
        </p:txBody>
      </p:sp>
      <p:sp>
        <p:nvSpPr>
          <p:cNvPr id="51" name="Text 46"/>
          <p:cNvSpPr txBox="1"/>
          <p:nvPr/>
        </p:nvSpPr>
        <p:spPr>
          <a:xfrm>
            <a:off x="10477195" y="7477049"/>
            <a:ext cx="6096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REVISED STATUTORY BASE</a:t>
            </a:r>
            <a:endParaRPr lang="en-US" sz="900" dirty="0"/>
          </a:p>
        </p:txBody>
      </p:sp>
      <p:sp>
        <p:nvSpPr>
          <p:cNvPr id="52" name="Text 47"/>
          <p:cNvSpPr txBox="1"/>
          <p:nvPr/>
        </p:nvSpPr>
        <p:spPr>
          <a:xfrm>
            <a:off x="10477195" y="7742225"/>
            <a:ext cx="6096305" cy="61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00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Employer PF @ 12% on ₹50,000 = </a:t>
            </a: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₹6,000/m</a:t>
            </a:r>
            <a:r>
              <a:rPr lang="en-US" sz="1200" dirty="0">
                <a:solidFill>
                  <a:srgbClr val="F3E9C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(+67%)</a:t>
            </a:r>
            <a:endParaRPr lang="en-US" sz="1600" dirty="0"/>
          </a:p>
          <a:p>
            <a:pPr marL="0" indent="0" algn="l">
              <a:lnSpc>
                <a:spcPts val="2310"/>
              </a:lnSpc>
              <a:buNone/>
            </a:pPr>
            <a:r>
              <a:rPr lang="en-US" sz="1600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Gratuity accrues on </a:t>
            </a: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₹50,000</a:t>
            </a:r>
            <a:r>
              <a:rPr lang="en-US" sz="1600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base</a:t>
            </a:r>
            <a:endParaRPr lang="en-US" sz="1600" dirty="0"/>
          </a:p>
        </p:txBody>
      </p:sp>
      <p:sp>
        <p:nvSpPr>
          <p:cNvPr id="53" name="Text 48"/>
          <p:cNvSpPr txBox="1"/>
          <p:nvPr/>
        </p:nvSpPr>
        <p:spPr>
          <a:xfrm>
            <a:off x="1380744" y="9096451"/>
            <a:ext cx="157167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takeaway for HR &amp; payroll:</a:t>
            </a:r>
            <a:r>
              <a:rPr lang="en-US" sz="1600" i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the more "allowance-heavy" your existing salary structures, the sharper the increase in monthly PF and long-term gratuity liability.</a:t>
            </a:r>
            <a:endParaRPr lang="en-US" sz="1600" dirty="0"/>
          </a:p>
        </p:txBody>
      </p:sp>
      <p:sp>
        <p:nvSpPr>
          <p:cNvPr id="54" name="Text 49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Illustration for educational purposes. Source: Sec. 2(y) proviso, Code on Wages · K&amp;S Employment Law Guide · Livemint (Nov 2025).</a:t>
            </a:r>
            <a:endParaRPr lang="en-US" sz="900" dirty="0"/>
          </a:p>
        </p:txBody>
      </p:sp>
      <p:sp>
        <p:nvSpPr>
          <p:cNvPr id="55" name="Text 50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375be14941e62041ad24427fe08059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2667305"/>
            <a:ext cx="6214262" cy="2915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0" i="1" dirty="0">
                <a:solidFill>
                  <a:srgbClr val="C9A227">
                    <a:alpha val="18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III</a:t>
            </a:r>
            <a:endParaRPr lang="en-US" sz="25500" dirty="0"/>
          </a:p>
        </p:txBody>
      </p:sp>
      <p:pic>
        <p:nvPicPr>
          <p:cNvPr id="4" name="Image 1" descr="gen-dedup-e3fdc12e66f4c942a9280406b7949b65.png"/>
          <p:cNvPicPr>
            <a:picLocks noChangeAspect="1"/>
          </p:cNvPicPr>
          <p:nvPr/>
        </p:nvPicPr>
        <p:blipFill>
          <a:blip r:embed="rId4"/>
          <a:srcRect l="-392" r="-392"/>
          <a:stretch/>
        </p:blipFill>
        <p:spPr>
          <a:xfrm>
            <a:off x="6096305" y="4238244"/>
            <a:ext cx="666598" cy="2834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53098" y="4143146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42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THREE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096305" y="4524451"/>
            <a:ext cx="11430000" cy="1848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Code on</a:t>
            </a:r>
            <a:endParaRPr lang="en-US" sz="6900" dirty="0"/>
          </a:p>
          <a:p>
            <a:pPr marL="0" indent="0" algn="l">
              <a:buNone/>
            </a:pPr>
            <a:r>
              <a:rPr lang="en-US" sz="69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Wages, 2019</a:t>
            </a:r>
            <a:endParaRPr lang="en-US" sz="6900" dirty="0"/>
          </a:p>
        </p:txBody>
      </p:sp>
      <p:sp>
        <p:nvSpPr>
          <p:cNvPr id="7" name="Text 3"/>
          <p:cNvSpPr txBox="1"/>
          <p:nvPr/>
        </p:nvSpPr>
        <p:spPr>
          <a:xfrm>
            <a:off x="6096305" y="6620256"/>
            <a:ext cx="137160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F3E9C7">
                    <a:alpha val="8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Universal minimum wage · Floor wage · Timely payment · Bonus.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9858146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93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CCC · 17 JULY 2026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7145000" y="9858146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667305"/>
            <a:ext cx="5391302" cy="2115007"/>
          </a:xfrm>
          <a:prstGeom prst="rect">
            <a:avLst/>
          </a:prstGeom>
          <a:solidFill>
            <a:srgbClr val="F5EEE8"/>
          </a:solidFill>
          <a:ln w="12700">
            <a:solidFill>
              <a:srgbClr val="D6C2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43000" y="2667305"/>
            <a:ext cx="47549" cy="21150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1143000" y="4953305"/>
            <a:ext cx="5391302" cy="2115007"/>
          </a:xfrm>
          <a:prstGeom prst="rect">
            <a:avLst/>
          </a:prstGeom>
          <a:solidFill>
            <a:srgbClr val="F5EEE8"/>
          </a:solidFill>
          <a:ln w="12700">
            <a:solidFill>
              <a:srgbClr val="D6C2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143000" y="4953305"/>
            <a:ext cx="47549" cy="21150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143000" y="7239305"/>
            <a:ext cx="5391302" cy="1543507"/>
          </a:xfrm>
          <a:prstGeom prst="rect">
            <a:avLst/>
          </a:prstGeom>
          <a:solidFill>
            <a:srgbClr val="F5EEE8"/>
          </a:solidFill>
          <a:ln w="12700">
            <a:solidFill>
              <a:srgbClr val="D6C2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143000" y="7239305"/>
            <a:ext cx="47549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143000" y="8953805"/>
            <a:ext cx="5391302" cy="780898"/>
          </a:xfrm>
          <a:prstGeom prst="rect">
            <a:avLst/>
          </a:prstGeom>
          <a:solidFill>
            <a:srgbClr val="F5EEE8"/>
          </a:solidFill>
          <a:ln w="12700">
            <a:solidFill>
              <a:srgbClr val="D6C2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143000" y="8953805"/>
            <a:ext cx="47549" cy="780898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gen-dedup-fcafd088a21918c988333cd904d28ad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7810805" y="2667305"/>
            <a:ext cx="9334195" cy="7048195"/>
          </a:xfrm>
          <a:prstGeom prst="rect">
            <a:avLst/>
          </a:prstGeom>
        </p:spPr>
      </p:pic>
      <p:pic>
        <p:nvPicPr>
          <p:cNvPr id="12" name="Image 2" descr="gen-dedup-38d9db64e9131c2aec57f2468bdc88e2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43000" y="9829800"/>
            <a:ext cx="16002000" cy="9144"/>
          </a:xfrm>
          <a:prstGeom prst="rect">
            <a:avLst/>
          </a:prstGeom>
        </p:spPr>
      </p:pic>
      <p:pic>
        <p:nvPicPr>
          <p:cNvPr id="13" name="Image 3" descr="gen-dedup-8b289999a1a14187df1e42c96c389050.png"/>
          <p:cNvPicPr>
            <a:picLocks noChangeAspect="1"/>
          </p:cNvPicPr>
          <p:nvPr/>
        </p:nvPicPr>
        <p:blipFill>
          <a:blip r:embed="rId6"/>
          <a:srcRect t="-402" b="-402"/>
          <a:stretch/>
        </p:blipFill>
        <p:spPr>
          <a:xfrm>
            <a:off x="7810805" y="2667305"/>
            <a:ext cx="9334195" cy="5760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ON WAGES · THE FOUR PILLARS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1380744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Four laws, one wage architecture</a:t>
            </a:r>
            <a:endParaRPr lang="en-US" sz="4500" dirty="0"/>
          </a:p>
        </p:txBody>
      </p:sp>
      <p:sp>
        <p:nvSpPr>
          <p:cNvPr id="16" name="Text 10"/>
          <p:cNvSpPr txBox="1"/>
          <p:nvPr/>
        </p:nvSpPr>
        <p:spPr>
          <a:xfrm>
            <a:off x="1429207" y="2905049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REPEALED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429207" y="3191256"/>
            <a:ext cx="495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Payment of Wages Act, 1936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1429207" y="3552444"/>
            <a:ext cx="4953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Timely wage payment, permissible deductions.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1429207" y="5191049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REPEALED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429207" y="5477256"/>
            <a:ext cx="495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Minimum Wages Act, 1948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1429207" y="5838444"/>
            <a:ext cx="4953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Statutory floor for scheduled employments.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1429207" y="7429500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REPEALED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429207" y="7696505"/>
            <a:ext cx="4953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Payment of Bonus Act, 1965</a:t>
            </a:r>
            <a:endParaRPr lang="en-US" sz="16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Statutory 8.33% – 20% bonus.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1429207" y="9144000"/>
            <a:ext cx="5076749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Equal Remuneration Act, 1976 </a:t>
            </a:r>
            <a:r>
              <a:rPr lang="en-US" sz="9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REPEALED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667805" y="5619902"/>
            <a:ext cx="952805" cy="933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endParaRPr lang="en-US" sz="6000" dirty="0"/>
          </a:p>
        </p:txBody>
      </p:sp>
      <p:sp>
        <p:nvSpPr>
          <p:cNvPr id="26" name="Text 20"/>
          <p:cNvSpPr txBox="1"/>
          <p:nvPr/>
        </p:nvSpPr>
        <p:spPr>
          <a:xfrm>
            <a:off x="8191195" y="2952598"/>
            <a:ext cx="3810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41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ON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8191195" y="3238805"/>
            <a:ext cx="8572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Wages, 2019</a:t>
            </a:r>
            <a:endParaRPr lang="en-US" sz="4800" dirty="0"/>
          </a:p>
        </p:txBody>
      </p:sp>
      <p:sp>
        <p:nvSpPr>
          <p:cNvPr id="28" name="Text 22"/>
          <p:cNvSpPr txBox="1"/>
          <p:nvPr/>
        </p:nvSpPr>
        <p:spPr>
          <a:xfrm>
            <a:off x="8191195" y="4000500"/>
            <a:ext cx="8572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80" dirty="0">
                <a:solidFill>
                  <a:srgbClr val="F3E9C7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29 OF 2019 · NOTIFIED 8 AUG 2019 · IN FORCE 21 NOV 2025</a:t>
            </a:r>
            <a:endParaRPr lang="en-US" sz="1200" dirty="0"/>
          </a:p>
        </p:txBody>
      </p:sp>
      <p:pic>
        <p:nvPicPr>
          <p:cNvPr id="29" name="Image 4" descr="gen-dedup-9639bd3a10f3d57486cd7db9b8ce6e0b.png"/>
          <p:cNvPicPr>
            <a:picLocks noChangeAspect="1"/>
          </p:cNvPicPr>
          <p:nvPr/>
        </p:nvPicPr>
        <p:blipFill>
          <a:blip r:embed="rId7"/>
          <a:srcRect t="-384" b="-384"/>
          <a:stretch/>
        </p:blipFill>
        <p:spPr>
          <a:xfrm>
            <a:off x="8191195" y="4429354"/>
            <a:ext cx="952805" cy="1920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8191195" y="5400446"/>
            <a:ext cx="8572500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4"/>
          <p:cNvSpPr txBox="1"/>
          <p:nvPr/>
        </p:nvSpPr>
        <p:spPr>
          <a:xfrm>
            <a:off x="8191195" y="4762195"/>
            <a:ext cx="8572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39700" rIns="1397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§I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Minimum wages &amp; floor wage — </a:t>
            </a:r>
            <a:r>
              <a:rPr lang="en-US" sz="15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II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8191195" y="6043270"/>
            <a:ext cx="8572500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6"/>
          <p:cNvSpPr txBox="1"/>
          <p:nvPr/>
        </p:nvSpPr>
        <p:spPr>
          <a:xfrm>
            <a:off x="8191195" y="5405018"/>
            <a:ext cx="8572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39700" rIns="1397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§II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Payment of wages — </a:t>
            </a:r>
            <a:r>
              <a:rPr lang="en-US" sz="15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III</a:t>
            </a:r>
            <a:endParaRPr lang="en-US" sz="1500" dirty="0"/>
          </a:p>
        </p:txBody>
      </p:sp>
      <p:sp>
        <p:nvSpPr>
          <p:cNvPr id="34" name="Shape 27"/>
          <p:cNvSpPr/>
          <p:nvPr/>
        </p:nvSpPr>
        <p:spPr>
          <a:xfrm>
            <a:off x="8191195" y="6687007"/>
            <a:ext cx="8572500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8"/>
          <p:cNvSpPr txBox="1"/>
          <p:nvPr/>
        </p:nvSpPr>
        <p:spPr>
          <a:xfrm>
            <a:off x="8191195" y="6048756"/>
            <a:ext cx="8572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39700" rIns="1397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§III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Payment of bonus — </a:t>
            </a:r>
            <a:r>
              <a:rPr lang="en-US" sz="15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IV</a:t>
            </a:r>
            <a:endParaRPr lang="en-US" sz="1500" dirty="0"/>
          </a:p>
        </p:txBody>
      </p:sp>
      <p:sp>
        <p:nvSpPr>
          <p:cNvPr id="36" name="Shape 29"/>
          <p:cNvSpPr/>
          <p:nvPr/>
        </p:nvSpPr>
        <p:spPr>
          <a:xfrm>
            <a:off x="8191195" y="7329830"/>
            <a:ext cx="8572500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0"/>
          <p:cNvSpPr txBox="1"/>
          <p:nvPr/>
        </p:nvSpPr>
        <p:spPr>
          <a:xfrm>
            <a:off x="8191195" y="6691579"/>
            <a:ext cx="8572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39700" rIns="1397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§IV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Advisory Boards — </a:t>
            </a:r>
            <a:r>
              <a:rPr lang="en-US" sz="15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V</a:t>
            </a:r>
            <a:endParaRPr lang="en-US" sz="1500" dirty="0"/>
          </a:p>
        </p:txBody>
      </p:sp>
      <p:sp>
        <p:nvSpPr>
          <p:cNvPr id="38" name="Shape 31"/>
          <p:cNvSpPr/>
          <p:nvPr/>
        </p:nvSpPr>
        <p:spPr>
          <a:xfrm>
            <a:off x="8191195" y="7972654"/>
            <a:ext cx="8572500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2"/>
          <p:cNvSpPr txBox="1"/>
          <p:nvPr/>
        </p:nvSpPr>
        <p:spPr>
          <a:xfrm>
            <a:off x="8191195" y="7334402"/>
            <a:ext cx="8572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39700" rIns="1397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§V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Payment of dues, claims, audit — </a:t>
            </a:r>
            <a:r>
              <a:rPr lang="en-US" sz="15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VI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8191195" y="7977226"/>
            <a:ext cx="8572500" cy="638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§VI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Inspector-cum-Facilitator, offences, penalties — </a:t>
            </a:r>
            <a:r>
              <a:rPr lang="en-US" sz="15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VII &amp; VIII</a:t>
            </a:r>
            <a:endParaRPr lang="en-US" sz="1500" dirty="0"/>
          </a:p>
        </p:txBody>
      </p:sp>
      <p:sp>
        <p:nvSpPr>
          <p:cNvPr id="41" name="Text 34"/>
          <p:cNvSpPr txBox="1"/>
          <p:nvPr/>
        </p:nvSpPr>
        <p:spPr>
          <a:xfrm>
            <a:off x="8191195" y="9144000"/>
            <a:ext cx="92583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3E9C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"To provide a statutory right to minimum wages to </a:t>
            </a:r>
            <a:r>
              <a:rPr lang="en-US" sz="1600" b="1" i="1" dirty="0">
                <a:solidFill>
                  <a:srgbClr val="F3E9C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every worker</a:t>
            </a:r>
            <a:r>
              <a:rPr lang="en-US" sz="1600" i="1" dirty="0">
                <a:solidFill>
                  <a:srgbClr val="F3E9C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in India."</a:t>
            </a:r>
            <a:endParaRPr lang="en-US" sz="1600" dirty="0"/>
          </a:p>
        </p:txBody>
      </p:sp>
      <p:sp>
        <p:nvSpPr>
          <p:cNvPr id="42" name="Text 35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The Code on Wages, 2019 (Act 29 of 2019) · indiacode.nic.in · PIB Backgrounder 21 Nov 2025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762402"/>
            <a:ext cx="7830007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2476195" y="5191049"/>
            <a:ext cx="6096305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9144000" y="2762402"/>
            <a:ext cx="8020202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0477195" y="5191049"/>
            <a:ext cx="6286500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143000" y="6096305"/>
            <a:ext cx="7830007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476195" y="8524951"/>
            <a:ext cx="6096305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144000" y="6096305"/>
            <a:ext cx="8020202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0477195" y="8524951"/>
            <a:ext cx="6286500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gen-dedup-38d9db64e9131c2aec57f2468bdc88e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pic>
        <p:nvPicPr>
          <p:cNvPr id="12" name="Image 2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1143000" y="2762402"/>
            <a:ext cx="47549" cy="3047695"/>
          </a:xfrm>
          <a:prstGeom prst="rect">
            <a:avLst/>
          </a:prstGeom>
        </p:spPr>
      </p:pic>
      <p:pic>
        <p:nvPicPr>
          <p:cNvPr id="13" name="Image 3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9144000" y="2762402"/>
            <a:ext cx="47549" cy="3047695"/>
          </a:xfrm>
          <a:prstGeom prst="rect">
            <a:avLst/>
          </a:prstGeom>
        </p:spPr>
      </p:pic>
      <p:pic>
        <p:nvPicPr>
          <p:cNvPr id="14" name="Image 4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1143000" y="6096305"/>
            <a:ext cx="47549" cy="3047695"/>
          </a:xfrm>
          <a:prstGeom prst="rect">
            <a:avLst/>
          </a:prstGeom>
        </p:spPr>
      </p:pic>
      <p:pic>
        <p:nvPicPr>
          <p:cNvPr id="15" name="Image 5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9144000" y="6096305"/>
            <a:ext cx="47549" cy="30476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CHANGES · PART 1 OF 2</a:t>
            </a:r>
            <a:endParaRPr lang="en-US" sz="100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1380744"/>
            <a:ext cx="1628455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Universal wage floor — what actually changed</a:t>
            </a:r>
            <a:endParaRPr lang="en-US" sz="4500" dirty="0"/>
          </a:p>
        </p:txBody>
      </p:sp>
      <p:sp>
        <p:nvSpPr>
          <p:cNvPr id="18" name="Text 10"/>
          <p:cNvSpPr txBox="1"/>
          <p:nvPr/>
        </p:nvSpPr>
        <p:spPr>
          <a:xfrm>
            <a:off x="1524305" y="3000146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3300" dirty="0"/>
          </a:p>
        </p:txBody>
      </p:sp>
      <p:sp>
        <p:nvSpPr>
          <p:cNvPr id="19" name="Text 11"/>
          <p:cNvSpPr txBox="1"/>
          <p:nvPr/>
        </p:nvSpPr>
        <p:spPr>
          <a:xfrm>
            <a:off x="2476195" y="3000146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SECTIONS 5 &amp; 6, CHAPTER II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2476195" y="3238805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Universal minimum wages</a:t>
            </a:r>
            <a:endParaRPr lang="en-US" sz="2400" dirty="0"/>
          </a:p>
        </p:txBody>
      </p:sp>
      <p:sp>
        <p:nvSpPr>
          <p:cNvPr id="21" name="Text 13"/>
          <p:cNvSpPr txBox="1"/>
          <p:nvPr/>
        </p:nvSpPr>
        <p:spPr>
          <a:xfrm>
            <a:off x="2476195" y="3810305"/>
            <a:ext cx="6096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to minimum wages now vests in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employee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organised or unorganised — not just those in scheduled employments (which covered ~30% earlier).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2619756" y="5257800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widens from ~30% to </a:t>
            </a:r>
            <a:r>
              <a:rPr lang="en-US" sz="1000" b="1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the workforce.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9525305" y="3000146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3300" dirty="0"/>
          </a:p>
        </p:txBody>
      </p:sp>
      <p:sp>
        <p:nvSpPr>
          <p:cNvPr id="24" name="Text 16"/>
          <p:cNvSpPr txBox="1"/>
          <p:nvPr/>
        </p:nvSpPr>
        <p:spPr>
          <a:xfrm>
            <a:off x="10477195" y="3000146"/>
            <a:ext cx="6286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9 — NEW MECHANISM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0477195" y="3238805"/>
            <a:ext cx="6286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National Floor Wage</a:t>
            </a:r>
            <a:endParaRPr lang="en-US" sz="2400" dirty="0"/>
          </a:p>
        </p:txBody>
      </p:sp>
      <p:sp>
        <p:nvSpPr>
          <p:cNvPr id="26" name="Text 18"/>
          <p:cNvSpPr txBox="1"/>
          <p:nvPr/>
        </p:nvSpPr>
        <p:spPr>
          <a:xfrm>
            <a:off x="10477195" y="3810305"/>
            <a:ext cx="6286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Government fixes a floor wage on the basis of minimum living standards.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State may notify minimum wages below the floor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regional variations are permitted above it.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10620756" y="5257800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Ends the wide gap between states' notified floors.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524305" y="6334049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3300" dirty="0"/>
          </a:p>
        </p:txBody>
      </p:sp>
      <p:sp>
        <p:nvSpPr>
          <p:cNvPr id="29" name="Text 21"/>
          <p:cNvSpPr txBox="1"/>
          <p:nvPr/>
        </p:nvSpPr>
        <p:spPr>
          <a:xfrm>
            <a:off x="2476195" y="6334049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SECTIONS 15 &amp; 17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2476195" y="6572707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Timely payment — universal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2476195" y="7144207"/>
            <a:ext cx="6096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Timely-payment safeguards now apply to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employee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only those drawing wages ≤ ₹24,000/month under the old Payment of Wages Act.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2619756" y="8591702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and white-collar staff now covered by wage-protection.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9525305" y="6334049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3300" dirty="0"/>
          </a:p>
        </p:txBody>
      </p:sp>
      <p:sp>
        <p:nvSpPr>
          <p:cNvPr id="34" name="Text 26"/>
          <p:cNvSpPr txBox="1"/>
          <p:nvPr/>
        </p:nvSpPr>
        <p:spPr>
          <a:xfrm>
            <a:off x="10477195" y="6334049"/>
            <a:ext cx="6286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477195" y="6572707"/>
            <a:ext cx="6286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Gender-neutral pay</a:t>
            </a:r>
            <a:endParaRPr lang="en-US" sz="2400" dirty="0"/>
          </a:p>
        </p:txBody>
      </p:sp>
      <p:sp>
        <p:nvSpPr>
          <p:cNvPr id="36" name="Text 28"/>
          <p:cNvSpPr txBox="1"/>
          <p:nvPr/>
        </p:nvSpPr>
        <p:spPr>
          <a:xfrm>
            <a:off x="10477195" y="7144207"/>
            <a:ext cx="6286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discrimination on the basis of gender — including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transgender identity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 recruitment, wages, or conditions of employment for the same work or work of similar nature.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10620756" y="8591702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Broadens the Equal Remuneration Act's scope explicitly.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143000" y="9667951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The Code on Wages, 2019 (Act 29 of 2019) · PIB Backgrounder PRID 2192524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ON WAGES · MAJOR CHANGES 1/2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762402"/>
            <a:ext cx="7830007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2476195" y="5191049"/>
            <a:ext cx="6096305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9144000" y="2762402"/>
            <a:ext cx="8020202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0477195" y="5191049"/>
            <a:ext cx="6286500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143000" y="6096305"/>
            <a:ext cx="7830007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476195" y="8524951"/>
            <a:ext cx="6096305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144000" y="6096305"/>
            <a:ext cx="8020202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0477195" y="8524951"/>
            <a:ext cx="6286500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gen-dedup-38d9db64e9131c2aec57f2468bdc88e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pic>
        <p:nvPicPr>
          <p:cNvPr id="12" name="Image 2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1143000" y="2762402"/>
            <a:ext cx="47549" cy="3047695"/>
          </a:xfrm>
          <a:prstGeom prst="rect">
            <a:avLst/>
          </a:prstGeom>
        </p:spPr>
      </p:pic>
      <p:pic>
        <p:nvPicPr>
          <p:cNvPr id="13" name="Image 3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9144000" y="2762402"/>
            <a:ext cx="47549" cy="3047695"/>
          </a:xfrm>
          <a:prstGeom prst="rect">
            <a:avLst/>
          </a:prstGeom>
        </p:spPr>
      </p:pic>
      <p:pic>
        <p:nvPicPr>
          <p:cNvPr id="14" name="Image 4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1143000" y="6096305"/>
            <a:ext cx="47549" cy="3047695"/>
          </a:xfrm>
          <a:prstGeom prst="rect">
            <a:avLst/>
          </a:prstGeom>
        </p:spPr>
      </p:pic>
      <p:pic>
        <p:nvPicPr>
          <p:cNvPr id="15" name="Image 5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9144000" y="6096305"/>
            <a:ext cx="47549" cy="30476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CHANGES · PART 2 OF 2</a:t>
            </a:r>
            <a:endParaRPr lang="en-US" sz="100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1380744"/>
            <a:ext cx="16573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Bonus, overtime, enforcement — a lighter machinery</a:t>
            </a:r>
            <a:endParaRPr lang="en-US" sz="4500" dirty="0"/>
          </a:p>
        </p:txBody>
      </p:sp>
      <p:sp>
        <p:nvSpPr>
          <p:cNvPr id="18" name="Text 10"/>
          <p:cNvSpPr txBox="1"/>
          <p:nvPr/>
        </p:nvSpPr>
        <p:spPr>
          <a:xfrm>
            <a:off x="1524305" y="3000146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3300" dirty="0"/>
          </a:p>
        </p:txBody>
      </p:sp>
      <p:sp>
        <p:nvSpPr>
          <p:cNvPr id="19" name="Text 11"/>
          <p:cNvSpPr txBox="1"/>
          <p:nvPr/>
        </p:nvSpPr>
        <p:spPr>
          <a:xfrm>
            <a:off x="2476195" y="3000146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SECTIONS 26–31, CHAPTER IV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2476195" y="3238805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Payment of Bonus — retained</a:t>
            </a:r>
            <a:endParaRPr lang="en-US" sz="2400" dirty="0"/>
          </a:p>
        </p:txBody>
      </p:sp>
      <p:sp>
        <p:nvSpPr>
          <p:cNvPr id="21" name="Text 13"/>
          <p:cNvSpPr txBox="1"/>
          <p:nvPr/>
        </p:nvSpPr>
        <p:spPr>
          <a:xfrm>
            <a:off x="2476195" y="3810305"/>
            <a:ext cx="6096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8.33%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maximum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retained. Eligibility &amp; calculation ceilings to be prescribed by rules; the wage base is now the new Section 2(y) wages.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2619756" y="5257800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 base rises for allowance-heavy structures.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9525305" y="3000146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3300" dirty="0"/>
          </a:p>
        </p:txBody>
      </p:sp>
      <p:sp>
        <p:nvSpPr>
          <p:cNvPr id="24" name="Text 16"/>
          <p:cNvSpPr txBox="1"/>
          <p:nvPr/>
        </p:nvSpPr>
        <p:spPr>
          <a:xfrm>
            <a:off x="10477195" y="3000146"/>
            <a:ext cx="6286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14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0477195" y="3238805"/>
            <a:ext cx="6286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Overtime at ≥ 2× normal wage</a:t>
            </a:r>
            <a:endParaRPr lang="en-US" sz="2400" dirty="0"/>
          </a:p>
        </p:txBody>
      </p:sp>
      <p:sp>
        <p:nvSpPr>
          <p:cNvPr id="26" name="Text 18"/>
          <p:cNvSpPr txBox="1"/>
          <p:nvPr/>
        </p:nvSpPr>
        <p:spPr>
          <a:xfrm>
            <a:off x="10477195" y="3810305"/>
            <a:ext cx="6286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hour beyond the normal daily/weekly limit is compensated at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less than twice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ordinary rate — read with the OSH Code's 8-hour day / 48-hour week cap.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10620756" y="5257800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 is part of wages for the 50% add-back test.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524305" y="6334049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07</a:t>
            </a:r>
            <a:endParaRPr lang="en-US" sz="3300" dirty="0"/>
          </a:p>
        </p:txBody>
      </p:sp>
      <p:sp>
        <p:nvSpPr>
          <p:cNvPr id="29" name="Text 21"/>
          <p:cNvSpPr txBox="1"/>
          <p:nvPr/>
        </p:nvSpPr>
        <p:spPr>
          <a:xfrm>
            <a:off x="2476195" y="6334049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51 · CHAPTER VII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2476195" y="6572707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Inspector-cum-Facilitator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2476195" y="7144207"/>
            <a:ext cx="6096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old Inspector role is replaced by a facilitator with advisory duties. Inspections are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web-based and randomised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reducing the older "inspector-raj" discretion.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2619756" y="8591702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Compliance-first, guidance-oriented enforcement.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9525305" y="6334049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08</a:t>
            </a:r>
            <a:endParaRPr lang="en-US" sz="3300" dirty="0"/>
          </a:p>
        </p:txBody>
      </p:sp>
      <p:sp>
        <p:nvSpPr>
          <p:cNvPr id="34" name="Text 26"/>
          <p:cNvSpPr txBox="1"/>
          <p:nvPr/>
        </p:nvSpPr>
        <p:spPr>
          <a:xfrm>
            <a:off x="10477195" y="6334049"/>
            <a:ext cx="6286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56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477195" y="6572707"/>
            <a:ext cx="6286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Compounding of offences</a:t>
            </a:r>
            <a:endParaRPr lang="en-US" sz="2400" dirty="0"/>
          </a:p>
        </p:txBody>
      </p:sp>
      <p:sp>
        <p:nvSpPr>
          <p:cNvPr id="36" name="Text 28"/>
          <p:cNvSpPr txBox="1"/>
          <p:nvPr/>
        </p:nvSpPr>
        <p:spPr>
          <a:xfrm>
            <a:off x="10477195" y="7144207"/>
            <a:ext cx="6286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First-time, non-imprisonable offences may be compounded on payment of up to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 of the maximum fine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Repeat offences within 5 years are not compoundable.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10620756" y="8591702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prosecutions; faster settlements.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143000" y="9667951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The Code on Wages, 2019 (Act 29 of 2019) · PIB Backgrounder PRID 2192524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ON WAGES · MAJOR CHANGES 2/2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af3b0884c94f655e5366e496a60d645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857500"/>
            <a:ext cx="16068751" cy="15435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43000" y="2857500"/>
            <a:ext cx="57607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13144500" y="3143707"/>
            <a:ext cx="3810305" cy="952805"/>
          </a:xfrm>
          <a:prstGeom prst="roundRect">
            <a:avLst>
              <a:gd name="adj" fmla="val 2015"/>
            </a:avLst>
          </a:prstGeom>
          <a:solidFill>
            <a:srgbClr val="FB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143000" y="4524451"/>
            <a:ext cx="16068751" cy="15435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143000" y="4524451"/>
            <a:ext cx="57607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3144500" y="4809744"/>
            <a:ext cx="3810305" cy="952805"/>
          </a:xfrm>
          <a:prstGeom prst="roundRect">
            <a:avLst>
              <a:gd name="adj" fmla="val 2015"/>
            </a:avLst>
          </a:prstGeom>
          <a:solidFill>
            <a:srgbClr val="FB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143000" y="6191402"/>
            <a:ext cx="16068751" cy="15435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143000" y="6191402"/>
            <a:ext cx="57607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3144500" y="6476695"/>
            <a:ext cx="3810305" cy="952805"/>
          </a:xfrm>
          <a:prstGeom prst="roundRect">
            <a:avLst>
              <a:gd name="adj" fmla="val 2015"/>
            </a:avLst>
          </a:prstGeom>
          <a:solidFill>
            <a:srgbClr val="FB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1143000" y="7858354"/>
            <a:ext cx="16068751" cy="15435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1143000" y="7858354"/>
            <a:ext cx="57607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13144500" y="8143646"/>
            <a:ext cx="3810305" cy="952805"/>
          </a:xfrm>
          <a:prstGeom prst="roundRect">
            <a:avLst>
              <a:gd name="adj" fmla="val 2015"/>
            </a:avLst>
          </a:prstGeom>
          <a:solidFill>
            <a:srgbClr val="FB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gen-dedup-38d9db64e9131c2aec57f2468bdc88e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572854"/>
            <a:ext cx="16002000" cy="91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68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PITFALLS · CODE ON WAGES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1380744"/>
            <a:ext cx="16573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Four traps CFOs and HR heads are walking into</a:t>
            </a:r>
            <a:endParaRPr lang="en-US" sz="45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2143354"/>
            <a:ext cx="1428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A5A7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All examples drawn from post-notification client scenarios · penalties as per Section 54.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429207" y="3095244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3300" dirty="0"/>
          </a:p>
        </p:txBody>
      </p:sp>
      <p:sp>
        <p:nvSpPr>
          <p:cNvPr id="20" name="Text 16"/>
          <p:cNvSpPr txBox="1"/>
          <p:nvPr/>
        </p:nvSpPr>
        <p:spPr>
          <a:xfrm>
            <a:off x="2190902" y="3000146"/>
            <a:ext cx="9525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Basic wage kept &lt; 50% of remuneration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2190902" y="3333902"/>
            <a:ext cx="10478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 IT company keeps basic at 30% and floods CTC with HRA + special allowance. From 21 Nov 2025, ₹20,000 gets added back — PF liability jumps ~67%; gratuity accrual rises ~67%.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3334695" y="3286354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· Sec. 54(1)(a)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3334695" y="3524098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Fine up to ₹50,000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13334695" y="3810305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+ 3-yr arrears &amp; interest recovery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429207" y="4762195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3300" dirty="0"/>
          </a:p>
        </p:txBody>
      </p:sp>
      <p:sp>
        <p:nvSpPr>
          <p:cNvPr id="26" name="Text 22"/>
          <p:cNvSpPr txBox="1"/>
          <p:nvPr/>
        </p:nvSpPr>
        <p:spPr>
          <a:xfrm>
            <a:off x="2190902" y="4667098"/>
            <a:ext cx="9525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Missed wage-period &amp; disbursal deadlines</a:t>
            </a:r>
            <a:endParaRPr lang="en-US" sz="1900" dirty="0"/>
          </a:p>
        </p:txBody>
      </p:sp>
      <p:sp>
        <p:nvSpPr>
          <p:cNvPr id="27" name="Text 23"/>
          <p:cNvSpPr txBox="1"/>
          <p:nvPr/>
        </p:nvSpPr>
        <p:spPr>
          <a:xfrm>
            <a:off x="2190902" y="5000854"/>
            <a:ext cx="104781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Wages paid on 15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a monthly wage-period ended 30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Section 17 requires payment by </a:t>
            </a:r>
            <a:r>
              <a:rPr lang="en-US" sz="1200" b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r>
              <a:rPr lang="en-US" sz="1000" b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</a:t>
            </a:r>
            <a:r>
              <a:rPr lang="en-US" sz="1200" b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the succeeding month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(10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≥1,000-employee units). Small delays trigger claims.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13334695" y="4953305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· Sec. 54(1)(b)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3334695" y="5191049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Fine up to ₹20,000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3334695" y="5477256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Repeat: 1 month + ₹40,000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1429207" y="6429146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3300" dirty="0"/>
          </a:p>
        </p:txBody>
      </p:sp>
      <p:sp>
        <p:nvSpPr>
          <p:cNvPr id="32" name="Text 28"/>
          <p:cNvSpPr txBox="1"/>
          <p:nvPr/>
        </p:nvSpPr>
        <p:spPr>
          <a:xfrm>
            <a:off x="2190902" y="6334049"/>
            <a:ext cx="9525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Bonus computed on old wage base</a:t>
            </a:r>
            <a:endParaRPr lang="en-US" sz="1900" dirty="0"/>
          </a:p>
        </p:txBody>
      </p:sp>
      <p:sp>
        <p:nvSpPr>
          <p:cNvPr id="33" name="Text 29"/>
          <p:cNvSpPr txBox="1"/>
          <p:nvPr/>
        </p:nvSpPr>
        <p:spPr>
          <a:xfrm>
            <a:off x="2190902" y="6667805"/>
            <a:ext cx="10478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Statutory bonus paid on ₹21,000 ceiling using pre-Code Basic + DA. Not aligned with the revised Section 2(y) base — under-payment claims by workers, plus a 3-year audit window.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13334695" y="6620256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· Sec. 54(1)(a)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3334695" y="6858000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Fine up to ₹50,000</a:t>
            </a:r>
            <a:endParaRPr lang="en-US" sz="1600" dirty="0"/>
          </a:p>
        </p:txBody>
      </p:sp>
      <p:sp>
        <p:nvSpPr>
          <p:cNvPr id="36" name="Text 32"/>
          <p:cNvSpPr txBox="1"/>
          <p:nvPr/>
        </p:nvSpPr>
        <p:spPr>
          <a:xfrm>
            <a:off x="13334695" y="7144207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Repeat: 3 months + ₹1,00,000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1429207" y="8096098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3300" dirty="0"/>
          </a:p>
        </p:txBody>
      </p:sp>
      <p:sp>
        <p:nvSpPr>
          <p:cNvPr id="38" name="Text 34"/>
          <p:cNvSpPr txBox="1"/>
          <p:nvPr/>
        </p:nvSpPr>
        <p:spPr>
          <a:xfrm>
            <a:off x="2190902" y="8001000"/>
            <a:ext cx="9525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Wage slip &amp; register not maintained electronically</a:t>
            </a:r>
            <a:endParaRPr lang="en-US" sz="1900" dirty="0"/>
          </a:p>
        </p:txBody>
      </p:sp>
      <p:sp>
        <p:nvSpPr>
          <p:cNvPr id="39" name="Text 35"/>
          <p:cNvSpPr txBox="1"/>
          <p:nvPr/>
        </p:nvSpPr>
        <p:spPr>
          <a:xfrm>
            <a:off x="2190902" y="8334756"/>
            <a:ext cx="10478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Paper-based wage registers retained "for backup". Central Rules (Rule 50) mandate electronic form. On inspection, absence of e-record = non-compliance despite substantive payment.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13334695" y="8287207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· Sec. 54(1)(c)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13334695" y="8524951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Fine up to ₹10,000</a:t>
            </a:r>
            <a:endParaRPr lang="en-US" sz="1600" dirty="0"/>
          </a:p>
        </p:txBody>
      </p:sp>
      <p:sp>
        <p:nvSpPr>
          <p:cNvPr id="42" name="Text 38"/>
          <p:cNvSpPr txBox="1"/>
          <p:nvPr/>
        </p:nvSpPr>
        <p:spPr>
          <a:xfrm>
            <a:off x="13334695" y="8810244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Continuing default = daily accrual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1143000" y="9696298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Section 54, Code on Wages 2019 · Code on Wages (Central) Rules, 2026 (notified 8 May 2026)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ON WAGES · PITFALLS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6452cb36722d5fa805e613771ce1a31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pic>
        <p:nvPicPr>
          <p:cNvPr id="3" name="Image 1" descr="gen-dedup-249db179fa6fc54706b8b2c0bbf6a854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1143000" y="2762402"/>
            <a:ext cx="7810805" cy="6286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24305" y="8191195"/>
            <a:ext cx="7067398" cy="590702"/>
          </a:xfrm>
          <a:prstGeom prst="rect">
            <a:avLst/>
          </a:prstGeom>
          <a:solidFill>
            <a:srgbClr val="C9A227">
              <a:alpha val="15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2" descr="gen-dedup-38d9db64e9131c2aec57f2468bdc88e2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43000" y="9572854"/>
            <a:ext cx="16002000" cy="91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68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SAFEGUARDS · CODE ON WAGES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1380744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six-step defence for every employer</a:t>
            </a:r>
            <a:endParaRPr lang="en-US" sz="4500" dirty="0"/>
          </a:p>
        </p:txBody>
      </p:sp>
      <p:sp>
        <p:nvSpPr>
          <p:cNvPr id="8" name="Text 3"/>
          <p:cNvSpPr txBox="1"/>
          <p:nvPr/>
        </p:nvSpPr>
        <p:spPr>
          <a:xfrm>
            <a:off x="1524305" y="3095244"/>
            <a:ext cx="7049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HIERARCHY OF CONTROLS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1524305" y="3381451"/>
            <a:ext cx="7968996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Design → Pay → Record → Audit</a:t>
            </a:r>
            <a:endParaRPr lang="en-US" sz="3300" dirty="0"/>
          </a:p>
        </p:txBody>
      </p:sp>
      <p:pic>
        <p:nvPicPr>
          <p:cNvPr id="10" name="Image 3" descr="gen-dedup-587bf74b6462f210fb4a2245c25dbfdf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1524305" y="4381805"/>
            <a:ext cx="761695" cy="192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524305" y="5591556"/>
            <a:ext cx="70481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6"/>
          <p:cNvSpPr txBox="1"/>
          <p:nvPr/>
        </p:nvSpPr>
        <p:spPr>
          <a:xfrm>
            <a:off x="1524305" y="4714646"/>
            <a:ext cx="7049110" cy="7626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·</a:t>
            </a: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salary structure so that Basic + DA + retaining allowance are naturally ≥ 50% of remuneration.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1524305" y="6191402"/>
            <a:ext cx="70481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8"/>
          <p:cNvSpPr txBox="1"/>
          <p:nvPr/>
        </p:nvSpPr>
        <p:spPr>
          <a:xfrm>
            <a:off x="1524305" y="5600700"/>
            <a:ext cx="7049110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 ·</a:t>
            </a: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7</a:t>
            </a: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10</a:t>
            </a: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the succeeding month, every month, without exception.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1524305" y="7074713"/>
            <a:ext cx="70481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 txBox="1"/>
          <p:nvPr/>
        </p:nvSpPr>
        <p:spPr>
          <a:xfrm>
            <a:off x="1524305" y="6197803"/>
            <a:ext cx="7049110" cy="7626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 ·</a:t>
            </a: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prescribed electronic format — wage register, wage slip, muster roll.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524305" y="7082942"/>
            <a:ext cx="70491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 ·</a:t>
            </a: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independent quarterly reconciliation of Codes-wages vs. payroll base.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714500" y="8363102"/>
            <a:ext cx="696498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"Prevention costs less than penalty + arrears + interest."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430207" y="2762402"/>
            <a:ext cx="7715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CHECKLIST · 6 SAFEGUARDS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9430207" y="4009644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9430207" y="3247949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9430207" y="3247949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9430207" y="5206594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9430207" y="4167835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9430207" y="4167835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9430207" y="6406286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9430207" y="5367528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9430207" y="5367528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9430207" y="7328916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9430207" y="6567221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9430207" y="6567221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9430207" y="8525866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9430207" y="7487107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/>
          <p:nvPr/>
        </p:nvSpPr>
        <p:spPr>
          <a:xfrm>
            <a:off x="9430207" y="7487107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9430207" y="8686800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0"/>
          <p:cNvSpPr/>
          <p:nvPr/>
        </p:nvSpPr>
        <p:spPr>
          <a:xfrm>
            <a:off x="9430207" y="8686800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10039198" y="3276295"/>
            <a:ext cx="417880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Run a Wage-Definition Diagnostic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039198" y="3620110"/>
            <a:ext cx="74395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every existing pay component to Sec. 2(y). Identify where excluded (a)-(i) exceeds 50%.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10039198" y="4196182"/>
            <a:ext cx="384962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Restructure with a neutral CTC</a:t>
            </a:r>
            <a:endParaRPr lang="en-US" sz="1600" dirty="0"/>
          </a:p>
        </p:txBody>
      </p:sp>
      <p:sp>
        <p:nvSpPr>
          <p:cNvPr id="40" name="Text 34"/>
          <p:cNvSpPr txBox="1"/>
          <p:nvPr/>
        </p:nvSpPr>
        <p:spPr>
          <a:xfrm>
            <a:off x="10039198" y="4539996"/>
            <a:ext cx="6753758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Rebalance basic ≥ 50% without changing net take-home; document the rationale in personnel policies.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10039198" y="5395874"/>
            <a:ext cx="272034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Refit payroll software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039198" y="5739689"/>
            <a:ext cx="68296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the "add-back" logic; PF/gratuity provisioning on the higher base — with month-end variance report.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10039198" y="6595567"/>
            <a:ext cx="376275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Publish a compliance calendar</a:t>
            </a:r>
            <a:endParaRPr lang="en-US" sz="1600" dirty="0"/>
          </a:p>
        </p:txBody>
      </p:sp>
      <p:sp>
        <p:nvSpPr>
          <p:cNvPr id="44" name="Text 38"/>
          <p:cNvSpPr txBox="1"/>
          <p:nvPr/>
        </p:nvSpPr>
        <p:spPr>
          <a:xfrm>
            <a:off x="10039198" y="6939382"/>
            <a:ext cx="70207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Wage-period-end · disbursal · statutory-return dates. Reviewed monthly by the CFO/CS.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10039198" y="7515454"/>
            <a:ext cx="300380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Electronic wage register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039198" y="7859268"/>
            <a:ext cx="71058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Migrate all records to the Shram Suvidha-compatible electronic format prescribed by Central Rules 2026.</a:t>
            </a:r>
            <a:endParaRPr lang="en-US" sz="1200" dirty="0"/>
          </a:p>
        </p:txBody>
      </p:sp>
      <p:sp>
        <p:nvSpPr>
          <p:cNvPr id="47" name="Text 41"/>
          <p:cNvSpPr txBox="1"/>
          <p:nvPr/>
        </p:nvSpPr>
        <p:spPr>
          <a:xfrm>
            <a:off x="10039198" y="8715146"/>
            <a:ext cx="353232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Quarterly independent audit</a:t>
            </a:r>
            <a:endParaRPr lang="en-US" sz="1600" dirty="0"/>
          </a:p>
        </p:txBody>
      </p:sp>
      <p:sp>
        <p:nvSpPr>
          <p:cNvPr id="48" name="Text 42"/>
          <p:cNvSpPr txBox="1"/>
          <p:nvPr/>
        </p:nvSpPr>
        <p:spPr>
          <a:xfrm>
            <a:off x="10039198" y="9058961"/>
            <a:ext cx="64008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CA-certified reconciliation of Codes-wages vs. book-payroll — with a signed compliance certificate to the board.</a:t>
            </a:r>
            <a:endParaRPr lang="en-US" sz="1200" dirty="0"/>
          </a:p>
        </p:txBody>
      </p:sp>
      <p:sp>
        <p:nvSpPr>
          <p:cNvPr id="49" name="Text 43"/>
          <p:cNvSpPr txBox="1"/>
          <p:nvPr/>
        </p:nvSpPr>
        <p:spPr>
          <a:xfrm>
            <a:off x="1143000" y="9696298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Practitioner guidance based on Sec. 2(y), 17, 21, 24, 25 of Code on Wages · Central Rules 2026 · MoLE FAQ 16 Mar 2026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ON WAGES · SAFEGUARDS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375be14941e62041ad24427fe08059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2667305"/>
            <a:ext cx="6667805" cy="2915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0" i="1" dirty="0">
                <a:solidFill>
                  <a:srgbClr val="C9A227">
                    <a:alpha val="18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IV</a:t>
            </a:r>
            <a:endParaRPr lang="en-US" sz="25500" dirty="0"/>
          </a:p>
        </p:txBody>
      </p:sp>
      <p:pic>
        <p:nvPicPr>
          <p:cNvPr id="4" name="Image 1" descr="gen-dedup-e3fdc12e66f4c942a9280406b7949b65.png"/>
          <p:cNvPicPr>
            <a:picLocks noChangeAspect="1"/>
          </p:cNvPicPr>
          <p:nvPr/>
        </p:nvPicPr>
        <p:blipFill>
          <a:blip r:embed="rId4"/>
          <a:srcRect l="-392" r="-392"/>
          <a:stretch/>
        </p:blipFill>
        <p:spPr>
          <a:xfrm>
            <a:off x="6096305" y="4238244"/>
            <a:ext cx="666598" cy="2834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53098" y="4143146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42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FOUR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096305" y="4524451"/>
            <a:ext cx="11430000" cy="1848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Industrial</a:t>
            </a:r>
            <a:endParaRPr lang="en-US" sz="6900" dirty="0"/>
          </a:p>
          <a:p>
            <a:pPr marL="0" indent="0" algn="l">
              <a:buNone/>
            </a:pPr>
            <a:r>
              <a:rPr lang="en-US" sz="69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Relations Code, 2020</a:t>
            </a:r>
            <a:endParaRPr lang="en-US" sz="6900" dirty="0"/>
          </a:p>
        </p:txBody>
      </p:sp>
      <p:sp>
        <p:nvSpPr>
          <p:cNvPr id="7" name="Text 3"/>
          <p:cNvSpPr txBox="1"/>
          <p:nvPr/>
        </p:nvSpPr>
        <p:spPr>
          <a:xfrm>
            <a:off x="6096305" y="7000646"/>
            <a:ext cx="137160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F3E9C7">
                    <a:alpha val="8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Standing Orders · Fixed-term · Trade Unions · Strikes &amp; lockouts.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9858146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93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CCC · 17 JULY 2026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7145000" y="9858146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762402"/>
            <a:ext cx="5391302" cy="1923898"/>
          </a:xfrm>
          <a:prstGeom prst="rect">
            <a:avLst/>
          </a:prstGeom>
          <a:solidFill>
            <a:srgbClr val="F5EEE8"/>
          </a:solidFill>
          <a:ln w="12700">
            <a:solidFill>
              <a:srgbClr val="D6C2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43000" y="2762402"/>
            <a:ext cx="47549" cy="1923898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1143000" y="4858207"/>
            <a:ext cx="5391302" cy="1923898"/>
          </a:xfrm>
          <a:prstGeom prst="rect">
            <a:avLst/>
          </a:prstGeom>
          <a:solidFill>
            <a:srgbClr val="F5EEE8"/>
          </a:solidFill>
          <a:ln w="12700">
            <a:solidFill>
              <a:srgbClr val="D6C2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143000" y="4858207"/>
            <a:ext cx="47549" cy="1923898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143000" y="6953098"/>
            <a:ext cx="5391302" cy="1923898"/>
          </a:xfrm>
          <a:prstGeom prst="rect">
            <a:avLst/>
          </a:prstGeom>
          <a:solidFill>
            <a:srgbClr val="F5EEE8"/>
          </a:solidFill>
          <a:ln w="12700">
            <a:solidFill>
              <a:srgbClr val="D6C2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143000" y="6953098"/>
            <a:ext cx="47549" cy="1923898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gen-dedup-1cd7943478276b64a24f7013c6eb6392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7810805" y="2762402"/>
            <a:ext cx="9334195" cy="6286500"/>
          </a:xfrm>
          <a:prstGeom prst="rect">
            <a:avLst/>
          </a:prstGeom>
        </p:spPr>
      </p:pic>
      <p:pic>
        <p:nvPicPr>
          <p:cNvPr id="10" name="Image 2" descr="gen-dedup-38d9db64e9131c2aec57f2468bdc88e2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pic>
        <p:nvPicPr>
          <p:cNvPr id="11" name="Image 3" descr="gen-dedup-8b289999a1a14187df1e42c96c389050.png"/>
          <p:cNvPicPr>
            <a:picLocks noChangeAspect="1"/>
          </p:cNvPicPr>
          <p:nvPr/>
        </p:nvPicPr>
        <p:blipFill>
          <a:blip r:embed="rId6"/>
          <a:srcRect t="-402" b="-402"/>
          <a:stretch/>
        </p:blipFill>
        <p:spPr>
          <a:xfrm>
            <a:off x="7810805" y="2762402"/>
            <a:ext cx="9334195" cy="57607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 CODE · THE THREE PILLARS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1380744"/>
            <a:ext cx="1518727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Three laws, one industrial-relations code</a:t>
            </a:r>
            <a:endParaRPr lang="en-US" sz="4500" dirty="0"/>
          </a:p>
        </p:txBody>
      </p:sp>
      <p:sp>
        <p:nvSpPr>
          <p:cNvPr id="14" name="Text 8"/>
          <p:cNvSpPr txBox="1"/>
          <p:nvPr/>
        </p:nvSpPr>
        <p:spPr>
          <a:xfrm>
            <a:off x="1429207" y="3000146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REPEALED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429207" y="3286354"/>
            <a:ext cx="495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Trade Unions Act, 1926</a:t>
            </a:r>
            <a:endParaRPr lang="en-US" sz="1900" dirty="0"/>
          </a:p>
        </p:txBody>
      </p:sp>
      <p:sp>
        <p:nvSpPr>
          <p:cNvPr id="16" name="Text 10"/>
          <p:cNvSpPr txBox="1"/>
          <p:nvPr/>
        </p:nvSpPr>
        <p:spPr>
          <a:xfrm>
            <a:off x="1429207" y="3648456"/>
            <a:ext cx="4953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and rights of trade unions.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1429207" y="5095951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REPEALED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429207" y="5381244"/>
            <a:ext cx="4953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Industrial Employment (Standing Orders) Act, 1946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1429207" y="6048756"/>
            <a:ext cx="4953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 conditions of employment.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1429207" y="7191756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REPEALED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429207" y="7477049"/>
            <a:ext cx="495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Industrial Disputes Act, 1947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1429207" y="7839151"/>
            <a:ext cx="4953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Disputes, lay-off, retrenchment, closure, tribunals.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667805" y="5572354"/>
            <a:ext cx="952805" cy="933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endParaRPr lang="en-US" sz="6000" dirty="0"/>
          </a:p>
        </p:txBody>
      </p:sp>
      <p:sp>
        <p:nvSpPr>
          <p:cNvPr id="24" name="Text 18"/>
          <p:cNvSpPr txBox="1"/>
          <p:nvPr/>
        </p:nvSpPr>
        <p:spPr>
          <a:xfrm>
            <a:off x="8191195" y="3047695"/>
            <a:ext cx="3810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41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 RELATIONS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8191195" y="3333902"/>
            <a:ext cx="8572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Code, 2020</a:t>
            </a:r>
            <a:endParaRPr lang="en-US" sz="4800" dirty="0"/>
          </a:p>
        </p:txBody>
      </p:sp>
      <p:sp>
        <p:nvSpPr>
          <p:cNvPr id="26" name="Text 20"/>
          <p:cNvSpPr txBox="1"/>
          <p:nvPr/>
        </p:nvSpPr>
        <p:spPr>
          <a:xfrm>
            <a:off x="8191195" y="4095598"/>
            <a:ext cx="8572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80" dirty="0">
                <a:solidFill>
                  <a:srgbClr val="F3E9C7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35 OF 2020 · NOTIFIED 29 SEP 2020 · IN FORCE 21 NOV 2025</a:t>
            </a:r>
            <a:endParaRPr lang="en-US" sz="1200" dirty="0"/>
          </a:p>
        </p:txBody>
      </p:sp>
      <p:pic>
        <p:nvPicPr>
          <p:cNvPr id="27" name="Image 4" descr="gen-dedup-9639bd3a10f3d57486cd7db9b8ce6e0b.png"/>
          <p:cNvPicPr>
            <a:picLocks noChangeAspect="1"/>
          </p:cNvPicPr>
          <p:nvPr/>
        </p:nvPicPr>
        <p:blipFill>
          <a:blip r:embed="rId7"/>
          <a:srcRect t="-384" b="-384"/>
          <a:stretch/>
        </p:blipFill>
        <p:spPr>
          <a:xfrm>
            <a:off x="8191195" y="4524451"/>
            <a:ext cx="952805" cy="1920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191195" y="5458968"/>
            <a:ext cx="8572500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 txBox="1"/>
          <p:nvPr/>
        </p:nvSpPr>
        <p:spPr>
          <a:xfrm>
            <a:off x="8191195" y="4858207"/>
            <a:ext cx="8572500" cy="4864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§I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Trade unions &amp; recognition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III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8191195" y="6063386"/>
            <a:ext cx="8572500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4"/>
          <p:cNvSpPr txBox="1"/>
          <p:nvPr/>
        </p:nvSpPr>
        <p:spPr>
          <a:xfrm>
            <a:off x="8191195" y="5462626"/>
            <a:ext cx="8572500" cy="4864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§II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Standing orders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IV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8191195" y="6667805"/>
            <a:ext cx="8572500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6"/>
          <p:cNvSpPr txBox="1"/>
          <p:nvPr/>
        </p:nvSpPr>
        <p:spPr>
          <a:xfrm>
            <a:off x="8191195" y="6067044"/>
            <a:ext cx="8572500" cy="4864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§III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Grievance redressal &amp; unfair labour practices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V &amp; VII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8191195" y="7273138"/>
            <a:ext cx="8572500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8"/>
          <p:cNvSpPr txBox="1"/>
          <p:nvPr/>
        </p:nvSpPr>
        <p:spPr>
          <a:xfrm>
            <a:off x="8191195" y="6672377"/>
            <a:ext cx="8572500" cy="4864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§IV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Voluntary reference of disputes to arbitration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VIII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191195" y="7877556"/>
            <a:ext cx="8572500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0"/>
          <p:cNvSpPr txBox="1"/>
          <p:nvPr/>
        </p:nvSpPr>
        <p:spPr>
          <a:xfrm>
            <a:off x="8191195" y="7276795"/>
            <a:ext cx="8572500" cy="4864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§V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Strikes &amp; lock-outs, lay-off, retrenchment, closure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IX &amp; X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8191195" y="7882128"/>
            <a:ext cx="8572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§VI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Worker Re-skilling Fund &amp; offences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XI &amp; XII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8191195" y="8477402"/>
            <a:ext cx="8572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3E9C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"Survival of the worker depends on survival of the industry."</a:t>
            </a:r>
            <a:endParaRPr lang="en-US" sz="1600" dirty="0"/>
          </a:p>
        </p:txBody>
      </p:sp>
      <p:sp>
        <p:nvSpPr>
          <p:cNvPr id="40" name="Text 33"/>
          <p:cNvSpPr txBox="1"/>
          <p:nvPr/>
        </p:nvSpPr>
        <p:spPr>
          <a:xfrm>
            <a:off x="1143000" y="9667951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The Industrial Relations Code, 2020 (Act 35 of 2020) · indiacode.nic.in · PIB PRID 2192524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 RELATIONS CODE · OVERVIEW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762402"/>
            <a:ext cx="7830007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2476195" y="5191049"/>
            <a:ext cx="6096305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9144000" y="2762402"/>
            <a:ext cx="8020202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0477195" y="5191049"/>
            <a:ext cx="6286500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143000" y="6096305"/>
            <a:ext cx="7830007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476195" y="8524951"/>
            <a:ext cx="6096305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144000" y="6096305"/>
            <a:ext cx="8020202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0477195" y="8524951"/>
            <a:ext cx="6286500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gen-dedup-38d9db64e9131c2aec57f2468bdc88e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pic>
        <p:nvPicPr>
          <p:cNvPr id="12" name="Image 2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1143000" y="2762402"/>
            <a:ext cx="47549" cy="3047695"/>
          </a:xfrm>
          <a:prstGeom prst="rect">
            <a:avLst/>
          </a:prstGeom>
        </p:spPr>
      </p:pic>
      <p:pic>
        <p:nvPicPr>
          <p:cNvPr id="13" name="Image 3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9144000" y="2762402"/>
            <a:ext cx="47549" cy="3047695"/>
          </a:xfrm>
          <a:prstGeom prst="rect">
            <a:avLst/>
          </a:prstGeom>
        </p:spPr>
      </p:pic>
      <p:pic>
        <p:nvPicPr>
          <p:cNvPr id="14" name="Image 4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1143000" y="6096305"/>
            <a:ext cx="47549" cy="3047695"/>
          </a:xfrm>
          <a:prstGeom prst="rect">
            <a:avLst/>
          </a:prstGeom>
        </p:spPr>
      </p:pic>
      <p:pic>
        <p:nvPicPr>
          <p:cNvPr id="15" name="Image 5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9144000" y="6096305"/>
            <a:ext cx="47549" cy="30476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CHANGES · PART 1 OF 2</a:t>
            </a:r>
            <a:endParaRPr lang="en-US" sz="100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1380744"/>
            <a:ext cx="16573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Flexibility, formalisation, fixed-term employment</a:t>
            </a:r>
            <a:endParaRPr lang="en-US" sz="4500" dirty="0"/>
          </a:p>
        </p:txBody>
      </p:sp>
      <p:sp>
        <p:nvSpPr>
          <p:cNvPr id="18" name="Text 10"/>
          <p:cNvSpPr txBox="1"/>
          <p:nvPr/>
        </p:nvSpPr>
        <p:spPr>
          <a:xfrm>
            <a:off x="1524305" y="3000146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3300" dirty="0"/>
          </a:p>
        </p:txBody>
      </p:sp>
      <p:sp>
        <p:nvSpPr>
          <p:cNvPr id="19" name="Text 11"/>
          <p:cNvSpPr txBox="1"/>
          <p:nvPr/>
        </p:nvSpPr>
        <p:spPr>
          <a:xfrm>
            <a:off x="2476195" y="3000146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2(o) · CHAPTER IV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2476195" y="3238805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Fixed-Term Employment (FTE)</a:t>
            </a:r>
            <a:endParaRPr lang="en-US" sz="2400" dirty="0"/>
          </a:p>
        </p:txBody>
      </p:sp>
      <p:sp>
        <p:nvSpPr>
          <p:cNvPr id="21" name="Text 13"/>
          <p:cNvSpPr txBox="1"/>
          <p:nvPr/>
        </p:nvSpPr>
        <p:spPr>
          <a:xfrm>
            <a:off x="2476195" y="3810305"/>
            <a:ext cx="6096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Direct, time-bound contract with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parity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wages, hours, statutory benefits.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Gratuity kicks in after 1 year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continuous service (vs. 5 under the old regime).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2619756" y="5257800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Curbs excessive contractualisation; adds gratuity cost.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9525305" y="3000146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3300" dirty="0"/>
          </a:p>
        </p:txBody>
      </p:sp>
      <p:sp>
        <p:nvSpPr>
          <p:cNvPr id="24" name="Text 16"/>
          <p:cNvSpPr txBox="1"/>
          <p:nvPr/>
        </p:nvSpPr>
        <p:spPr>
          <a:xfrm>
            <a:off x="10477195" y="3000146"/>
            <a:ext cx="6286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28(1) · CHAPTER IV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0477195" y="3238805"/>
            <a:ext cx="6286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Standing Orders — 100 → 300</a:t>
            </a:r>
            <a:endParaRPr lang="en-US" sz="2400" dirty="0"/>
          </a:p>
        </p:txBody>
      </p:sp>
      <p:sp>
        <p:nvSpPr>
          <p:cNvPr id="26" name="Text 18"/>
          <p:cNvSpPr txBox="1"/>
          <p:nvPr/>
        </p:nvSpPr>
        <p:spPr>
          <a:xfrm>
            <a:off x="10477195" y="3810305"/>
            <a:ext cx="6286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 Standing Orders now required only above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 workers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(was 100). Below the threshold, model Standing Orders apply — but conditions of employment must still be reduced to writing.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10620756" y="5257800"/>
            <a:ext cx="619506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Ease for mid-sized units — but zero excuse for absence of policies.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524305" y="6334049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3300" dirty="0"/>
          </a:p>
        </p:txBody>
      </p:sp>
      <p:sp>
        <p:nvSpPr>
          <p:cNvPr id="29" name="Text 21"/>
          <p:cNvSpPr txBox="1"/>
          <p:nvPr/>
        </p:nvSpPr>
        <p:spPr>
          <a:xfrm>
            <a:off x="2476195" y="6334049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SECTIONS 77–79 · CHAPTER X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2476195" y="6572707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Lay-off / Retrenchment — 300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2476195" y="7144207"/>
            <a:ext cx="6096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government approval for lay-off, retrenchment, or closure now applies only above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 workers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(was 100). Retrenchment compensation &amp; notice pay unchanged.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2619756" y="8591702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restructuring for factories in the 100-300 band.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9525305" y="6334049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3300" dirty="0"/>
          </a:p>
        </p:txBody>
      </p:sp>
      <p:sp>
        <p:nvSpPr>
          <p:cNvPr id="34" name="Text 26"/>
          <p:cNvSpPr txBox="1"/>
          <p:nvPr/>
        </p:nvSpPr>
        <p:spPr>
          <a:xfrm>
            <a:off x="10477195" y="6334049"/>
            <a:ext cx="6286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83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477195" y="6572707"/>
            <a:ext cx="6286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Worker Re-skilling Fund</a:t>
            </a:r>
            <a:endParaRPr lang="en-US" sz="2400" dirty="0"/>
          </a:p>
        </p:txBody>
      </p:sp>
      <p:sp>
        <p:nvSpPr>
          <p:cNvPr id="36" name="Text 28"/>
          <p:cNvSpPr txBox="1"/>
          <p:nvPr/>
        </p:nvSpPr>
        <p:spPr>
          <a:xfrm>
            <a:off x="10477195" y="7144207"/>
            <a:ext cx="6286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Employer must contribute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days' wages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every retrenched worker to a dedicated fund. Credited to the worker's account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within 45 days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retrenchment — additional to statutory compensation.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10620756" y="8591702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Genuinely new — bake this into retrenchment cost estimation.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143000" y="9667951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Industrial Relations Code 2020 · PIB Backgrounder PRID 2192524 · MoLE FAQ 16 Mar 2026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 CODE · MAJOR CHANGES 1/2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762402"/>
            <a:ext cx="7830007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2476195" y="5191049"/>
            <a:ext cx="6096305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9144000" y="2762402"/>
            <a:ext cx="8020202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0477195" y="5191049"/>
            <a:ext cx="6286500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143000" y="6096305"/>
            <a:ext cx="7830007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476195" y="8524951"/>
            <a:ext cx="6096305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144000" y="6096305"/>
            <a:ext cx="8020202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0477195" y="8524951"/>
            <a:ext cx="6286500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gen-dedup-38d9db64e9131c2aec57f2468bdc88e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pic>
        <p:nvPicPr>
          <p:cNvPr id="12" name="Image 2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1143000" y="2762402"/>
            <a:ext cx="47549" cy="3047695"/>
          </a:xfrm>
          <a:prstGeom prst="rect">
            <a:avLst/>
          </a:prstGeom>
        </p:spPr>
      </p:pic>
      <p:pic>
        <p:nvPicPr>
          <p:cNvPr id="13" name="Image 3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9144000" y="2762402"/>
            <a:ext cx="47549" cy="3047695"/>
          </a:xfrm>
          <a:prstGeom prst="rect">
            <a:avLst/>
          </a:prstGeom>
        </p:spPr>
      </p:pic>
      <p:pic>
        <p:nvPicPr>
          <p:cNvPr id="14" name="Image 4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1143000" y="6096305"/>
            <a:ext cx="47549" cy="3047695"/>
          </a:xfrm>
          <a:prstGeom prst="rect">
            <a:avLst/>
          </a:prstGeom>
        </p:spPr>
      </p:pic>
      <p:pic>
        <p:nvPicPr>
          <p:cNvPr id="15" name="Image 5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9144000" y="6096305"/>
            <a:ext cx="47549" cy="30476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CHANGES · PART 2 OF 2</a:t>
            </a:r>
            <a:endParaRPr lang="en-US" sz="100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1380744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Unions, disputes &amp; the 14-day notice</a:t>
            </a:r>
            <a:endParaRPr lang="en-US" sz="4500" dirty="0"/>
          </a:p>
        </p:txBody>
      </p:sp>
      <p:sp>
        <p:nvSpPr>
          <p:cNvPr id="18" name="Text 10"/>
          <p:cNvSpPr txBox="1"/>
          <p:nvPr/>
        </p:nvSpPr>
        <p:spPr>
          <a:xfrm>
            <a:off x="1524305" y="3000146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3300" dirty="0"/>
          </a:p>
        </p:txBody>
      </p:sp>
      <p:sp>
        <p:nvSpPr>
          <p:cNvPr id="19" name="Text 11"/>
          <p:cNvSpPr txBox="1"/>
          <p:nvPr/>
        </p:nvSpPr>
        <p:spPr>
          <a:xfrm>
            <a:off x="2476195" y="3000146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14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2476195" y="3238805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Sole Negotiating Union — 51%</a:t>
            </a:r>
            <a:endParaRPr lang="en-US" sz="2400" dirty="0"/>
          </a:p>
        </p:txBody>
      </p:sp>
      <p:sp>
        <p:nvSpPr>
          <p:cNvPr id="21" name="Text 13"/>
          <p:cNvSpPr txBox="1"/>
          <p:nvPr/>
        </p:nvSpPr>
        <p:spPr>
          <a:xfrm>
            <a:off x="2476195" y="3810305"/>
            <a:ext cx="6096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union with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51%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membership is recognised as the sole Negotiating Union. Otherwise a Negotiating Council is constituted from unions with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20%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each.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2619756" y="5257800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counterparty for collective bargaining.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9525305" y="3000146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3300" dirty="0"/>
          </a:p>
        </p:txBody>
      </p:sp>
      <p:sp>
        <p:nvSpPr>
          <p:cNvPr id="24" name="Text 16"/>
          <p:cNvSpPr txBox="1"/>
          <p:nvPr/>
        </p:nvSpPr>
        <p:spPr>
          <a:xfrm>
            <a:off x="10477195" y="3000146"/>
            <a:ext cx="6286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62 · UNIVERSAL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0477195" y="3238805"/>
            <a:ext cx="6286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14-day strike / lockout notice</a:t>
            </a:r>
            <a:endParaRPr lang="en-US" sz="2400" dirty="0"/>
          </a:p>
        </p:txBody>
      </p:sp>
      <p:sp>
        <p:nvSpPr>
          <p:cNvPr id="26" name="Text 18"/>
          <p:cNvSpPr txBox="1"/>
          <p:nvPr/>
        </p:nvSpPr>
        <p:spPr>
          <a:xfrm>
            <a:off x="10477195" y="3810305"/>
            <a:ext cx="6286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14-day prior notice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extended to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industrial establishments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not just public utilities as under the old ID Act. Definition of "strike" now includes </a:t>
            </a:r>
            <a:r>
              <a:rPr lang="en-US" sz="1300" i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 casual leave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10620756" y="5257800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Flash strikes now unlawful; time to conciliate is guaranteed.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524305" y="6334049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07</a:t>
            </a:r>
            <a:endParaRPr lang="en-US" sz="3300" dirty="0"/>
          </a:p>
        </p:txBody>
      </p:sp>
      <p:sp>
        <p:nvSpPr>
          <p:cNvPr id="29" name="Text 21"/>
          <p:cNvSpPr txBox="1"/>
          <p:nvPr/>
        </p:nvSpPr>
        <p:spPr>
          <a:xfrm>
            <a:off x="2476195" y="6334049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44 · CHAPTER VI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2476195" y="6572707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Grievance Redressal Committee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2476195" y="7144207"/>
            <a:ext cx="6096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in units with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20 workers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Equal employer-worker representation, with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proportionate representation of women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First point of contact before conciliation.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2619756" y="8591702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Institutionalised internal escalation ladder.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9525305" y="6334049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08</a:t>
            </a:r>
            <a:endParaRPr lang="en-US" sz="3300" dirty="0"/>
          </a:p>
        </p:txBody>
      </p:sp>
      <p:sp>
        <p:nvSpPr>
          <p:cNvPr id="34" name="Text 26"/>
          <p:cNvSpPr txBox="1"/>
          <p:nvPr/>
        </p:nvSpPr>
        <p:spPr>
          <a:xfrm>
            <a:off x="10477195" y="6334049"/>
            <a:ext cx="6286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44 &amp; 53 · TRIBUNALS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477195" y="6572707"/>
            <a:ext cx="6286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Two-member Industrial Tribunal</a:t>
            </a:r>
            <a:endParaRPr lang="en-US" sz="2400" dirty="0"/>
          </a:p>
        </p:txBody>
      </p:sp>
      <p:sp>
        <p:nvSpPr>
          <p:cNvPr id="36" name="Text 28"/>
          <p:cNvSpPr txBox="1"/>
          <p:nvPr/>
        </p:nvSpPr>
        <p:spPr>
          <a:xfrm>
            <a:off x="10477195" y="7144207"/>
            <a:ext cx="6286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Judicial + administrative member benches replace single-member tribunals. Parties may approach the Tribunal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directly after 90 days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failed conciliation — cutting avoidable delay.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10620756" y="8591702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Predictable, faster adjudication.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143000" y="9667951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Industrial Relations Code 2020 · PIB Backgrounder PRID 2192524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 CODE · MAJOR CHANGES 2/2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pic>
        <p:nvPicPr>
          <p:cNvPr id="3" name="Image 1" descr="gen-dedup-832f1e2452223257f1559145b78de0a4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9124798" y="4095598"/>
            <a:ext cx="38405" cy="571500"/>
          </a:xfrm>
          <a:prstGeom prst="rect">
            <a:avLst/>
          </a:prstGeom>
        </p:spPr>
      </p:pic>
      <p:pic>
        <p:nvPicPr>
          <p:cNvPr id="4" name="Image 2" descr="gen-dedup-e408dcc51097c88b5872082e84100ac8.png"/>
          <p:cNvPicPr>
            <a:picLocks noChangeAspect="1"/>
          </p:cNvPicPr>
          <p:nvPr/>
        </p:nvPicPr>
        <p:blipFill>
          <a:blip r:embed="rId5"/>
          <a:srcRect t="-399" b="-399"/>
          <a:stretch/>
        </p:blipFill>
        <p:spPr>
          <a:xfrm>
            <a:off x="2667305" y="4667098"/>
            <a:ext cx="12954305" cy="38405"/>
          </a:xfrm>
          <a:prstGeom prst="rect">
            <a:avLst/>
          </a:prstGeom>
        </p:spPr>
      </p:pic>
      <p:pic>
        <p:nvPicPr>
          <p:cNvPr id="5" name="Image 3" descr="gen-dedup-832f1e2452223257f1559145b78de0a4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2667305" y="4667098"/>
            <a:ext cx="38405" cy="571500"/>
          </a:xfrm>
          <a:prstGeom prst="rect">
            <a:avLst/>
          </a:prstGeom>
        </p:spPr>
      </p:pic>
      <p:pic>
        <p:nvPicPr>
          <p:cNvPr id="6" name="Image 4" descr="gen-dedup-832f1e2452223257f1559145b78de0a4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6953098" y="4667098"/>
            <a:ext cx="38405" cy="571500"/>
          </a:xfrm>
          <a:prstGeom prst="rect">
            <a:avLst/>
          </a:prstGeom>
        </p:spPr>
      </p:pic>
      <p:pic>
        <p:nvPicPr>
          <p:cNvPr id="7" name="Image 5" descr="gen-dedup-832f1e2452223257f1559145b78de0a4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11239805" y="4667098"/>
            <a:ext cx="38405" cy="571500"/>
          </a:xfrm>
          <a:prstGeom prst="rect">
            <a:avLst/>
          </a:prstGeom>
        </p:spPr>
      </p:pic>
      <p:pic>
        <p:nvPicPr>
          <p:cNvPr id="8" name="Image 6" descr="gen-dedup-832f1e2452223257f1559145b78de0a4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15583205" y="4667098"/>
            <a:ext cx="38405" cy="571500"/>
          </a:xfrm>
          <a:prstGeom prst="rect">
            <a:avLst/>
          </a:prstGeom>
        </p:spPr>
      </p:pic>
      <p:sp>
        <p:nvSpPr>
          <p:cNvPr id="9" name="Shape 0"/>
          <p:cNvSpPr/>
          <p:nvPr/>
        </p:nvSpPr>
        <p:spPr>
          <a:xfrm>
            <a:off x="1238098" y="5333695"/>
            <a:ext cx="2876702" cy="3877056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1"/>
          <p:cNvSpPr/>
          <p:nvPr/>
        </p:nvSpPr>
        <p:spPr>
          <a:xfrm>
            <a:off x="1238098" y="5333695"/>
            <a:ext cx="2876702" cy="57607"/>
          </a:xfrm>
          <a:prstGeom prst="rect">
            <a:avLst/>
          </a:prstGeom>
          <a:solidFill>
            <a:srgbClr val="7A8FA8"/>
          </a:solidFill>
          <a:ln w="12700">
            <a:solidFill>
              <a:srgbClr val="7A8F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2"/>
          <p:cNvSpPr/>
          <p:nvPr/>
        </p:nvSpPr>
        <p:spPr>
          <a:xfrm>
            <a:off x="5524805" y="5333695"/>
            <a:ext cx="2876702" cy="3877056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3"/>
          <p:cNvSpPr/>
          <p:nvPr/>
        </p:nvSpPr>
        <p:spPr>
          <a:xfrm>
            <a:off x="5524805" y="5333695"/>
            <a:ext cx="2876702" cy="57607"/>
          </a:xfrm>
          <a:prstGeom prst="rect">
            <a:avLst/>
          </a:prstGeom>
          <a:solidFill>
            <a:srgbClr val="D4B04A"/>
          </a:solidFill>
          <a:ln w="12700">
            <a:solidFill>
              <a:srgbClr val="D4B0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4"/>
          <p:cNvSpPr/>
          <p:nvPr/>
        </p:nvSpPr>
        <p:spPr>
          <a:xfrm>
            <a:off x="9810598" y="5333695"/>
            <a:ext cx="2876702" cy="3877056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5"/>
          <p:cNvSpPr/>
          <p:nvPr/>
        </p:nvSpPr>
        <p:spPr>
          <a:xfrm>
            <a:off x="9810598" y="5333695"/>
            <a:ext cx="2876702" cy="57607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7" descr="gen-dedup-9fd1c35ecf672d238f02d30f5228131c.png"/>
          <p:cNvPicPr>
            <a:picLocks noChangeAspect="1"/>
          </p:cNvPicPr>
          <p:nvPr/>
        </p:nvPicPr>
        <p:blipFill>
          <a:blip r:embed="rId6"/>
          <a:srcRect t="-2" b="-2"/>
          <a:stretch/>
        </p:blipFill>
        <p:spPr>
          <a:xfrm>
            <a:off x="14192402" y="5333695"/>
            <a:ext cx="2876702" cy="3877056"/>
          </a:xfrm>
          <a:prstGeom prst="rect">
            <a:avLst/>
          </a:prstGeom>
        </p:spPr>
      </p:pic>
      <p:pic>
        <p:nvPicPr>
          <p:cNvPr id="16" name="Image 8" descr="gen-dedup-38d9db64e9131c2aec57f2468bdc88e2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pic>
        <p:nvPicPr>
          <p:cNvPr id="17" name="Image 9" descr="gen-dedup-8a60e5b68ad7702592da0045bad74bf0.png"/>
          <p:cNvPicPr>
            <a:picLocks noChangeAspect="1"/>
          </p:cNvPicPr>
          <p:nvPr/>
        </p:nvPicPr>
        <p:blipFill>
          <a:blip r:embed="rId8"/>
          <a:srcRect l="-4" r="-4"/>
          <a:stretch/>
        </p:blipFill>
        <p:spPr>
          <a:xfrm>
            <a:off x="7239305" y="2905049"/>
            <a:ext cx="3810305" cy="1143000"/>
          </a:xfrm>
          <a:prstGeom prst="rect">
            <a:avLst/>
          </a:prstGeom>
        </p:spPr>
      </p:pic>
      <p:sp>
        <p:nvSpPr>
          <p:cNvPr id="18" name="Text 6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"HOW MANY WORKERS DO YOU HAVE?"</a:t>
            </a:r>
            <a:endParaRPr lang="en-US" sz="1000" dirty="0"/>
          </a:p>
        </p:txBody>
      </p:sp>
      <p:sp>
        <p:nvSpPr>
          <p:cNvPr id="19" name="Text 7"/>
          <p:cNvSpPr txBox="1"/>
          <p:nvPr/>
        </p:nvSpPr>
        <p:spPr>
          <a:xfrm>
            <a:off x="1143000" y="1380744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worker-headcount decision tree</a:t>
            </a:r>
            <a:endParaRPr lang="en-US" sz="4500" dirty="0"/>
          </a:p>
        </p:txBody>
      </p:sp>
      <p:sp>
        <p:nvSpPr>
          <p:cNvPr id="20" name="Text 8"/>
          <p:cNvSpPr txBox="1"/>
          <p:nvPr/>
        </p:nvSpPr>
        <p:spPr>
          <a:xfrm>
            <a:off x="1143000" y="2143354"/>
            <a:ext cx="149733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A5A7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Under the IR Code, worker count is the single most important compliance number — each threshold triggers a distinct duty.</a:t>
            </a:r>
            <a:endParaRPr lang="en-US" sz="1600" dirty="0"/>
          </a:p>
        </p:txBody>
      </p:sp>
      <p:sp>
        <p:nvSpPr>
          <p:cNvPr id="21" name="Text 9"/>
          <p:cNvSpPr txBox="1"/>
          <p:nvPr/>
        </p:nvSpPr>
        <p:spPr>
          <a:xfrm>
            <a:off x="7429500" y="3143707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7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</a:t>
            </a:r>
            <a:endParaRPr lang="en-US" sz="900" dirty="0"/>
          </a:p>
        </p:txBody>
      </p:sp>
      <p:sp>
        <p:nvSpPr>
          <p:cNvPr id="22" name="Text 10"/>
          <p:cNvSpPr txBox="1"/>
          <p:nvPr/>
        </p:nvSpPr>
        <p:spPr>
          <a:xfrm>
            <a:off x="7429500" y="3409798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Worker headcount in industrial establishment?</a:t>
            </a:r>
            <a:endParaRPr lang="en-US" sz="1900" dirty="0"/>
          </a:p>
        </p:txBody>
      </p:sp>
      <p:sp>
        <p:nvSpPr>
          <p:cNvPr id="23" name="Text 11"/>
          <p:cNvSpPr txBox="1"/>
          <p:nvPr/>
        </p:nvSpPr>
        <p:spPr>
          <a:xfrm>
            <a:off x="1429207" y="5572354"/>
            <a:ext cx="2477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1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HEADCOUNT</a:t>
            </a:r>
            <a:endParaRPr lang="en-US" sz="900" dirty="0"/>
          </a:p>
        </p:txBody>
      </p:sp>
      <p:sp>
        <p:nvSpPr>
          <p:cNvPr id="24" name="Text 12"/>
          <p:cNvSpPr txBox="1"/>
          <p:nvPr/>
        </p:nvSpPr>
        <p:spPr>
          <a:xfrm>
            <a:off x="1429207" y="5857646"/>
            <a:ext cx="24771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&lt; 20</a:t>
            </a:r>
            <a:endParaRPr lang="en-US" sz="3600" dirty="0"/>
          </a:p>
        </p:txBody>
      </p:sp>
      <p:pic>
        <p:nvPicPr>
          <p:cNvPr id="25" name="Image 10" descr="gen-dedup-d2d3812f68184953c212d3b6c2ca6c76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1429207" y="6524244"/>
            <a:ext cx="571500" cy="19202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1429207" y="6762902"/>
            <a:ext cx="2477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under OSH Code required at ≥ 10 workers.</a:t>
            </a:r>
            <a:endParaRPr lang="en-US" sz="1200" dirty="0"/>
          </a:p>
        </p:txBody>
      </p:sp>
      <p:sp>
        <p:nvSpPr>
          <p:cNvPr id="27" name="Text 14"/>
          <p:cNvSpPr txBox="1"/>
          <p:nvPr/>
        </p:nvSpPr>
        <p:spPr>
          <a:xfrm>
            <a:off x="1429207" y="7334402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Wage &amp; SS Codes still apply.</a:t>
            </a:r>
            <a:endParaRPr lang="en-US" sz="1200" dirty="0"/>
          </a:p>
        </p:txBody>
      </p:sp>
      <p:sp>
        <p:nvSpPr>
          <p:cNvPr id="28" name="Text 15"/>
          <p:cNvSpPr txBox="1"/>
          <p:nvPr/>
        </p:nvSpPr>
        <p:spPr>
          <a:xfrm>
            <a:off x="1429207" y="7677302"/>
            <a:ext cx="24771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formal Grievance Committee, Standing Orders or govt-approval formalities.</a:t>
            </a:r>
            <a:endParaRPr lang="en-US" sz="1200" dirty="0"/>
          </a:p>
        </p:txBody>
      </p:sp>
      <p:sp>
        <p:nvSpPr>
          <p:cNvPr id="29" name="Text 16"/>
          <p:cNvSpPr txBox="1"/>
          <p:nvPr/>
        </p:nvSpPr>
        <p:spPr>
          <a:xfrm>
            <a:off x="5715000" y="5572354"/>
            <a:ext cx="2477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1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HEADCOUNT</a:t>
            </a:r>
            <a:endParaRPr lang="en-US" sz="900" dirty="0"/>
          </a:p>
        </p:txBody>
      </p:sp>
      <p:sp>
        <p:nvSpPr>
          <p:cNvPr id="30" name="Text 17"/>
          <p:cNvSpPr txBox="1"/>
          <p:nvPr/>
        </p:nvSpPr>
        <p:spPr>
          <a:xfrm>
            <a:off x="5715000" y="5857646"/>
            <a:ext cx="24771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20 – 99</a:t>
            </a:r>
            <a:endParaRPr lang="en-US" sz="3600" dirty="0"/>
          </a:p>
        </p:txBody>
      </p:sp>
      <p:pic>
        <p:nvPicPr>
          <p:cNvPr id="31" name="Image 11" descr="gen-dedup-d2d3812f68184953c212d3b6c2ca6c76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5715000" y="6524244"/>
            <a:ext cx="571500" cy="19202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5715000" y="6762902"/>
            <a:ext cx="2477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Grievance Redressal Committee</a:t>
            </a: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mandatory (Sec. 4).</a:t>
            </a:r>
            <a:endParaRPr lang="en-US" sz="1200" dirty="0"/>
          </a:p>
        </p:txBody>
      </p:sp>
      <p:sp>
        <p:nvSpPr>
          <p:cNvPr id="33" name="Text 19"/>
          <p:cNvSpPr txBox="1"/>
          <p:nvPr/>
        </p:nvSpPr>
        <p:spPr>
          <a:xfrm>
            <a:off x="5715000" y="7334402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Committee at ≥ 100.</a:t>
            </a:r>
            <a:endParaRPr lang="en-US" sz="1200" dirty="0"/>
          </a:p>
        </p:txBody>
      </p:sp>
      <p:sp>
        <p:nvSpPr>
          <p:cNvPr id="34" name="Text 20"/>
          <p:cNvSpPr txBox="1"/>
          <p:nvPr/>
        </p:nvSpPr>
        <p:spPr>
          <a:xfrm>
            <a:off x="5715000" y="7677302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Standing Orders apply.</a:t>
            </a:r>
            <a:endParaRPr lang="en-US" sz="1200" dirty="0"/>
          </a:p>
        </p:txBody>
      </p:sp>
      <p:sp>
        <p:nvSpPr>
          <p:cNvPr id="35" name="Text 21"/>
          <p:cNvSpPr txBox="1"/>
          <p:nvPr/>
        </p:nvSpPr>
        <p:spPr>
          <a:xfrm>
            <a:off x="10001707" y="5572354"/>
            <a:ext cx="2477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1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HEADCOUNT</a:t>
            </a:r>
            <a:endParaRPr lang="en-US" sz="900" dirty="0"/>
          </a:p>
        </p:txBody>
      </p:sp>
      <p:sp>
        <p:nvSpPr>
          <p:cNvPr id="36" name="Text 22"/>
          <p:cNvSpPr txBox="1"/>
          <p:nvPr/>
        </p:nvSpPr>
        <p:spPr>
          <a:xfrm>
            <a:off x="10001707" y="5857646"/>
            <a:ext cx="282458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100 – 299</a:t>
            </a:r>
            <a:endParaRPr lang="en-US" sz="3600" dirty="0"/>
          </a:p>
        </p:txBody>
      </p:sp>
      <p:pic>
        <p:nvPicPr>
          <p:cNvPr id="37" name="Image 12" descr="gen-dedup-d2d3812f68184953c212d3b6c2ca6c76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10001707" y="6524244"/>
            <a:ext cx="571500" cy="19202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10001707" y="6762902"/>
            <a:ext cx="2477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Committee</a:t>
            </a: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mandatory (Sec. 3).</a:t>
            </a:r>
            <a:endParaRPr lang="en-US" sz="1200" dirty="0"/>
          </a:p>
        </p:txBody>
      </p:sp>
      <p:sp>
        <p:nvSpPr>
          <p:cNvPr id="39" name="Text 24"/>
          <p:cNvSpPr txBox="1"/>
          <p:nvPr/>
        </p:nvSpPr>
        <p:spPr>
          <a:xfrm>
            <a:off x="10001707" y="7334402"/>
            <a:ext cx="2477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14-day strike/lockout notice mandatory.</a:t>
            </a:r>
            <a:endParaRPr lang="en-US" sz="1200" dirty="0"/>
          </a:p>
        </p:txBody>
      </p:sp>
      <p:sp>
        <p:nvSpPr>
          <p:cNvPr id="40" name="Text 25"/>
          <p:cNvSpPr txBox="1"/>
          <p:nvPr/>
        </p:nvSpPr>
        <p:spPr>
          <a:xfrm>
            <a:off x="10001707" y="7905902"/>
            <a:ext cx="2477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Retrenchment / lay-off: </a:t>
            </a:r>
            <a:r>
              <a:rPr lang="en-US" sz="1200" b="1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govt approval</a:t>
            </a:r>
            <a:r>
              <a:rPr lang="en-US" sz="12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new relaxation.</a:t>
            </a:r>
            <a:endParaRPr lang="en-US" sz="1200" dirty="0"/>
          </a:p>
        </p:txBody>
      </p:sp>
      <p:sp>
        <p:nvSpPr>
          <p:cNvPr id="41" name="Text 26"/>
          <p:cNvSpPr txBox="1"/>
          <p:nvPr/>
        </p:nvSpPr>
        <p:spPr>
          <a:xfrm>
            <a:off x="14382598" y="5572354"/>
            <a:ext cx="2477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15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HEADCOUNT</a:t>
            </a:r>
            <a:endParaRPr lang="en-US" sz="900" dirty="0"/>
          </a:p>
        </p:txBody>
      </p:sp>
      <p:sp>
        <p:nvSpPr>
          <p:cNvPr id="42" name="Text 27"/>
          <p:cNvSpPr txBox="1"/>
          <p:nvPr/>
        </p:nvSpPr>
        <p:spPr>
          <a:xfrm>
            <a:off x="14382598" y="5857646"/>
            <a:ext cx="24771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≥ 300</a:t>
            </a:r>
            <a:endParaRPr lang="en-US" sz="3600" dirty="0"/>
          </a:p>
        </p:txBody>
      </p:sp>
      <p:pic>
        <p:nvPicPr>
          <p:cNvPr id="43" name="Image 13" descr="gen-dedup-d2d3812f68184953c212d3b6c2ca6c76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14382598" y="6524244"/>
            <a:ext cx="571500" cy="19202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14382598" y="6762902"/>
            <a:ext cx="2477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 Standing Orders</a:t>
            </a: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mandatory (Sec. 28).</a:t>
            </a:r>
            <a:endParaRPr lang="en-US" sz="1200" dirty="0"/>
          </a:p>
        </p:txBody>
      </p:sp>
      <p:sp>
        <p:nvSpPr>
          <p:cNvPr id="45" name="Text 29"/>
          <p:cNvSpPr txBox="1"/>
          <p:nvPr/>
        </p:nvSpPr>
        <p:spPr>
          <a:xfrm>
            <a:off x="14382598" y="7334402"/>
            <a:ext cx="2477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govt approval</a:t>
            </a: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lay-off / retrenchment / closure (Ch. X).</a:t>
            </a:r>
            <a:endParaRPr lang="en-US" sz="1200" dirty="0"/>
          </a:p>
        </p:txBody>
      </p:sp>
      <p:sp>
        <p:nvSpPr>
          <p:cNvPr id="46" name="Text 30"/>
          <p:cNvSpPr txBox="1"/>
          <p:nvPr/>
        </p:nvSpPr>
        <p:spPr>
          <a:xfrm>
            <a:off x="14382598" y="7905902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Re-skilling Fund fully in play.</a:t>
            </a:r>
            <a:endParaRPr lang="en-US" sz="1200" dirty="0"/>
          </a:p>
        </p:txBody>
      </p:sp>
      <p:sp>
        <p:nvSpPr>
          <p:cNvPr id="47" name="Text 31"/>
          <p:cNvSpPr txBox="1"/>
          <p:nvPr/>
        </p:nvSpPr>
        <p:spPr>
          <a:xfrm>
            <a:off x="1143000" y="9572854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Sections 3, 4, 28, 77-79 &amp; 83 of Industrial Relations Code, 2020</a:t>
            </a:r>
            <a:endParaRPr lang="en-US" sz="900" dirty="0"/>
          </a:p>
        </p:txBody>
      </p:sp>
      <p:sp>
        <p:nvSpPr>
          <p:cNvPr id="48" name="Text 32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 CODE · THRESHOLD FLOWCHART</a:t>
            </a:r>
            <a:endParaRPr lang="en-US" sz="900" dirty="0"/>
          </a:p>
        </p:txBody>
      </p:sp>
      <p:sp>
        <p:nvSpPr>
          <p:cNvPr id="49" name="Text 33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af3b0884c94f655e5366e496a60d645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762402"/>
            <a:ext cx="16068751" cy="15435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43000" y="2762402"/>
            <a:ext cx="57607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13144500" y="3047695"/>
            <a:ext cx="3810305" cy="952805"/>
          </a:xfrm>
          <a:prstGeom prst="roundRect">
            <a:avLst>
              <a:gd name="adj" fmla="val 2015"/>
            </a:avLst>
          </a:prstGeom>
          <a:solidFill>
            <a:srgbClr val="FB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143000" y="4429354"/>
            <a:ext cx="16068751" cy="15435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143000" y="4429354"/>
            <a:ext cx="57607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3144500" y="4714646"/>
            <a:ext cx="3810305" cy="952805"/>
          </a:xfrm>
          <a:prstGeom prst="roundRect">
            <a:avLst>
              <a:gd name="adj" fmla="val 2015"/>
            </a:avLst>
          </a:prstGeom>
          <a:solidFill>
            <a:srgbClr val="FB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143000" y="6096305"/>
            <a:ext cx="16068751" cy="15435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143000" y="6096305"/>
            <a:ext cx="57607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3144500" y="6381598"/>
            <a:ext cx="3810305" cy="952805"/>
          </a:xfrm>
          <a:prstGeom prst="roundRect">
            <a:avLst>
              <a:gd name="adj" fmla="val 2015"/>
            </a:avLst>
          </a:prstGeom>
          <a:solidFill>
            <a:srgbClr val="FB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1143000" y="7763256"/>
            <a:ext cx="16068751" cy="15435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1143000" y="7763256"/>
            <a:ext cx="57607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13144500" y="8048549"/>
            <a:ext cx="3810305" cy="952805"/>
          </a:xfrm>
          <a:prstGeom prst="roundRect">
            <a:avLst>
              <a:gd name="adj" fmla="val 2015"/>
            </a:avLst>
          </a:prstGeom>
          <a:solidFill>
            <a:srgbClr val="FB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gen-dedup-38d9db64e9131c2aec57f2468bdc88e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572854"/>
            <a:ext cx="16002000" cy="91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68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PITFALLS · IR CODE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1380744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Where employers most often stumble</a:t>
            </a:r>
            <a:endParaRPr lang="en-US" sz="4500" dirty="0"/>
          </a:p>
        </p:txBody>
      </p:sp>
      <p:sp>
        <p:nvSpPr>
          <p:cNvPr id="18" name="Text 14"/>
          <p:cNvSpPr txBox="1"/>
          <p:nvPr/>
        </p:nvSpPr>
        <p:spPr>
          <a:xfrm>
            <a:off x="1429207" y="3000146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3300" dirty="0"/>
          </a:p>
        </p:txBody>
      </p:sp>
      <p:sp>
        <p:nvSpPr>
          <p:cNvPr id="19" name="Text 15"/>
          <p:cNvSpPr txBox="1"/>
          <p:nvPr/>
        </p:nvSpPr>
        <p:spPr>
          <a:xfrm>
            <a:off x="2190902" y="2905049"/>
            <a:ext cx="9525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Crossing 300 workers without certifying Standing Orders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2190902" y="3238805"/>
            <a:ext cx="10478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textile unit adds a second shift and headcount touches 320. HR continues under model orders — but the Code requires </a:t>
            </a:r>
            <a:r>
              <a:rPr lang="en-US" sz="1200" b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Standing Orders within 6 months of crossing 300 (Sec. 28).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3334695" y="3191256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· Sec. 86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3334695" y="3429000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Fine up to ₹1,00,000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3334695" y="3733495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Continuing default: ₹2,000 per day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429207" y="4667098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3300" dirty="0"/>
          </a:p>
        </p:txBody>
      </p:sp>
      <p:sp>
        <p:nvSpPr>
          <p:cNvPr id="25" name="Text 21"/>
          <p:cNvSpPr txBox="1"/>
          <p:nvPr/>
        </p:nvSpPr>
        <p:spPr>
          <a:xfrm>
            <a:off x="2190902" y="4572000"/>
            <a:ext cx="9525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FTE contracts denying gratuity, benefits parity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2190902" y="4905756"/>
            <a:ext cx="10478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11-month rolling contracts issued to avoid gratuity. Under the Code, gratuity accrues after </a:t>
            </a:r>
            <a:r>
              <a:rPr lang="en-US" sz="1200" b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year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and FTEs get full parity in wages, PF, ESI. "Reset the clock" doesn't work anymore.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3334695" y="4858207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3334695" y="5095951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Recovery + Sec. 86 fine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13334695" y="5381244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Gratuity + 10% interest till payment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1429207" y="6334049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3300" dirty="0"/>
          </a:p>
        </p:txBody>
      </p:sp>
      <p:sp>
        <p:nvSpPr>
          <p:cNvPr id="31" name="Text 27"/>
          <p:cNvSpPr txBox="1"/>
          <p:nvPr/>
        </p:nvSpPr>
        <p:spPr>
          <a:xfrm>
            <a:off x="2190902" y="6238951"/>
            <a:ext cx="9525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Re-skilling Fund not credited within 45 days</a:t>
            </a:r>
            <a:endParaRPr lang="en-US" sz="1900" dirty="0"/>
          </a:p>
        </p:txBody>
      </p:sp>
      <p:sp>
        <p:nvSpPr>
          <p:cNvPr id="32" name="Text 28"/>
          <p:cNvSpPr txBox="1"/>
          <p:nvPr/>
        </p:nvSpPr>
        <p:spPr>
          <a:xfrm>
            <a:off x="2190902" y="6572707"/>
            <a:ext cx="10478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After a restructuring, the finance team pays retrenchment compensation on time but skips the </a:t>
            </a:r>
            <a:r>
              <a:rPr lang="en-US" sz="1200" b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days' wages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the Re-skilling Fund (Sec. 83). 45-day window elapses — an add-on liability opens.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13334695" y="6524244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13334695" y="6762902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Recovery + interest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13334695" y="7048195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claim by each worker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1429207" y="8001000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3300" dirty="0"/>
          </a:p>
        </p:txBody>
      </p:sp>
      <p:sp>
        <p:nvSpPr>
          <p:cNvPr id="37" name="Text 33"/>
          <p:cNvSpPr txBox="1"/>
          <p:nvPr/>
        </p:nvSpPr>
        <p:spPr>
          <a:xfrm>
            <a:off x="2190902" y="7905902"/>
            <a:ext cx="102111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Ignoring the 14-day strike / lockout notice — even where not a public utility</a:t>
            </a:r>
            <a:endParaRPr lang="en-US" sz="1900" dirty="0"/>
          </a:p>
        </p:txBody>
      </p:sp>
      <p:sp>
        <p:nvSpPr>
          <p:cNvPr id="38" name="Text 34"/>
          <p:cNvSpPr txBox="1"/>
          <p:nvPr/>
        </p:nvSpPr>
        <p:spPr>
          <a:xfrm>
            <a:off x="2190902" y="8238744"/>
            <a:ext cx="10478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manufacturing plant declares a lock-out overnight in response to a wage dispute. Under Sec. 62, </a:t>
            </a:r>
            <a:r>
              <a:rPr lang="en-US" sz="1200" b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14-day prior notice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now applies to every industry. The lock-out is illegal from day one.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13334695" y="8191195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· Sec. 86(14)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13334695" y="8429854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₹50,000 – ₹1,00,000</a:t>
            </a:r>
            <a:endParaRPr lang="en-US" sz="1600" dirty="0"/>
          </a:p>
        </p:txBody>
      </p:sp>
      <p:sp>
        <p:nvSpPr>
          <p:cNvPr id="41" name="Text 37"/>
          <p:cNvSpPr txBox="1"/>
          <p:nvPr/>
        </p:nvSpPr>
        <p:spPr>
          <a:xfrm>
            <a:off x="13334695" y="8715146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1 month imprisonment, or both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1143000" y="9696298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Sections 28, 62, 83, 86 of Industrial Relations Code · MoLE FAQ 16 Mar 2026 · IR (Central) Rules 2026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 CODE · PITFALLS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6452cb36722d5fa805e613771ce1a31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pic>
        <p:nvPicPr>
          <p:cNvPr id="3" name="Image 1" descr="gen-dedup-249db179fa6fc54706b8b2c0bbf6a854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1143000" y="2762402"/>
            <a:ext cx="7810805" cy="6286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24305" y="8191195"/>
            <a:ext cx="7067398" cy="590702"/>
          </a:xfrm>
          <a:prstGeom prst="rect">
            <a:avLst/>
          </a:prstGeom>
          <a:solidFill>
            <a:srgbClr val="C9A227">
              <a:alpha val="15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2" descr="gen-dedup-38d9db64e9131c2aec57f2468bdc88e2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43000" y="9572854"/>
            <a:ext cx="16002000" cy="91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68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SAFEGUARDS · IR CODE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1380744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Head-count first, then everything else</a:t>
            </a:r>
            <a:endParaRPr lang="en-US" sz="4500" dirty="0"/>
          </a:p>
        </p:txBody>
      </p:sp>
      <p:sp>
        <p:nvSpPr>
          <p:cNvPr id="8" name="Text 3"/>
          <p:cNvSpPr txBox="1"/>
          <p:nvPr/>
        </p:nvSpPr>
        <p:spPr>
          <a:xfrm>
            <a:off x="1524305" y="3095244"/>
            <a:ext cx="7049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IR COMPLIANCE PROTOCOL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1524305" y="3381451"/>
            <a:ext cx="7049110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Count → Codify → Committee → Consult</a:t>
            </a:r>
            <a:endParaRPr lang="en-US" sz="3000" dirty="0"/>
          </a:p>
        </p:txBody>
      </p:sp>
      <p:pic>
        <p:nvPicPr>
          <p:cNvPr id="10" name="Image 3" descr="gen-dedup-587bf74b6462f210fb4a2245c25dbfdf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1524305" y="4381805"/>
            <a:ext cx="761695" cy="192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524305" y="5629046"/>
            <a:ext cx="70481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6"/>
          <p:cNvSpPr txBox="1"/>
          <p:nvPr/>
        </p:nvSpPr>
        <p:spPr>
          <a:xfrm>
            <a:off x="1524305" y="4714646"/>
            <a:ext cx="7049110" cy="7818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·</a:t>
            </a: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Publish a monthly HR MIS on running headcount vs. the 20 / 100 / 300 thresholds.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1524305" y="6553505"/>
            <a:ext cx="70481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8"/>
          <p:cNvSpPr txBox="1"/>
          <p:nvPr/>
        </p:nvSpPr>
        <p:spPr>
          <a:xfrm>
            <a:off x="1524305" y="5639105"/>
            <a:ext cx="7049110" cy="7818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 ·</a:t>
            </a: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Codify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Certify Standing Orders in advance; refresh HR policies to reflect FTE parity and gratuity from 1 year.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1524305" y="7477049"/>
            <a:ext cx="70481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 txBox="1"/>
          <p:nvPr/>
        </p:nvSpPr>
        <p:spPr>
          <a:xfrm>
            <a:off x="1524305" y="6562649"/>
            <a:ext cx="7049110" cy="7818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 ·</a:t>
            </a: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Committee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Constitute Grievance Redressal Committee (≥ 20 workers) and Works Committee (≥ 100) with women representation.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524305" y="7487107"/>
            <a:ext cx="70491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 ·</a:t>
            </a: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Every strike/lockout, retrenchment, or closure — </a:t>
            </a:r>
            <a:r>
              <a:rPr lang="en-US" sz="1500" b="1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through the 14-day / 60-day notice calendar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execution.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714500" y="8363102"/>
            <a:ext cx="6847027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"Every threshold crossed is a compliance duty triggered."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430207" y="2762402"/>
            <a:ext cx="7715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CHECKLIST · 6 SAFEGUARDS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9430207" y="4009644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9430207" y="3247949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9430207" y="3247949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9430207" y="4929530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9430207" y="4167835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9430207" y="4167835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9430207" y="5848502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9430207" y="5086807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9430207" y="5086807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9430207" y="6768389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9430207" y="6006694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9430207" y="6006694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9430207" y="7688275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9430207" y="6925666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/>
          <p:nvPr/>
        </p:nvSpPr>
        <p:spPr>
          <a:xfrm>
            <a:off x="9430207" y="6925666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9430207" y="7845552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0"/>
          <p:cNvSpPr/>
          <p:nvPr/>
        </p:nvSpPr>
        <p:spPr>
          <a:xfrm>
            <a:off x="9430207" y="7845552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10039198" y="3276295"/>
            <a:ext cx="40581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Board-level threshold dashboard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039198" y="3620110"/>
            <a:ext cx="58869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count of workers vs. 20 / 100 / 300 — reported to the CFO monthly.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10039198" y="4196182"/>
            <a:ext cx="46863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Certify Standing Orders pre-emptively</a:t>
            </a:r>
            <a:endParaRPr lang="en-US" sz="1600" dirty="0"/>
          </a:p>
        </p:txBody>
      </p:sp>
      <p:sp>
        <p:nvSpPr>
          <p:cNvPr id="40" name="Text 34"/>
          <p:cNvSpPr txBox="1"/>
          <p:nvPr/>
        </p:nvSpPr>
        <p:spPr>
          <a:xfrm>
            <a:off x="10039198" y="4539996"/>
            <a:ext cx="70683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&amp; get certification going as headcount approaches 250 — don't wait for the trigger.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10039198" y="5115154"/>
            <a:ext cx="37847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Revised FTE contract template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039198" y="5458968"/>
            <a:ext cx="73444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parity clauses · 1-year gratuity · no rolling 11-month renewals · signed appointment letter.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10039198" y="6035040"/>
            <a:ext cx="469635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Set up Grievance Redressal Committee</a:t>
            </a:r>
            <a:endParaRPr lang="en-US" sz="1600" dirty="0"/>
          </a:p>
        </p:txBody>
      </p:sp>
      <p:sp>
        <p:nvSpPr>
          <p:cNvPr id="44" name="Text 38"/>
          <p:cNvSpPr txBox="1"/>
          <p:nvPr/>
        </p:nvSpPr>
        <p:spPr>
          <a:xfrm>
            <a:off x="10039198" y="6378854"/>
            <a:ext cx="71917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Equal representation · proportionate women members · written charter · quarterly minutes.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10039198" y="6954012"/>
            <a:ext cx="3193999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Retrenchment-cost model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039198" y="7297826"/>
            <a:ext cx="77824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Compensation + notice pay + </a:t>
            </a:r>
            <a:r>
              <a:rPr lang="en-US" sz="1200" b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15-day Re-skilling Fund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credit within 45 days — pre-built calculator.</a:t>
            </a:r>
            <a:endParaRPr lang="en-US" sz="1200" dirty="0"/>
          </a:p>
        </p:txBody>
      </p:sp>
      <p:sp>
        <p:nvSpPr>
          <p:cNvPr id="47" name="Text 41"/>
          <p:cNvSpPr txBox="1"/>
          <p:nvPr/>
        </p:nvSpPr>
        <p:spPr>
          <a:xfrm>
            <a:off x="10039198" y="7873898"/>
            <a:ext cx="2516429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Strike / lockout SOP</a:t>
            </a:r>
            <a:endParaRPr lang="en-US" sz="1600" dirty="0"/>
          </a:p>
        </p:txBody>
      </p:sp>
      <p:sp>
        <p:nvSpPr>
          <p:cNvPr id="48" name="Text 42"/>
          <p:cNvSpPr txBox="1"/>
          <p:nvPr/>
        </p:nvSpPr>
        <p:spPr>
          <a:xfrm>
            <a:off x="10039198" y="8217713"/>
            <a:ext cx="68680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14-day notice format · defined escalation to conciliation · legal review pre-declaration.</a:t>
            </a:r>
            <a:endParaRPr lang="en-US" sz="1200" dirty="0"/>
          </a:p>
        </p:txBody>
      </p:sp>
      <p:sp>
        <p:nvSpPr>
          <p:cNvPr id="49" name="Text 43"/>
          <p:cNvSpPr txBox="1"/>
          <p:nvPr/>
        </p:nvSpPr>
        <p:spPr>
          <a:xfrm>
            <a:off x="1143000" y="9696298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Practitioner guidance from Sec. 4, 28, 62, 77-79, 83 of IR Code · IR (Central) Rules 2026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 CODE · SAFEGUARDS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375be14941e62041ad24427fe08059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2667305"/>
            <a:ext cx="5715000" cy="2915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0" i="1" dirty="0">
                <a:solidFill>
                  <a:srgbClr val="C9A227">
                    <a:alpha val="18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</a:t>
            </a:r>
            <a:endParaRPr lang="en-US" sz="25500" dirty="0"/>
          </a:p>
        </p:txBody>
      </p:sp>
      <p:pic>
        <p:nvPicPr>
          <p:cNvPr id="4" name="Image 1" descr="gen-dedup-e3fdc12e66f4c942a9280406b7949b65.png"/>
          <p:cNvPicPr>
            <a:picLocks noChangeAspect="1"/>
          </p:cNvPicPr>
          <p:nvPr/>
        </p:nvPicPr>
        <p:blipFill>
          <a:blip r:embed="rId4"/>
          <a:srcRect l="-392" r="-392"/>
          <a:stretch/>
        </p:blipFill>
        <p:spPr>
          <a:xfrm>
            <a:off x="6096305" y="4238244"/>
            <a:ext cx="666598" cy="2834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53098" y="4143146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42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FIVE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096305" y="4524451"/>
            <a:ext cx="11430000" cy="1848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Code on</a:t>
            </a:r>
            <a:endParaRPr lang="en-US" sz="6900" dirty="0"/>
          </a:p>
          <a:p>
            <a:pPr marL="0" indent="0" algn="l">
              <a:buNone/>
            </a:pPr>
            <a:r>
              <a:rPr lang="en-US" sz="69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Social Security, 2020</a:t>
            </a:r>
            <a:endParaRPr lang="en-US" sz="6900" dirty="0"/>
          </a:p>
        </p:txBody>
      </p:sp>
      <p:sp>
        <p:nvSpPr>
          <p:cNvPr id="7" name="Text 3"/>
          <p:cNvSpPr txBox="1"/>
          <p:nvPr/>
        </p:nvSpPr>
        <p:spPr>
          <a:xfrm>
            <a:off x="6096305" y="7000646"/>
            <a:ext cx="137160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F3E9C7">
                    <a:alpha val="8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Nine welfare laws · EPF · ESI · Gratuity · Gig &amp; Platform workers.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9858146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93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CCC · 17 JULY 2026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7145000" y="9858146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pic>
        <p:nvPicPr>
          <p:cNvPr id="3" name="Image 1" descr="gen-dedup-3948b3d48a6e710397e4baac195b4e30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8762695" y="2667305"/>
            <a:ext cx="8382305" cy="6858000"/>
          </a:xfrm>
          <a:prstGeom prst="rect">
            <a:avLst/>
          </a:prstGeom>
        </p:spPr>
      </p:pic>
      <p:pic>
        <p:nvPicPr>
          <p:cNvPr id="4" name="Image 2" descr="gen-dedup-38d9db64e9131c2aec57f2468bdc88e2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43000" y="9829800"/>
            <a:ext cx="16002000" cy="9144"/>
          </a:xfrm>
          <a:prstGeom prst="rect">
            <a:avLst/>
          </a:prstGeom>
        </p:spPr>
      </p:pic>
      <p:pic>
        <p:nvPicPr>
          <p:cNvPr id="5" name="Image 3" descr="gen-dedup-dfb9ea3bf781128f591056d6b57a71d5.png"/>
          <p:cNvPicPr>
            <a:picLocks noChangeAspect="1"/>
          </p:cNvPicPr>
          <p:nvPr/>
        </p:nvPicPr>
        <p:blipFill>
          <a:blip r:embed="rId6"/>
          <a:srcRect t="-398" b="-398"/>
          <a:stretch/>
        </p:blipFill>
        <p:spPr>
          <a:xfrm>
            <a:off x="8762695" y="2667305"/>
            <a:ext cx="8382305" cy="57607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 CODE · NINE LAWS, ONE UMBRELLA</a:t>
            </a:r>
            <a:endParaRPr lang="en-US" sz="1000" dirty="0"/>
          </a:p>
        </p:txBody>
      </p:sp>
      <p:sp>
        <p:nvSpPr>
          <p:cNvPr id="7" name="Text 1"/>
          <p:cNvSpPr txBox="1"/>
          <p:nvPr/>
        </p:nvSpPr>
        <p:spPr>
          <a:xfrm>
            <a:off x="1143000" y="1380744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universal social safety net</a:t>
            </a:r>
            <a:endParaRPr lang="en-US" sz="4500" dirty="0"/>
          </a:p>
        </p:txBody>
      </p:sp>
      <p:sp>
        <p:nvSpPr>
          <p:cNvPr id="8" name="Text 2"/>
          <p:cNvSpPr txBox="1"/>
          <p:nvPr/>
        </p:nvSpPr>
        <p:spPr>
          <a:xfrm>
            <a:off x="1143000" y="2667305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REPEALED · 9 LEGACY ACTS</a:t>
            </a:r>
            <a:endParaRPr lang="en-US" sz="1000" dirty="0"/>
          </a:p>
        </p:txBody>
      </p:sp>
      <p:sp>
        <p:nvSpPr>
          <p:cNvPr id="9" name="Shape 3"/>
          <p:cNvSpPr/>
          <p:nvPr/>
        </p:nvSpPr>
        <p:spPr>
          <a:xfrm>
            <a:off x="1143000" y="3000146"/>
            <a:ext cx="6286500" cy="371246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4"/>
          <p:cNvSpPr/>
          <p:nvPr/>
        </p:nvSpPr>
        <p:spPr>
          <a:xfrm>
            <a:off x="1143000" y="3000146"/>
            <a:ext cx="28346" cy="371246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5"/>
          <p:cNvSpPr txBox="1"/>
          <p:nvPr/>
        </p:nvSpPr>
        <p:spPr>
          <a:xfrm>
            <a:off x="1304849" y="3000146"/>
            <a:ext cx="612465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Employees' Compensation Act</a:t>
            </a:r>
            <a:r>
              <a:rPr lang="en-US" sz="11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1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1923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1143000" y="3421685"/>
            <a:ext cx="6286500" cy="371246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7"/>
          <p:cNvSpPr/>
          <p:nvPr/>
        </p:nvSpPr>
        <p:spPr>
          <a:xfrm>
            <a:off x="1143000" y="3421685"/>
            <a:ext cx="28346" cy="371246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8"/>
          <p:cNvSpPr txBox="1"/>
          <p:nvPr/>
        </p:nvSpPr>
        <p:spPr>
          <a:xfrm>
            <a:off x="1304849" y="3421685"/>
            <a:ext cx="612465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Employees' State Insurance Act</a:t>
            </a:r>
            <a:r>
              <a:rPr lang="en-US" sz="11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1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1948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1143000" y="3843223"/>
            <a:ext cx="6286500" cy="371246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0"/>
          <p:cNvSpPr/>
          <p:nvPr/>
        </p:nvSpPr>
        <p:spPr>
          <a:xfrm>
            <a:off x="1143000" y="3843223"/>
            <a:ext cx="28346" cy="371246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1"/>
          <p:cNvSpPr txBox="1"/>
          <p:nvPr/>
        </p:nvSpPr>
        <p:spPr>
          <a:xfrm>
            <a:off x="1304849" y="3843223"/>
            <a:ext cx="612465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Employees' Provident Funds &amp; MP Act</a:t>
            </a:r>
            <a:r>
              <a:rPr lang="en-US" sz="11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1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1952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1143000" y="4264762"/>
            <a:ext cx="6286500" cy="371246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3"/>
          <p:cNvSpPr/>
          <p:nvPr/>
        </p:nvSpPr>
        <p:spPr>
          <a:xfrm>
            <a:off x="1143000" y="4264762"/>
            <a:ext cx="28346" cy="371246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4"/>
          <p:cNvSpPr txBox="1"/>
          <p:nvPr/>
        </p:nvSpPr>
        <p:spPr>
          <a:xfrm>
            <a:off x="1304849" y="4264762"/>
            <a:ext cx="612465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Employment Exchanges Act</a:t>
            </a:r>
            <a:r>
              <a:rPr lang="en-US" sz="11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1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1959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1143000" y="4686300"/>
            <a:ext cx="6286500" cy="371246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1143000" y="4686300"/>
            <a:ext cx="28346" cy="371246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 txBox="1"/>
          <p:nvPr/>
        </p:nvSpPr>
        <p:spPr>
          <a:xfrm>
            <a:off x="1304849" y="4686300"/>
            <a:ext cx="612465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Maternity Benefit Act</a:t>
            </a:r>
            <a:r>
              <a:rPr lang="en-US" sz="11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1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1961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143000" y="5107838"/>
            <a:ext cx="6286500" cy="371246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1143000" y="5107838"/>
            <a:ext cx="28346" cy="371246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 txBox="1"/>
          <p:nvPr/>
        </p:nvSpPr>
        <p:spPr>
          <a:xfrm>
            <a:off x="1304849" y="5107838"/>
            <a:ext cx="612465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of Gratuity Act</a:t>
            </a:r>
            <a:r>
              <a:rPr lang="en-US" sz="11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1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1972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1143000" y="5529377"/>
            <a:ext cx="6286500" cy="371246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1143000" y="5529377"/>
            <a:ext cx="28346" cy="371246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 txBox="1"/>
          <p:nvPr/>
        </p:nvSpPr>
        <p:spPr>
          <a:xfrm>
            <a:off x="1304849" y="5529377"/>
            <a:ext cx="612465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Cine-Workers Welfare Fund Act</a:t>
            </a:r>
            <a:r>
              <a:rPr lang="en-US" sz="11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1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1981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1143000" y="5950915"/>
            <a:ext cx="6286500" cy="371246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1143000" y="5950915"/>
            <a:ext cx="28346" cy="371246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 txBox="1"/>
          <p:nvPr/>
        </p:nvSpPr>
        <p:spPr>
          <a:xfrm>
            <a:off x="1304849" y="5950915"/>
            <a:ext cx="612465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BOCW Welfare Cess Act</a:t>
            </a:r>
            <a:r>
              <a:rPr lang="en-US" sz="11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1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1996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1143000" y="6372454"/>
            <a:ext cx="6286500" cy="371246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1143000" y="6372454"/>
            <a:ext cx="28346" cy="371246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 txBox="1"/>
          <p:nvPr/>
        </p:nvSpPr>
        <p:spPr>
          <a:xfrm>
            <a:off x="1304849" y="6372454"/>
            <a:ext cx="612465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88900" rIns="139700" bIns="889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Unorganised Workers' Social Security Act</a:t>
            </a:r>
            <a:r>
              <a:rPr lang="en-US" sz="11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1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2008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7715707" y="5572354"/>
            <a:ext cx="952805" cy="933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endParaRPr lang="en-US" sz="6000" dirty="0"/>
          </a:p>
        </p:txBody>
      </p:sp>
      <p:sp>
        <p:nvSpPr>
          <p:cNvPr id="37" name="Text 31"/>
          <p:cNvSpPr txBox="1"/>
          <p:nvPr/>
        </p:nvSpPr>
        <p:spPr>
          <a:xfrm>
            <a:off x="9144000" y="2952598"/>
            <a:ext cx="3810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41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ON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9144000" y="3238805"/>
            <a:ext cx="8128102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Social Security, 2020</a:t>
            </a:r>
            <a:endParaRPr lang="en-US" sz="4600" dirty="0"/>
          </a:p>
        </p:txBody>
      </p:sp>
      <p:sp>
        <p:nvSpPr>
          <p:cNvPr id="39" name="Text 33"/>
          <p:cNvSpPr txBox="1"/>
          <p:nvPr/>
        </p:nvSpPr>
        <p:spPr>
          <a:xfrm>
            <a:off x="9144000" y="4000500"/>
            <a:ext cx="7620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80" dirty="0">
                <a:solidFill>
                  <a:srgbClr val="F3E9C7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36 OF 2020 · NOTIFIED 29 SEP 2020 · IN FORCE 21 NOV 2025</a:t>
            </a:r>
            <a:endParaRPr lang="en-US" sz="1200" dirty="0"/>
          </a:p>
        </p:txBody>
      </p:sp>
      <p:pic>
        <p:nvPicPr>
          <p:cNvPr id="40" name="Image 4" descr="gen-dedup-9639bd3a10f3d57486cd7db9b8ce6e0b.png"/>
          <p:cNvPicPr>
            <a:picLocks noChangeAspect="1"/>
          </p:cNvPicPr>
          <p:nvPr/>
        </p:nvPicPr>
        <p:blipFill>
          <a:blip r:embed="rId7"/>
          <a:srcRect t="-384" b="-384"/>
          <a:stretch/>
        </p:blipFill>
        <p:spPr>
          <a:xfrm>
            <a:off x="9144000" y="4429354"/>
            <a:ext cx="952805" cy="19202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9144000" y="5305349"/>
            <a:ext cx="7619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5"/>
          <p:cNvSpPr txBox="1"/>
          <p:nvPr/>
        </p:nvSpPr>
        <p:spPr>
          <a:xfrm>
            <a:off x="9144000" y="4762195"/>
            <a:ext cx="7620610" cy="4489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§I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Employees' Provident Fund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III</a:t>
            </a:r>
            <a:endParaRPr lang="en-US" sz="1400" dirty="0"/>
          </a:p>
        </p:txBody>
      </p:sp>
      <p:sp>
        <p:nvSpPr>
          <p:cNvPr id="43" name="Shape 36"/>
          <p:cNvSpPr/>
          <p:nvPr/>
        </p:nvSpPr>
        <p:spPr>
          <a:xfrm>
            <a:off x="9144000" y="5851246"/>
            <a:ext cx="7619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7"/>
          <p:cNvSpPr txBox="1"/>
          <p:nvPr/>
        </p:nvSpPr>
        <p:spPr>
          <a:xfrm>
            <a:off x="9144000" y="5308092"/>
            <a:ext cx="7620610" cy="4489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§II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Employees' State Insurance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IV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9144000" y="6397142"/>
            <a:ext cx="7619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39"/>
          <p:cNvSpPr txBox="1"/>
          <p:nvPr/>
        </p:nvSpPr>
        <p:spPr>
          <a:xfrm>
            <a:off x="9144000" y="5853989"/>
            <a:ext cx="7620610" cy="4489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§III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Gratuity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V</a:t>
            </a:r>
            <a:endParaRPr lang="en-US" sz="1400" dirty="0"/>
          </a:p>
        </p:txBody>
      </p:sp>
      <p:sp>
        <p:nvSpPr>
          <p:cNvPr id="47" name="Shape 40"/>
          <p:cNvSpPr/>
          <p:nvPr/>
        </p:nvSpPr>
        <p:spPr>
          <a:xfrm>
            <a:off x="9144000" y="6943039"/>
            <a:ext cx="7619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1"/>
          <p:cNvSpPr txBox="1"/>
          <p:nvPr/>
        </p:nvSpPr>
        <p:spPr>
          <a:xfrm>
            <a:off x="9144000" y="6399886"/>
            <a:ext cx="7620610" cy="4489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§IV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Maternity benefit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VI</a:t>
            </a:r>
            <a:endParaRPr lang="en-US" sz="1400" dirty="0"/>
          </a:p>
        </p:txBody>
      </p:sp>
      <p:sp>
        <p:nvSpPr>
          <p:cNvPr id="49" name="Shape 42"/>
          <p:cNvSpPr/>
          <p:nvPr/>
        </p:nvSpPr>
        <p:spPr>
          <a:xfrm>
            <a:off x="9144000" y="7488936"/>
            <a:ext cx="7619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3"/>
          <p:cNvSpPr txBox="1"/>
          <p:nvPr/>
        </p:nvSpPr>
        <p:spPr>
          <a:xfrm>
            <a:off x="9144000" y="6945782"/>
            <a:ext cx="7620610" cy="4489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§V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Employee's compensation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VII</a:t>
            </a:r>
            <a:endParaRPr lang="en-US" sz="1400" dirty="0"/>
          </a:p>
        </p:txBody>
      </p:sp>
      <p:sp>
        <p:nvSpPr>
          <p:cNvPr id="51" name="Shape 44"/>
          <p:cNvSpPr/>
          <p:nvPr/>
        </p:nvSpPr>
        <p:spPr>
          <a:xfrm>
            <a:off x="9144000" y="8034833"/>
            <a:ext cx="7619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5"/>
          <p:cNvSpPr txBox="1"/>
          <p:nvPr/>
        </p:nvSpPr>
        <p:spPr>
          <a:xfrm>
            <a:off x="9144000" y="7491679"/>
            <a:ext cx="7620610" cy="4489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§VI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Social security for unorganised, gig &amp; platform workers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IX &amp; XIII</a:t>
            </a:r>
            <a:endParaRPr lang="en-US" sz="1400" dirty="0"/>
          </a:p>
        </p:txBody>
      </p:sp>
      <p:sp>
        <p:nvSpPr>
          <p:cNvPr id="53" name="Text 46"/>
          <p:cNvSpPr txBox="1"/>
          <p:nvPr/>
        </p:nvSpPr>
        <p:spPr>
          <a:xfrm>
            <a:off x="9144000" y="8036662"/>
            <a:ext cx="762061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§VII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BOCW cess &amp; Cine Workers welfare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VIII</a:t>
            </a:r>
            <a:endParaRPr lang="en-US" sz="1400" dirty="0"/>
          </a:p>
        </p:txBody>
      </p:sp>
      <p:sp>
        <p:nvSpPr>
          <p:cNvPr id="54" name="Text 47"/>
          <p:cNvSpPr txBox="1"/>
          <p:nvPr/>
        </p:nvSpPr>
        <p:spPr>
          <a:xfrm>
            <a:off x="9144000" y="9001354"/>
            <a:ext cx="83064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3E9C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"Social security is now a </a:t>
            </a:r>
            <a:r>
              <a:rPr lang="en-US" sz="1600" b="1" i="1" dirty="0">
                <a:solidFill>
                  <a:srgbClr val="F3E9C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universal right</a:t>
            </a:r>
            <a:r>
              <a:rPr lang="en-US" sz="1600" i="1" dirty="0">
                <a:solidFill>
                  <a:srgbClr val="F3E9C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, not a scheduled privilege."</a:t>
            </a:r>
            <a:endParaRPr lang="en-US" sz="1600" dirty="0"/>
          </a:p>
        </p:txBody>
      </p:sp>
      <p:sp>
        <p:nvSpPr>
          <p:cNvPr id="55" name="Text 48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 CODE · OVERVIEW</a:t>
            </a:r>
            <a:endParaRPr lang="en-US" sz="900" dirty="0"/>
          </a:p>
        </p:txBody>
      </p:sp>
      <p:sp>
        <p:nvSpPr>
          <p:cNvPr id="56" name="Text 49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29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762402"/>
            <a:ext cx="7830007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2476195" y="5191049"/>
            <a:ext cx="6096305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9144000" y="2762402"/>
            <a:ext cx="8020202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0477195" y="5191049"/>
            <a:ext cx="6286500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143000" y="6096305"/>
            <a:ext cx="7830007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476195" y="8524951"/>
            <a:ext cx="6096305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144000" y="6096305"/>
            <a:ext cx="8020202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0477195" y="8524951"/>
            <a:ext cx="6286500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gen-dedup-38d9db64e9131c2aec57f2468bdc88e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pic>
        <p:nvPicPr>
          <p:cNvPr id="12" name="Image 2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1143000" y="2762402"/>
            <a:ext cx="47549" cy="3047695"/>
          </a:xfrm>
          <a:prstGeom prst="rect">
            <a:avLst/>
          </a:prstGeom>
        </p:spPr>
      </p:pic>
      <p:pic>
        <p:nvPicPr>
          <p:cNvPr id="13" name="Image 3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9144000" y="2762402"/>
            <a:ext cx="47549" cy="3047695"/>
          </a:xfrm>
          <a:prstGeom prst="rect">
            <a:avLst/>
          </a:prstGeom>
        </p:spPr>
      </p:pic>
      <p:pic>
        <p:nvPicPr>
          <p:cNvPr id="14" name="Image 4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1143000" y="6096305"/>
            <a:ext cx="47549" cy="3047695"/>
          </a:xfrm>
          <a:prstGeom prst="rect">
            <a:avLst/>
          </a:prstGeom>
        </p:spPr>
      </p:pic>
      <p:pic>
        <p:nvPicPr>
          <p:cNvPr id="15" name="Image 5" descr="gen-dedup-bf1e7e8f2bf0a9bf5427fa7420cb37ed.png"/>
          <p:cNvPicPr>
            <a:picLocks noChangeAspect="1"/>
          </p:cNvPicPr>
          <p:nvPr/>
        </p:nvPicPr>
        <p:blipFill>
          <a:blip r:embed="rId5"/>
          <a:srcRect t="-75" b="-75"/>
          <a:stretch/>
        </p:blipFill>
        <p:spPr>
          <a:xfrm>
            <a:off x="9144000" y="6096305"/>
            <a:ext cx="47549" cy="30476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CHANGES · PART 1 OF 2</a:t>
            </a:r>
            <a:endParaRPr lang="en-US" sz="100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1380744"/>
            <a:ext cx="1628455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Gratuity, EPF, ESI — what shifted materially</a:t>
            </a:r>
            <a:endParaRPr lang="en-US" sz="4500" dirty="0"/>
          </a:p>
        </p:txBody>
      </p:sp>
      <p:sp>
        <p:nvSpPr>
          <p:cNvPr id="18" name="Text 10"/>
          <p:cNvSpPr txBox="1"/>
          <p:nvPr/>
        </p:nvSpPr>
        <p:spPr>
          <a:xfrm>
            <a:off x="1524305" y="3000146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3300" dirty="0"/>
          </a:p>
        </p:txBody>
      </p:sp>
      <p:sp>
        <p:nvSpPr>
          <p:cNvPr id="19" name="Text 11"/>
          <p:cNvSpPr txBox="1"/>
          <p:nvPr/>
        </p:nvSpPr>
        <p:spPr>
          <a:xfrm>
            <a:off x="2476195" y="3000146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53 · CHAPTER V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2476195" y="3238805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Gratuity — same 5 yrs, new base</a:t>
            </a:r>
            <a:endParaRPr lang="en-US" sz="2400" dirty="0"/>
          </a:p>
        </p:txBody>
      </p:sp>
      <p:sp>
        <p:nvSpPr>
          <p:cNvPr id="21" name="Text 13"/>
          <p:cNvSpPr txBox="1"/>
          <p:nvPr/>
        </p:nvSpPr>
        <p:spPr>
          <a:xfrm>
            <a:off x="2476195" y="3810305"/>
            <a:ext cx="6096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 employees still need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years' continuous service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Fixed-Term Employees vest after 1 year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Wage base is the new Sec. 2(88) — 50% rule applies from 21 Nov 2025.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2619756" y="5257800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Provision-for-gratuity liability rises materially.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9525305" y="3000146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3300" dirty="0"/>
          </a:p>
        </p:txBody>
      </p:sp>
      <p:sp>
        <p:nvSpPr>
          <p:cNvPr id="24" name="Text 16"/>
          <p:cNvSpPr txBox="1"/>
          <p:nvPr/>
        </p:nvSpPr>
        <p:spPr>
          <a:xfrm>
            <a:off x="10477195" y="3000146"/>
            <a:ext cx="6286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15 · CHAPTER III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0477195" y="3238805"/>
            <a:ext cx="6286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EPF — time-bound inquiries</a:t>
            </a:r>
            <a:endParaRPr lang="en-US" sz="2400" dirty="0"/>
          </a:p>
        </p:txBody>
      </p:sp>
      <p:sp>
        <p:nvSpPr>
          <p:cNvPr id="26" name="Text 18"/>
          <p:cNvSpPr txBox="1"/>
          <p:nvPr/>
        </p:nvSpPr>
        <p:spPr>
          <a:xfrm>
            <a:off x="10477195" y="3810305"/>
            <a:ext cx="6286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EPFO can initiate inquiries only within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years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must complete within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years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(extendable by 1).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Suo-motu re-opening abolished.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Appeal deposit cut to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(was 40-75%).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10620756" y="5257800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Certainty in EPF proceedings; access to appellate remedy.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524305" y="6334049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3300" dirty="0"/>
          </a:p>
        </p:txBody>
      </p:sp>
      <p:sp>
        <p:nvSpPr>
          <p:cNvPr id="29" name="Text 21"/>
          <p:cNvSpPr txBox="1"/>
          <p:nvPr/>
        </p:nvSpPr>
        <p:spPr>
          <a:xfrm>
            <a:off x="2476195" y="6334049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28 · CHAPTER IV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2476195" y="6572707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ESI — pan-India coverage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2476195" y="7144207"/>
            <a:ext cx="6096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ESI now applies to the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whole of India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 more "notified areas".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Voluntary opt-in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&lt;10-employee units;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hazardous occupations and plantations. Wage ceiling: ₹21,000/month.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2619756" y="8591702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units nationwide fall inside ESI perimeter.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9525305" y="6334049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3300" dirty="0"/>
          </a:p>
        </p:txBody>
      </p:sp>
      <p:sp>
        <p:nvSpPr>
          <p:cNvPr id="34" name="Text 26"/>
          <p:cNvSpPr txBox="1"/>
          <p:nvPr/>
        </p:nvSpPr>
        <p:spPr>
          <a:xfrm>
            <a:off x="10477195" y="6334049"/>
            <a:ext cx="6286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74 · CHAPTER VII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477195" y="6572707"/>
            <a:ext cx="6286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Commuting accidents covered</a:t>
            </a:r>
            <a:endParaRPr lang="en-US" sz="2400" dirty="0"/>
          </a:p>
        </p:txBody>
      </p:sp>
      <p:sp>
        <p:nvSpPr>
          <p:cNvPr id="36" name="Text 28"/>
          <p:cNvSpPr txBox="1"/>
          <p:nvPr/>
        </p:nvSpPr>
        <p:spPr>
          <a:xfrm>
            <a:off x="10477195" y="7144207"/>
            <a:ext cx="6286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Accidents that occur while travelling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between residence and workplace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now deemed to arise "out of and in the course of employment" — qualifying for compensation.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10620756" y="8591702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Broader employer liability; revisit insurance cover.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143000" y="9667951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Code on Social Security 2020 · MoLE FAQ 16 Mar 2026 (Q11-Q17) · PIB Backgrounder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 CODE · MAJOR CHANGES 1/2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30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762402"/>
            <a:ext cx="7830007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2476195" y="5191049"/>
            <a:ext cx="6096305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9144000" y="2762402"/>
            <a:ext cx="8020202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0477195" y="5191049"/>
            <a:ext cx="6286500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143000" y="6096305"/>
            <a:ext cx="7830007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476195" y="8524951"/>
            <a:ext cx="6096305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144000" y="6096305"/>
            <a:ext cx="8020202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0477195" y="8524951"/>
            <a:ext cx="6286500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gen-dedup-38d9db64e9131c2aec57f2468bdc88e2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pic>
        <p:nvPicPr>
          <p:cNvPr id="12" name="Image 2" descr="gen-dedup-bf1e7e8f2bf0a9bf5427fa7420cb37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1143000" y="2762402"/>
            <a:ext cx="47549" cy="3047695"/>
          </a:xfrm>
          <a:prstGeom prst="rect">
            <a:avLst/>
          </a:prstGeom>
        </p:spPr>
      </p:pic>
      <p:pic>
        <p:nvPicPr>
          <p:cNvPr id="13" name="Image 3" descr="gen-dedup-bf1e7e8f2bf0a9bf5427fa7420cb37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9144000" y="2762402"/>
            <a:ext cx="47549" cy="3047695"/>
          </a:xfrm>
          <a:prstGeom prst="rect">
            <a:avLst/>
          </a:prstGeom>
        </p:spPr>
      </p:pic>
      <p:pic>
        <p:nvPicPr>
          <p:cNvPr id="14" name="Image 4" descr="gen-dedup-bf1e7e8f2bf0a9bf5427fa7420cb37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1143000" y="6096305"/>
            <a:ext cx="47549" cy="3047695"/>
          </a:xfrm>
          <a:prstGeom prst="rect">
            <a:avLst/>
          </a:prstGeom>
        </p:spPr>
      </p:pic>
      <p:pic>
        <p:nvPicPr>
          <p:cNvPr id="15" name="Image 5" descr="gen-dedup-bf1e7e8f2bf0a9bf5427fa7420cb37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9144000" y="6096305"/>
            <a:ext cx="47549" cy="30476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CHANGES · PART 2 OF 2</a:t>
            </a:r>
            <a:endParaRPr lang="en-US" sz="100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1380744"/>
            <a:ext cx="16573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Wider net — maternity, dependents, cess, digital</a:t>
            </a:r>
            <a:endParaRPr lang="en-US" sz="4500" dirty="0"/>
          </a:p>
        </p:txBody>
      </p:sp>
      <p:sp>
        <p:nvSpPr>
          <p:cNvPr id="18" name="Text 10"/>
          <p:cNvSpPr txBox="1"/>
          <p:nvPr/>
        </p:nvSpPr>
        <p:spPr>
          <a:xfrm>
            <a:off x="1524305" y="3000146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3300" dirty="0"/>
          </a:p>
        </p:txBody>
      </p:sp>
      <p:sp>
        <p:nvSpPr>
          <p:cNvPr id="19" name="Text 11"/>
          <p:cNvSpPr txBox="1"/>
          <p:nvPr/>
        </p:nvSpPr>
        <p:spPr>
          <a:xfrm>
            <a:off x="2476195" y="3000146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60 · CHAPTER VI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2476195" y="3238805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Maternity — 26 weeks retained</a:t>
            </a:r>
            <a:endParaRPr lang="en-US" sz="2400" dirty="0"/>
          </a:p>
        </p:txBody>
      </p:sp>
      <p:sp>
        <p:nvSpPr>
          <p:cNvPr id="21" name="Text 13"/>
          <p:cNvSpPr txBox="1"/>
          <p:nvPr/>
        </p:nvSpPr>
        <p:spPr>
          <a:xfrm>
            <a:off x="2476195" y="3810305"/>
            <a:ext cx="6096305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weeks' paid leave (12 weeks from 3</a:t>
            </a:r>
            <a:r>
              <a:rPr lang="en-US" sz="11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rd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child, 12 for commissioning/adoptive mothers) fully preserved. Applies to units with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10 employees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same as before.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2619756" y="5257800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Continuity — no dilution of the 2017 amendment gains.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9525305" y="3000146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3300" dirty="0"/>
          </a:p>
        </p:txBody>
      </p:sp>
      <p:sp>
        <p:nvSpPr>
          <p:cNvPr id="24" name="Text 16"/>
          <p:cNvSpPr txBox="1"/>
          <p:nvPr/>
        </p:nvSpPr>
        <p:spPr>
          <a:xfrm>
            <a:off x="10477195" y="3000146"/>
            <a:ext cx="6286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2(28)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0477195" y="3238805"/>
            <a:ext cx="6286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Wider "dependents"</a:t>
            </a:r>
            <a:endParaRPr lang="en-US" sz="2400" dirty="0"/>
          </a:p>
        </p:txBody>
      </p:sp>
      <p:sp>
        <p:nvSpPr>
          <p:cNvPr id="26" name="Text 18"/>
          <p:cNvSpPr txBox="1"/>
          <p:nvPr/>
        </p:nvSpPr>
        <p:spPr>
          <a:xfrm>
            <a:off x="10477195" y="3810305"/>
            <a:ext cx="6286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Dependents now include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maternal grandparents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— for female employees —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parents-in-law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Widens benefit access for EPF, ESI, gratuity nomination and dependency benefits.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10620756" y="5257800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Recognises Indian family realities more fully.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524305" y="6334049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07</a:t>
            </a:r>
            <a:endParaRPr lang="en-US" sz="3300" dirty="0"/>
          </a:p>
        </p:txBody>
      </p:sp>
      <p:sp>
        <p:nvSpPr>
          <p:cNvPr id="29" name="Text 21"/>
          <p:cNvSpPr txBox="1"/>
          <p:nvPr/>
        </p:nvSpPr>
        <p:spPr>
          <a:xfrm>
            <a:off x="2476195" y="6334049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100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2476195" y="6572707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BOCW Cess — self-assessment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2476195" y="7144207"/>
            <a:ext cx="6096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Employers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self-assess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1% Building &amp; Other Construction Workers' cess. Assessing officer's role limited to scrutiny of returns — cutting procedural delay.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2619756" y="8591702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Real-estate players: build assessments into internal MIS.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9525305" y="6334049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08</a:t>
            </a:r>
            <a:endParaRPr lang="en-US" sz="3300" dirty="0"/>
          </a:p>
        </p:txBody>
      </p:sp>
      <p:sp>
        <p:nvSpPr>
          <p:cNvPr id="34" name="Text 26"/>
          <p:cNvSpPr txBox="1"/>
          <p:nvPr/>
        </p:nvSpPr>
        <p:spPr>
          <a:xfrm>
            <a:off x="10477195" y="6334049"/>
            <a:ext cx="6286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123 · CHAPTER XII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477195" y="6572707"/>
            <a:ext cx="6286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Digital compliance + eShram</a:t>
            </a:r>
            <a:endParaRPr lang="en-US" sz="2400" dirty="0"/>
          </a:p>
        </p:txBody>
      </p:sp>
      <p:sp>
        <p:nvSpPr>
          <p:cNvPr id="36" name="Text 28"/>
          <p:cNvSpPr txBox="1"/>
          <p:nvPr/>
        </p:nvSpPr>
        <p:spPr>
          <a:xfrm>
            <a:off x="10477195" y="7144207"/>
            <a:ext cx="6286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Electronic registers, returns, and issuance of claims mandated. National database of unorganised workers via the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eShram portal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Aadhaar-based benefit portability.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10620756" y="8591702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of paper registers; single source of truth.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143000" y="9667951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Code on Social Security 2020 · PIB Backgrounder PRID 2192524 · Vikaspedia / MoLE FAQ 2026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 CODE · MAJOR CHANGES 2/2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31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857500"/>
            <a:ext cx="7848295" cy="6096305"/>
          </a:xfrm>
          <a:prstGeom prst="rect">
            <a:avLst/>
          </a:prstGeom>
          <a:solidFill>
            <a:srgbClr val="F8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43000" y="2857500"/>
            <a:ext cx="38405" cy="60963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1" descr="gen-dedup-bf66c076a26d78bd73fcca3b1c80db74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524305" y="4714646"/>
            <a:ext cx="7048195" cy="9144"/>
          </a:xfrm>
          <a:prstGeom prst="rect">
            <a:avLst/>
          </a:prstGeom>
        </p:spPr>
      </p:pic>
      <p:pic>
        <p:nvPicPr>
          <p:cNvPr id="6" name="Image 2" descr="gen-dedup-bf66c076a26d78bd73fcca3b1c80db74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524305" y="6334049"/>
            <a:ext cx="7048195" cy="9144"/>
          </a:xfrm>
          <a:prstGeom prst="rect">
            <a:avLst/>
          </a:prstGeom>
        </p:spPr>
      </p:pic>
      <p:pic>
        <p:nvPicPr>
          <p:cNvPr id="7" name="Image 3" descr="gen-dedup-dcb5b6d3cf162a56fbb1f1db17effec2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9430207" y="2857500"/>
            <a:ext cx="7715707" cy="2667305"/>
          </a:xfrm>
          <a:prstGeom prst="rect">
            <a:avLst/>
          </a:prstGeom>
        </p:spPr>
      </p:pic>
      <p:pic>
        <p:nvPicPr>
          <p:cNvPr id="8" name="Image 4" descr="gen-dedup-18dfd622c833445bdf7a2496a790655d.png"/>
          <p:cNvPicPr>
            <a:picLocks noChangeAspect="1"/>
          </p:cNvPicPr>
          <p:nvPr/>
        </p:nvPicPr>
        <p:blipFill>
          <a:blip r:embed="rId5"/>
          <a:srcRect t="-2078" b="-2078"/>
          <a:stretch/>
        </p:blipFill>
        <p:spPr>
          <a:xfrm>
            <a:off x="13811098" y="3952951"/>
            <a:ext cx="9144" cy="1238098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9430207" y="5810098"/>
            <a:ext cx="7733995" cy="3161995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5" descr="gen-dedup-38d9db64e9131c2aec57f2468bdc88e2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9239098"/>
            <a:ext cx="16002000" cy="9144"/>
          </a:xfrm>
          <a:prstGeom prst="rect">
            <a:avLst/>
          </a:prstGeom>
        </p:spPr>
      </p:pic>
      <p:pic>
        <p:nvPicPr>
          <p:cNvPr id="11" name="Image 6" descr="gen-dedup-c3aa4bfe81b49d8f19c242fc7301353d.png"/>
          <p:cNvPicPr>
            <a:picLocks noChangeAspect="1"/>
          </p:cNvPicPr>
          <p:nvPr/>
        </p:nvPicPr>
        <p:blipFill>
          <a:blip r:embed="rId7"/>
          <a:srcRect l="-83" r="-83"/>
          <a:stretch/>
        </p:blipFill>
        <p:spPr>
          <a:xfrm>
            <a:off x="9430207" y="2857500"/>
            <a:ext cx="7715707" cy="47549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INDIA-FIRST CHAPTER</a:t>
            </a:r>
            <a:endParaRPr lang="en-US" sz="1000" dirty="0"/>
          </a:p>
        </p:txBody>
      </p:sp>
      <p:sp>
        <p:nvSpPr>
          <p:cNvPr id="13" name="Text 4"/>
          <p:cNvSpPr txBox="1"/>
          <p:nvPr/>
        </p:nvSpPr>
        <p:spPr>
          <a:xfrm>
            <a:off x="1143000" y="1380744"/>
            <a:ext cx="16573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Gig &amp; platform workers — a new social contract</a:t>
            </a:r>
            <a:endParaRPr lang="en-US" sz="4500" dirty="0"/>
          </a:p>
        </p:txBody>
      </p:sp>
      <p:sp>
        <p:nvSpPr>
          <p:cNvPr id="14" name="Text 5"/>
          <p:cNvSpPr txBox="1"/>
          <p:nvPr/>
        </p:nvSpPr>
        <p:spPr>
          <a:xfrm>
            <a:off x="1143000" y="2143354"/>
            <a:ext cx="1428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A5A7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For the first time in the world, an omnibus statute formally recognises the platform economy.</a:t>
            </a:r>
            <a:endParaRPr lang="en-US" sz="1600" dirty="0"/>
          </a:p>
        </p:txBody>
      </p:sp>
      <p:sp>
        <p:nvSpPr>
          <p:cNvPr id="15" name="Text 6"/>
          <p:cNvSpPr txBox="1"/>
          <p:nvPr/>
        </p:nvSpPr>
        <p:spPr>
          <a:xfrm>
            <a:off x="1524305" y="3095244"/>
            <a:ext cx="7049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STATUTORY DEFINITIONS · SECTION 2</a:t>
            </a:r>
            <a:endParaRPr lang="en-US" sz="1000" dirty="0"/>
          </a:p>
        </p:txBody>
      </p:sp>
      <p:sp>
        <p:nvSpPr>
          <p:cNvPr id="16" name="Text 7"/>
          <p:cNvSpPr txBox="1"/>
          <p:nvPr/>
        </p:nvSpPr>
        <p:spPr>
          <a:xfrm>
            <a:off x="1524305" y="3476549"/>
            <a:ext cx="7049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SEC. 2(35) — GIG WORKER</a:t>
            </a:r>
            <a:endParaRPr lang="en-US" sz="900" dirty="0"/>
          </a:p>
        </p:txBody>
      </p:sp>
      <p:sp>
        <p:nvSpPr>
          <p:cNvPr id="17" name="Text 8"/>
          <p:cNvSpPr txBox="1"/>
          <p:nvPr/>
        </p:nvSpPr>
        <p:spPr>
          <a:xfrm>
            <a:off x="1524305" y="3715207"/>
            <a:ext cx="7049110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Any person who performs work or participates in a work arrangement and earns from such activities </a:t>
            </a: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outside the traditional employer-employee relationship</a:t>
            </a:r>
            <a:r>
              <a:rPr lang="en-US" sz="1600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Text 9"/>
          <p:cNvSpPr txBox="1"/>
          <p:nvPr/>
        </p:nvSpPr>
        <p:spPr>
          <a:xfrm>
            <a:off x="1524305" y="4953305"/>
            <a:ext cx="7049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SEC. 2(61) — PLATFORM WORKER</a:t>
            </a:r>
            <a:endParaRPr lang="en-US" sz="900" dirty="0"/>
          </a:p>
        </p:txBody>
      </p:sp>
      <p:sp>
        <p:nvSpPr>
          <p:cNvPr id="19" name="Text 10"/>
          <p:cNvSpPr txBox="1"/>
          <p:nvPr/>
        </p:nvSpPr>
        <p:spPr>
          <a:xfrm>
            <a:off x="1524305" y="5191049"/>
            <a:ext cx="70491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person engaged in a work arrangement using an </a:t>
            </a: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online platform</a:t>
            </a:r>
            <a:r>
              <a:rPr lang="en-US" sz="1600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to access other organisations or individuals, in exchange for payment.</a:t>
            </a:r>
            <a:endParaRPr lang="en-US" sz="1600" dirty="0"/>
          </a:p>
        </p:txBody>
      </p:sp>
      <p:sp>
        <p:nvSpPr>
          <p:cNvPr id="20" name="Text 11"/>
          <p:cNvSpPr txBox="1"/>
          <p:nvPr/>
        </p:nvSpPr>
        <p:spPr>
          <a:xfrm>
            <a:off x="1524305" y="6572707"/>
            <a:ext cx="7049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SEC. 2(2) — AGGREGATOR</a:t>
            </a:r>
            <a:endParaRPr lang="en-US" sz="900" dirty="0"/>
          </a:p>
        </p:txBody>
      </p:sp>
      <p:sp>
        <p:nvSpPr>
          <p:cNvPr id="21" name="Text 12"/>
          <p:cNvSpPr txBox="1"/>
          <p:nvPr/>
        </p:nvSpPr>
        <p:spPr>
          <a:xfrm>
            <a:off x="1524305" y="6810451"/>
            <a:ext cx="70491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digital intermediary buying and selling — connecting buyers and sellers. </a:t>
            </a: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Nine categories</a:t>
            </a:r>
            <a:r>
              <a:rPr lang="en-US" sz="1600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defined: ride-sharing, food &amp; grocery delivery, logistics, e-market, professional services, healthcare, travel &amp; hospitality, content &amp; media services, and any other Central Govt notifies.</a:t>
            </a:r>
            <a:endParaRPr lang="en-US" sz="1600" dirty="0"/>
          </a:p>
        </p:txBody>
      </p:sp>
      <p:sp>
        <p:nvSpPr>
          <p:cNvPr id="22" name="Text 13"/>
          <p:cNvSpPr txBox="1"/>
          <p:nvPr/>
        </p:nvSpPr>
        <p:spPr>
          <a:xfrm>
            <a:off x="9810598" y="3095244"/>
            <a:ext cx="69540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114(4) — CONTRIBUTION</a:t>
            </a:r>
            <a:endParaRPr lang="en-US" sz="900" dirty="0"/>
          </a:p>
        </p:txBody>
      </p:sp>
      <p:sp>
        <p:nvSpPr>
          <p:cNvPr id="23" name="Text 14"/>
          <p:cNvSpPr txBox="1"/>
          <p:nvPr/>
        </p:nvSpPr>
        <p:spPr>
          <a:xfrm>
            <a:off x="9810598" y="3381451"/>
            <a:ext cx="69540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Aggregators to contribute</a:t>
            </a:r>
            <a:endParaRPr lang="en-US" sz="2400" dirty="0"/>
          </a:p>
        </p:txBody>
      </p:sp>
      <p:sp>
        <p:nvSpPr>
          <p:cNvPr id="24" name="Text 15"/>
          <p:cNvSpPr txBox="1"/>
          <p:nvPr/>
        </p:nvSpPr>
        <p:spPr>
          <a:xfrm>
            <a:off x="9810598" y="3952951"/>
            <a:ext cx="38103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1–2%</a:t>
            </a:r>
            <a:endParaRPr lang="en-US" sz="6000" dirty="0"/>
          </a:p>
        </p:txBody>
      </p:sp>
      <p:sp>
        <p:nvSpPr>
          <p:cNvPr id="25" name="Text 16"/>
          <p:cNvSpPr txBox="1"/>
          <p:nvPr/>
        </p:nvSpPr>
        <p:spPr>
          <a:xfrm>
            <a:off x="9810598" y="4858207"/>
            <a:ext cx="3810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the aggregator's annual turnover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14097305" y="3952951"/>
            <a:ext cx="2857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Capped at</a:t>
            </a:r>
            <a:endParaRPr lang="en-US" sz="3300" dirty="0"/>
          </a:p>
        </p:txBody>
      </p:sp>
      <p:sp>
        <p:nvSpPr>
          <p:cNvPr id="27" name="Text 18"/>
          <p:cNvSpPr txBox="1"/>
          <p:nvPr/>
        </p:nvSpPr>
        <p:spPr>
          <a:xfrm>
            <a:off x="14097305" y="4524451"/>
            <a:ext cx="2857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5%</a:t>
            </a:r>
            <a:endParaRPr lang="en-US" sz="3300" dirty="0"/>
          </a:p>
        </p:txBody>
      </p:sp>
      <p:sp>
        <p:nvSpPr>
          <p:cNvPr id="28" name="Text 19"/>
          <p:cNvSpPr txBox="1"/>
          <p:nvPr/>
        </p:nvSpPr>
        <p:spPr>
          <a:xfrm>
            <a:off x="14097305" y="5048402"/>
            <a:ext cx="2857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total payments made to gig &amp; platform workers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9810598" y="6048756"/>
            <a:ext cx="69540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109-114 · CHAPTER IX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9810598" y="6334049"/>
            <a:ext cx="69540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Social Security Fund — coverage</a:t>
            </a:r>
            <a:endParaRPr lang="en-US" sz="2400" dirty="0"/>
          </a:p>
        </p:txBody>
      </p:sp>
      <p:sp>
        <p:nvSpPr>
          <p:cNvPr id="31" name="Text 22"/>
          <p:cNvSpPr txBox="1"/>
          <p:nvPr/>
        </p:nvSpPr>
        <p:spPr>
          <a:xfrm>
            <a:off x="9810598" y="7000646"/>
            <a:ext cx="6954012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Life &amp; disability cover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9810598" y="7406640"/>
            <a:ext cx="6954012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Accident insurance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9810598" y="7812634"/>
            <a:ext cx="6954012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Health &amp; maternity benefits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9810598" y="8217713"/>
            <a:ext cx="6954012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Old-age protection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9810598" y="8623706"/>
            <a:ext cx="6954012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Crèche &amp; child-care support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1143000" y="9411005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Sec. 2(2), 2(35), 2(61), 109-114 of Code on Social Security 2020 · PIB PRID 2200767 (Labour Reforms &amp; Gig Economy) · LKS Employment Law · MoLE FAQ Q15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 CODE · GIG &amp; PLATFORM WORKERS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32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af3b0884c94f655e5366e496a60d645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762402"/>
            <a:ext cx="16068751" cy="15435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43000" y="2762402"/>
            <a:ext cx="57607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13144500" y="3047695"/>
            <a:ext cx="3810305" cy="952805"/>
          </a:xfrm>
          <a:prstGeom prst="roundRect">
            <a:avLst>
              <a:gd name="adj" fmla="val 2015"/>
            </a:avLst>
          </a:prstGeom>
          <a:solidFill>
            <a:srgbClr val="FB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143000" y="4429354"/>
            <a:ext cx="16068751" cy="15435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143000" y="4429354"/>
            <a:ext cx="57607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3144500" y="4714646"/>
            <a:ext cx="3810305" cy="952805"/>
          </a:xfrm>
          <a:prstGeom prst="roundRect">
            <a:avLst>
              <a:gd name="adj" fmla="val 2015"/>
            </a:avLst>
          </a:prstGeom>
          <a:solidFill>
            <a:srgbClr val="FB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143000" y="6096305"/>
            <a:ext cx="16068751" cy="15435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143000" y="6096305"/>
            <a:ext cx="57607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3144500" y="6381598"/>
            <a:ext cx="3810305" cy="952805"/>
          </a:xfrm>
          <a:prstGeom prst="roundRect">
            <a:avLst>
              <a:gd name="adj" fmla="val 2015"/>
            </a:avLst>
          </a:prstGeom>
          <a:solidFill>
            <a:srgbClr val="FB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1143000" y="7763256"/>
            <a:ext cx="16068751" cy="15435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1143000" y="7763256"/>
            <a:ext cx="57607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13144500" y="8048549"/>
            <a:ext cx="3810305" cy="952805"/>
          </a:xfrm>
          <a:prstGeom prst="roundRect">
            <a:avLst>
              <a:gd name="adj" fmla="val 2015"/>
            </a:avLst>
          </a:prstGeom>
          <a:solidFill>
            <a:srgbClr val="FB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gen-dedup-38d9db64e9131c2aec57f2468bdc88e2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572854"/>
            <a:ext cx="16002000" cy="91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68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PITFALLS · SS CODE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1380744"/>
            <a:ext cx="1555303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Where costly non-compliance is most likely</a:t>
            </a:r>
            <a:endParaRPr lang="en-US" sz="4500" dirty="0"/>
          </a:p>
        </p:txBody>
      </p:sp>
      <p:sp>
        <p:nvSpPr>
          <p:cNvPr id="18" name="Text 14"/>
          <p:cNvSpPr txBox="1"/>
          <p:nvPr/>
        </p:nvSpPr>
        <p:spPr>
          <a:xfrm>
            <a:off x="1429207" y="3000146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3300" dirty="0"/>
          </a:p>
        </p:txBody>
      </p:sp>
      <p:sp>
        <p:nvSpPr>
          <p:cNvPr id="19" name="Text 15"/>
          <p:cNvSpPr txBox="1"/>
          <p:nvPr/>
        </p:nvSpPr>
        <p:spPr>
          <a:xfrm>
            <a:off x="2190902" y="2905049"/>
            <a:ext cx="994135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Non-payment of employee's PF/ESI deducted — the "trust breach"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2190902" y="3238805"/>
            <a:ext cx="104781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Cash-strapped SME deducts PF from wages but delays remittance beyond the 15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Any deducted-but-not-deposited amount is treated as breach of trust — the harshest exposure under the Code.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3334695" y="3191256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· Sec. 133(a)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3334695" y="3429000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1-3 yrs jail + ₹1,00,000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3334695" y="3733495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Non-compoundable · officer-in-default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429207" y="4667098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3300" dirty="0"/>
          </a:p>
        </p:txBody>
      </p:sp>
      <p:sp>
        <p:nvSpPr>
          <p:cNvPr id="25" name="Text 21"/>
          <p:cNvSpPr txBox="1"/>
          <p:nvPr/>
        </p:nvSpPr>
        <p:spPr>
          <a:xfrm>
            <a:off x="2190902" y="4572000"/>
            <a:ext cx="9525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Gratuity provision not updated to new "wages" base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2190902" y="4905756"/>
            <a:ext cx="10478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Actuary continues to use "Basic + DA" per old Sec. 4 of Gratuity Act. From 21 Nov 2025, the Sec. 2(88) definition applies. Under-provisioning shows up in the very next audit's Ind AS 19 disclosure.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3334695" y="4858207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· Sec. 133(b)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3334695" y="5095951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Fine up to ₹50,000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13334695" y="5381244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recovery of shortfall + interest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1429207" y="6334049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3300" dirty="0"/>
          </a:p>
        </p:txBody>
      </p:sp>
      <p:sp>
        <p:nvSpPr>
          <p:cNvPr id="31" name="Text 27"/>
          <p:cNvSpPr txBox="1"/>
          <p:nvPr/>
        </p:nvSpPr>
        <p:spPr>
          <a:xfrm>
            <a:off x="2190902" y="6238951"/>
            <a:ext cx="994135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Fixed-term employees exiting after 12 months — gratuity missed</a:t>
            </a:r>
            <a:endParaRPr lang="en-US" sz="1900" dirty="0"/>
          </a:p>
        </p:txBody>
      </p:sp>
      <p:sp>
        <p:nvSpPr>
          <p:cNvPr id="32" name="Text 28"/>
          <p:cNvSpPr txBox="1"/>
          <p:nvPr/>
        </p:nvSpPr>
        <p:spPr>
          <a:xfrm>
            <a:off x="2190902" y="6572707"/>
            <a:ext cx="10478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large hotel chain rolls FTEs on 12-month contracts. Not paying gratuity at exit — MoLE FAQ Q14 confirms FTEs vest after 1 year of continuous service. Multiple worker claims begin surfacing.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13334695" y="6524244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13334695" y="6762902"/>
            <a:ext cx="386974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Recovery + 10% p.a. interest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13334695" y="7048195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FTE claim compoundable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1429207" y="8001000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3300" dirty="0"/>
          </a:p>
        </p:txBody>
      </p:sp>
      <p:sp>
        <p:nvSpPr>
          <p:cNvPr id="37" name="Text 33"/>
          <p:cNvSpPr txBox="1"/>
          <p:nvPr/>
        </p:nvSpPr>
        <p:spPr>
          <a:xfrm>
            <a:off x="2190902" y="7905902"/>
            <a:ext cx="9525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Aggregators not remitting the 1-2% turnover contribution</a:t>
            </a:r>
            <a:endParaRPr lang="en-US" sz="1900" dirty="0"/>
          </a:p>
        </p:txBody>
      </p:sp>
      <p:sp>
        <p:nvSpPr>
          <p:cNvPr id="38" name="Text 34"/>
          <p:cNvSpPr txBox="1"/>
          <p:nvPr/>
        </p:nvSpPr>
        <p:spPr>
          <a:xfrm>
            <a:off x="2190902" y="8238744"/>
            <a:ext cx="10478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food-delivery aggregator classifies riders as "independent partners". Under Sec. 114(4), this changes nothing — the 1-2% turnover contribution to the Social Security Fund remains due.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13334695" y="8191195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13334695" y="8429854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Recovery + Sec. 133 fine</a:t>
            </a:r>
            <a:endParaRPr lang="en-US" sz="1600" dirty="0"/>
          </a:p>
        </p:txBody>
      </p:sp>
      <p:sp>
        <p:nvSpPr>
          <p:cNvPr id="41" name="Text 37"/>
          <p:cNvSpPr txBox="1"/>
          <p:nvPr/>
        </p:nvSpPr>
        <p:spPr>
          <a:xfrm>
            <a:off x="13334695" y="8715146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Directors: officers-in-default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1143000" y="9696298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Sec. 53, 114(4), 133, 134 of Code on Social Security · MoLE FAQ 16 Mar 2026 (Q11-Q17) · SS (Central) Rules 2026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 CODE · PITFALLS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33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6452cb36722d5fa805e613771ce1a31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pic>
        <p:nvPicPr>
          <p:cNvPr id="3" name="Image 1" descr="gen-dedup-249db179fa6fc54706b8b2c0bbf6a854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1143000" y="2762402"/>
            <a:ext cx="7810805" cy="6286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24305" y="8191195"/>
            <a:ext cx="7067398" cy="590702"/>
          </a:xfrm>
          <a:prstGeom prst="rect">
            <a:avLst/>
          </a:prstGeom>
          <a:solidFill>
            <a:srgbClr val="C9A227">
              <a:alpha val="15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2" descr="gen-dedup-38d9db64e9131c2aec57f2468bdc88e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572854"/>
            <a:ext cx="16002000" cy="91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68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SAFEGUARDS · SS CODE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1380744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Actuarial, digital, and audit-ready</a:t>
            </a:r>
            <a:endParaRPr lang="en-US" sz="4500" dirty="0"/>
          </a:p>
        </p:txBody>
      </p:sp>
      <p:sp>
        <p:nvSpPr>
          <p:cNvPr id="8" name="Text 3"/>
          <p:cNvSpPr txBox="1"/>
          <p:nvPr/>
        </p:nvSpPr>
        <p:spPr>
          <a:xfrm>
            <a:off x="1524305" y="3095244"/>
            <a:ext cx="7049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SS COMPLIANCE PROTOCOL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1524305" y="3381451"/>
            <a:ext cx="7049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Provision → Remit → Report</a:t>
            </a:r>
            <a:endParaRPr lang="en-US" sz="3000" dirty="0"/>
          </a:p>
        </p:txBody>
      </p:sp>
      <p:pic>
        <p:nvPicPr>
          <p:cNvPr id="10" name="Image 3" descr="gen-dedup-587bf74b6462f210fb4a2245c25dbfdf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524305" y="4381805"/>
            <a:ext cx="761695" cy="192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524305" y="5629046"/>
            <a:ext cx="70481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6"/>
          <p:cNvSpPr txBox="1"/>
          <p:nvPr/>
        </p:nvSpPr>
        <p:spPr>
          <a:xfrm>
            <a:off x="1524305" y="4714646"/>
            <a:ext cx="7049110" cy="7818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·</a:t>
            </a: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Redo the actuarial valuation of gratuity and long-term benefits on the Sec. 2(88) base.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1524305" y="6591910"/>
            <a:ext cx="70481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8"/>
          <p:cNvSpPr txBox="1"/>
          <p:nvPr/>
        </p:nvSpPr>
        <p:spPr>
          <a:xfrm>
            <a:off x="1524305" y="5639105"/>
            <a:ext cx="7049110" cy="8202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 ·</a:t>
            </a: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Remit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PF/ESI deposited by 15</a:t>
            </a: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Every deducted rupee reaches the fund. No exceptions.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1524305" y="7511796"/>
            <a:ext cx="70481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 txBox="1"/>
          <p:nvPr/>
        </p:nvSpPr>
        <p:spPr>
          <a:xfrm>
            <a:off x="1524305" y="6597396"/>
            <a:ext cx="7049110" cy="7818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 ·</a:t>
            </a: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Digital filings; nominations updated; commuting-accident cover in insurance policy.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524305" y="7521854"/>
            <a:ext cx="70491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 ·</a:t>
            </a: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Every gig / platform worker onboarded on eShram; aggregator contribution auto-computed monthly.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714500" y="8363102"/>
            <a:ext cx="66678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"Deducted contributions are held in trust. Never delay."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430207" y="2762402"/>
            <a:ext cx="7715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CHECKLIST · 6 SAFEGUARDS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9430207" y="4009644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9430207" y="3247949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9430207" y="3247949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9430207" y="4929530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9430207" y="4167835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9430207" y="4167835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9430207" y="5852160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9430207" y="5090465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9430207" y="5090465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9430207" y="7051853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9430207" y="6013094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9430207" y="6013094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9430207" y="7974482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9430207" y="7212787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/>
          <p:nvPr/>
        </p:nvSpPr>
        <p:spPr>
          <a:xfrm>
            <a:off x="9430207" y="7212787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9430207" y="8131759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0"/>
          <p:cNvSpPr/>
          <p:nvPr/>
        </p:nvSpPr>
        <p:spPr>
          <a:xfrm>
            <a:off x="9430207" y="8131759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10039198" y="3276295"/>
            <a:ext cx="435345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Actuarial re-valuation on Sec. 2(88)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039198" y="3620110"/>
            <a:ext cx="70774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Redo gratuity, leave-encashment and long-term liability numbers on the new wage base.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10039198" y="4196182"/>
            <a:ext cx="337779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Zero-tolerance PF/ESI SOP</a:t>
            </a:r>
            <a:endParaRPr lang="en-US" sz="1600" dirty="0"/>
          </a:p>
        </p:txBody>
      </p:sp>
      <p:sp>
        <p:nvSpPr>
          <p:cNvPr id="40" name="Text 34"/>
          <p:cNvSpPr txBox="1"/>
          <p:nvPr/>
        </p:nvSpPr>
        <p:spPr>
          <a:xfrm>
            <a:off x="10039198" y="4542739"/>
            <a:ext cx="75922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deposit workflow · dual-authorisation · CFO monthly attestation. Never miss the 15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10039198" y="5118811"/>
            <a:ext cx="3773729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FTE gratuity-at-exit calculator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039198" y="5465369"/>
            <a:ext cx="74779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Auto-triggered on the 12</a:t>
            </a: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month of any fixed-term contract. Full &amp; final settlement mandatory.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10039198" y="6041441"/>
            <a:ext cx="44961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Aggregator contribution automation</a:t>
            </a:r>
            <a:endParaRPr lang="en-US" sz="1600" dirty="0"/>
          </a:p>
        </p:txBody>
      </p:sp>
      <p:sp>
        <p:nvSpPr>
          <p:cNvPr id="44" name="Text 38"/>
          <p:cNvSpPr txBox="1"/>
          <p:nvPr/>
        </p:nvSpPr>
        <p:spPr>
          <a:xfrm>
            <a:off x="10039198" y="6385255"/>
            <a:ext cx="69348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turnover x 1% base rate → auto-remit to Social Security Fund. Reconcile against the 5% cap.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10039198" y="7241134"/>
            <a:ext cx="454365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Commuting-accident insurance rider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039198" y="7584948"/>
            <a:ext cx="73536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Reprice group-personal-accident cover to include home-to-workplace transit. Notify insurer.</a:t>
            </a:r>
            <a:endParaRPr lang="en-US" sz="1200" dirty="0"/>
          </a:p>
        </p:txBody>
      </p:sp>
      <p:sp>
        <p:nvSpPr>
          <p:cNvPr id="47" name="Text 41"/>
          <p:cNvSpPr txBox="1"/>
          <p:nvPr/>
        </p:nvSpPr>
        <p:spPr>
          <a:xfrm>
            <a:off x="10039198" y="8160106"/>
            <a:ext cx="301569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eShram enrolment drive</a:t>
            </a:r>
            <a:endParaRPr lang="en-US" sz="1600" dirty="0"/>
          </a:p>
        </p:txBody>
      </p:sp>
      <p:sp>
        <p:nvSpPr>
          <p:cNvPr id="48" name="Text 42"/>
          <p:cNvSpPr txBox="1"/>
          <p:nvPr/>
        </p:nvSpPr>
        <p:spPr>
          <a:xfrm>
            <a:off x="10039198" y="8503920"/>
            <a:ext cx="77349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contract labour, gig, and unorganised workers enrolled on eShram · Aadhaar-linked · audit trail.</a:t>
            </a:r>
            <a:endParaRPr lang="en-US" sz="1200" dirty="0"/>
          </a:p>
        </p:txBody>
      </p:sp>
      <p:sp>
        <p:nvSpPr>
          <p:cNvPr id="49" name="Text 43"/>
          <p:cNvSpPr txBox="1"/>
          <p:nvPr/>
        </p:nvSpPr>
        <p:spPr>
          <a:xfrm>
            <a:off x="1143000" y="9696298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Practitioner guidance from Sec. 2(88), 15, 53, 74, 100, 114 &amp; 123 of SS Code · SS (Central) Rules 2026 · eShram portal · MoLE FAQ 2026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 CODE · SAFEGUARDS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34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375be14941e62041ad24427fe080590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2667305"/>
            <a:ext cx="6667805" cy="2915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0" i="1" dirty="0">
                <a:solidFill>
                  <a:srgbClr val="C9A227">
                    <a:alpha val="18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VI</a:t>
            </a:r>
            <a:endParaRPr lang="en-US" sz="25500" dirty="0"/>
          </a:p>
        </p:txBody>
      </p:sp>
      <p:pic>
        <p:nvPicPr>
          <p:cNvPr id="4" name="Image 1" descr="gen-dedup-e3fdc12e66f4c942a9280406b7949b65.png"/>
          <p:cNvPicPr>
            <a:picLocks noChangeAspect="1"/>
          </p:cNvPicPr>
          <p:nvPr/>
        </p:nvPicPr>
        <p:blipFill>
          <a:blip r:embed="rId3"/>
          <a:srcRect l="-392" r="-392"/>
          <a:stretch/>
        </p:blipFill>
        <p:spPr>
          <a:xfrm>
            <a:off x="6096305" y="4238244"/>
            <a:ext cx="666598" cy="2834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53098" y="4143146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42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SIX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096305" y="4524451"/>
            <a:ext cx="11430000" cy="1848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Occupational Safety,</a:t>
            </a:r>
            <a:endParaRPr lang="en-US" sz="6900" dirty="0"/>
          </a:p>
          <a:p>
            <a:pPr marL="0" indent="0" algn="l">
              <a:buNone/>
            </a:pPr>
            <a:r>
              <a:rPr lang="en-US" sz="69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Health &amp; WC Code, 2020</a:t>
            </a:r>
            <a:endParaRPr lang="en-US" sz="6900" dirty="0"/>
          </a:p>
        </p:txBody>
      </p:sp>
      <p:sp>
        <p:nvSpPr>
          <p:cNvPr id="7" name="Text 3"/>
          <p:cNvSpPr txBox="1"/>
          <p:nvPr/>
        </p:nvSpPr>
        <p:spPr>
          <a:xfrm>
            <a:off x="6096305" y="7000646"/>
            <a:ext cx="11430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F3E9C7">
                    <a:alpha val="8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Thirteen laws · Factories · Contract Labour · ISMW · Working conditions.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9858146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93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CCC · 17 JULY 2026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7145000" y="9858146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35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pic>
        <p:nvPicPr>
          <p:cNvPr id="3" name="Image 1" descr="gen-dedup-3948b3d48a6e710397e4baac195b4e30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8762695" y="2667305"/>
            <a:ext cx="8382305" cy="6858000"/>
          </a:xfrm>
          <a:prstGeom prst="rect">
            <a:avLst/>
          </a:prstGeom>
        </p:spPr>
      </p:pic>
      <p:pic>
        <p:nvPicPr>
          <p:cNvPr id="4" name="Image 2" descr="gen-dedup-38d9db64e9131c2aec57f2468bdc88e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829800"/>
            <a:ext cx="16002000" cy="9144"/>
          </a:xfrm>
          <a:prstGeom prst="rect">
            <a:avLst/>
          </a:prstGeom>
        </p:spPr>
      </p:pic>
      <p:pic>
        <p:nvPicPr>
          <p:cNvPr id="5" name="Image 3" descr="gen-dedup-dfb9ea3bf781128f591056d6b57a71d5.png"/>
          <p:cNvPicPr>
            <a:picLocks noChangeAspect="1"/>
          </p:cNvPicPr>
          <p:nvPr/>
        </p:nvPicPr>
        <p:blipFill>
          <a:blip r:embed="rId5"/>
          <a:srcRect t="-398" b="-398"/>
          <a:stretch/>
        </p:blipFill>
        <p:spPr>
          <a:xfrm>
            <a:off x="8762695" y="2667305"/>
            <a:ext cx="8382305" cy="57607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OSH · THIRTEEN LAWS, ONE UMBRELLA</a:t>
            </a:r>
            <a:endParaRPr lang="en-US" sz="1000" dirty="0"/>
          </a:p>
        </p:txBody>
      </p:sp>
      <p:sp>
        <p:nvSpPr>
          <p:cNvPr id="7" name="Text 1"/>
          <p:cNvSpPr txBox="1"/>
          <p:nvPr/>
        </p:nvSpPr>
        <p:spPr>
          <a:xfrm>
            <a:off x="1143000" y="1380744"/>
            <a:ext cx="16573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Safety, health &amp; working conditions — unified</a:t>
            </a:r>
            <a:endParaRPr lang="en-US" sz="4500" dirty="0"/>
          </a:p>
        </p:txBody>
      </p:sp>
      <p:sp>
        <p:nvSpPr>
          <p:cNvPr id="8" name="Text 2"/>
          <p:cNvSpPr txBox="1"/>
          <p:nvPr/>
        </p:nvSpPr>
        <p:spPr>
          <a:xfrm>
            <a:off x="1143000" y="2667305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REPEALED · 13 LEGACY ACTS</a:t>
            </a:r>
            <a:endParaRPr lang="en-US" sz="1000" dirty="0"/>
          </a:p>
        </p:txBody>
      </p:sp>
      <p:sp>
        <p:nvSpPr>
          <p:cNvPr id="9" name="Shape 3"/>
          <p:cNvSpPr/>
          <p:nvPr/>
        </p:nvSpPr>
        <p:spPr>
          <a:xfrm>
            <a:off x="1143000" y="3000146"/>
            <a:ext cx="6286500" cy="295351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4"/>
          <p:cNvSpPr/>
          <p:nvPr/>
        </p:nvSpPr>
        <p:spPr>
          <a:xfrm>
            <a:off x="1143000" y="3000146"/>
            <a:ext cx="28346" cy="295351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5"/>
          <p:cNvSpPr txBox="1"/>
          <p:nvPr/>
        </p:nvSpPr>
        <p:spPr>
          <a:xfrm>
            <a:off x="1285646" y="3000146"/>
            <a:ext cx="61438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Factories Act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1948</a:t>
            </a: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1143000" y="3326587"/>
            <a:ext cx="6286500" cy="295351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7"/>
          <p:cNvSpPr/>
          <p:nvPr/>
        </p:nvSpPr>
        <p:spPr>
          <a:xfrm>
            <a:off x="1143000" y="3326587"/>
            <a:ext cx="28346" cy="295351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8"/>
          <p:cNvSpPr txBox="1"/>
          <p:nvPr/>
        </p:nvSpPr>
        <p:spPr>
          <a:xfrm>
            <a:off x="1285646" y="3326587"/>
            <a:ext cx="61438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Plantations Labour Act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1951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1143000" y="3652114"/>
            <a:ext cx="6286500" cy="295351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0"/>
          <p:cNvSpPr/>
          <p:nvPr/>
        </p:nvSpPr>
        <p:spPr>
          <a:xfrm>
            <a:off x="1143000" y="3652114"/>
            <a:ext cx="28346" cy="295351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1"/>
          <p:cNvSpPr txBox="1"/>
          <p:nvPr/>
        </p:nvSpPr>
        <p:spPr>
          <a:xfrm>
            <a:off x="1285646" y="3652114"/>
            <a:ext cx="61438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Mines Act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1952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143000" y="3977640"/>
            <a:ext cx="6286500" cy="295351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3"/>
          <p:cNvSpPr/>
          <p:nvPr/>
        </p:nvSpPr>
        <p:spPr>
          <a:xfrm>
            <a:off x="1143000" y="3977640"/>
            <a:ext cx="28346" cy="295351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4"/>
          <p:cNvSpPr txBox="1"/>
          <p:nvPr/>
        </p:nvSpPr>
        <p:spPr>
          <a:xfrm>
            <a:off x="1285646" y="3977640"/>
            <a:ext cx="61438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Journalists Act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1955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1143000" y="4303166"/>
            <a:ext cx="6286500" cy="295351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1143000" y="4303166"/>
            <a:ext cx="28346" cy="295351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 txBox="1"/>
          <p:nvPr/>
        </p:nvSpPr>
        <p:spPr>
          <a:xfrm>
            <a:off x="1285646" y="4303166"/>
            <a:ext cx="61438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Journalists Wages Act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1958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143000" y="4629607"/>
            <a:ext cx="6286500" cy="295351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1143000" y="4629607"/>
            <a:ext cx="28346" cy="295351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 txBox="1"/>
          <p:nvPr/>
        </p:nvSpPr>
        <p:spPr>
          <a:xfrm>
            <a:off x="1285646" y="4629607"/>
            <a:ext cx="61438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Transport Workers Act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1961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1143000" y="4955134"/>
            <a:ext cx="6286500" cy="295351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1143000" y="4955134"/>
            <a:ext cx="28346" cy="295351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 txBox="1"/>
          <p:nvPr/>
        </p:nvSpPr>
        <p:spPr>
          <a:xfrm>
            <a:off x="1285646" y="4955134"/>
            <a:ext cx="61438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Beedi &amp; Cigar Workers Act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1966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1143000" y="5280660"/>
            <a:ext cx="6286500" cy="295351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1143000" y="5280660"/>
            <a:ext cx="28346" cy="295351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 txBox="1"/>
          <p:nvPr/>
        </p:nvSpPr>
        <p:spPr>
          <a:xfrm>
            <a:off x="1285646" y="5280660"/>
            <a:ext cx="61438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Labour Act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1970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1143000" y="5607101"/>
            <a:ext cx="6286500" cy="295351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1143000" y="5607101"/>
            <a:ext cx="28346" cy="295351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 txBox="1"/>
          <p:nvPr/>
        </p:nvSpPr>
        <p:spPr>
          <a:xfrm>
            <a:off x="1285646" y="5607101"/>
            <a:ext cx="61438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Promotion Employees Act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1976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1143000" y="5932627"/>
            <a:ext cx="6286500" cy="295351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1"/>
          <p:cNvSpPr/>
          <p:nvPr/>
        </p:nvSpPr>
        <p:spPr>
          <a:xfrm>
            <a:off x="1143000" y="5932627"/>
            <a:ext cx="28346" cy="295351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2"/>
          <p:cNvSpPr txBox="1"/>
          <p:nvPr/>
        </p:nvSpPr>
        <p:spPr>
          <a:xfrm>
            <a:off x="1285646" y="5932627"/>
            <a:ext cx="61438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Inter-State Migrant Workmen Act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1979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1143000" y="6258154"/>
            <a:ext cx="6286500" cy="295351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4"/>
          <p:cNvSpPr/>
          <p:nvPr/>
        </p:nvSpPr>
        <p:spPr>
          <a:xfrm>
            <a:off x="1143000" y="6258154"/>
            <a:ext cx="28346" cy="295351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5"/>
          <p:cNvSpPr txBox="1"/>
          <p:nvPr/>
        </p:nvSpPr>
        <p:spPr>
          <a:xfrm>
            <a:off x="1285646" y="6258154"/>
            <a:ext cx="61438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Cine-Workers &amp; Cinema Theatre Act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1981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1143000" y="6583680"/>
            <a:ext cx="6286500" cy="295351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37"/>
          <p:cNvSpPr/>
          <p:nvPr/>
        </p:nvSpPr>
        <p:spPr>
          <a:xfrm>
            <a:off x="1143000" y="6583680"/>
            <a:ext cx="28346" cy="295351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8"/>
          <p:cNvSpPr txBox="1"/>
          <p:nvPr/>
        </p:nvSpPr>
        <p:spPr>
          <a:xfrm>
            <a:off x="1285646" y="6583680"/>
            <a:ext cx="61438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 Workers (SHW) Act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1986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1143000" y="6910121"/>
            <a:ext cx="6286500" cy="295351"/>
          </a:xfrm>
          <a:prstGeom prst="rect">
            <a:avLst/>
          </a:prstGeom>
          <a:solidFill>
            <a:srgbClr val="F5E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0"/>
          <p:cNvSpPr/>
          <p:nvPr/>
        </p:nvSpPr>
        <p:spPr>
          <a:xfrm>
            <a:off x="1143000" y="6910121"/>
            <a:ext cx="28346" cy="295351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1"/>
          <p:cNvSpPr txBox="1"/>
          <p:nvPr/>
        </p:nvSpPr>
        <p:spPr>
          <a:xfrm>
            <a:off x="1285646" y="6910121"/>
            <a:ext cx="61438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63500" rIns="1143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BOCW Act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0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1996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7715707" y="5572354"/>
            <a:ext cx="952805" cy="933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endParaRPr lang="en-US" sz="6000" dirty="0"/>
          </a:p>
        </p:txBody>
      </p:sp>
      <p:sp>
        <p:nvSpPr>
          <p:cNvPr id="49" name="Text 43"/>
          <p:cNvSpPr txBox="1"/>
          <p:nvPr/>
        </p:nvSpPr>
        <p:spPr>
          <a:xfrm>
            <a:off x="9144000" y="2952598"/>
            <a:ext cx="3810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41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OCCUPATIONAL SAFETY, HEALTH &amp; WC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9144000" y="3286354"/>
            <a:ext cx="7620610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Code, 2020</a:t>
            </a:r>
            <a:endParaRPr lang="en-US" sz="4600" dirty="0"/>
          </a:p>
        </p:txBody>
      </p:sp>
      <p:sp>
        <p:nvSpPr>
          <p:cNvPr id="51" name="Text 45"/>
          <p:cNvSpPr txBox="1"/>
          <p:nvPr/>
        </p:nvSpPr>
        <p:spPr>
          <a:xfrm>
            <a:off x="9144000" y="4048049"/>
            <a:ext cx="7620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80" dirty="0">
                <a:solidFill>
                  <a:srgbClr val="F3E9C7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37 OF 2020 · NOTIFIED 29 SEP 2020 · IN FORCE 21 NOV 2025</a:t>
            </a:r>
            <a:endParaRPr lang="en-US" sz="1200" dirty="0"/>
          </a:p>
        </p:txBody>
      </p:sp>
      <p:pic>
        <p:nvPicPr>
          <p:cNvPr id="52" name="Image 4" descr="gen-dedup-9639bd3a10f3d57486cd7db9b8ce6e0b.png"/>
          <p:cNvPicPr>
            <a:picLocks noChangeAspect="1"/>
          </p:cNvPicPr>
          <p:nvPr/>
        </p:nvPicPr>
        <p:blipFill>
          <a:blip r:embed="rId6"/>
          <a:srcRect t="-384" b="-384"/>
          <a:stretch/>
        </p:blipFill>
        <p:spPr>
          <a:xfrm>
            <a:off x="9144000" y="4476902"/>
            <a:ext cx="952805" cy="19202"/>
          </a:xfrm>
          <a:prstGeom prst="rect">
            <a:avLst/>
          </a:prstGeom>
        </p:spPr>
      </p:pic>
      <p:sp>
        <p:nvSpPr>
          <p:cNvPr id="53" name="Shape 46"/>
          <p:cNvSpPr/>
          <p:nvPr/>
        </p:nvSpPr>
        <p:spPr>
          <a:xfrm>
            <a:off x="9144000" y="5352898"/>
            <a:ext cx="7619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47"/>
          <p:cNvSpPr txBox="1"/>
          <p:nvPr/>
        </p:nvSpPr>
        <p:spPr>
          <a:xfrm>
            <a:off x="9144000" y="4809744"/>
            <a:ext cx="7620610" cy="4489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§I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Registration &amp; duties of employers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II &amp; III</a:t>
            </a:r>
            <a:endParaRPr lang="en-US" sz="1400" dirty="0"/>
          </a:p>
        </p:txBody>
      </p:sp>
      <p:sp>
        <p:nvSpPr>
          <p:cNvPr id="55" name="Shape 48"/>
          <p:cNvSpPr/>
          <p:nvPr/>
        </p:nvSpPr>
        <p:spPr>
          <a:xfrm>
            <a:off x="9144000" y="5898794"/>
            <a:ext cx="7619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49"/>
          <p:cNvSpPr txBox="1"/>
          <p:nvPr/>
        </p:nvSpPr>
        <p:spPr>
          <a:xfrm>
            <a:off x="9144000" y="5355641"/>
            <a:ext cx="7620610" cy="4489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§II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Occupational safety &amp; health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IV</a:t>
            </a:r>
            <a:endParaRPr lang="en-US" sz="1400" dirty="0"/>
          </a:p>
        </p:txBody>
      </p:sp>
      <p:sp>
        <p:nvSpPr>
          <p:cNvPr id="57" name="Shape 50"/>
          <p:cNvSpPr/>
          <p:nvPr/>
        </p:nvSpPr>
        <p:spPr>
          <a:xfrm>
            <a:off x="9144000" y="6444691"/>
            <a:ext cx="7619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1"/>
          <p:cNvSpPr txBox="1"/>
          <p:nvPr/>
        </p:nvSpPr>
        <p:spPr>
          <a:xfrm>
            <a:off x="9144000" y="5901538"/>
            <a:ext cx="7620610" cy="4489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§III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Working hours, leave, welfare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V, VI, VII</a:t>
            </a:r>
            <a:endParaRPr lang="en-US" sz="1400" dirty="0"/>
          </a:p>
        </p:txBody>
      </p:sp>
      <p:sp>
        <p:nvSpPr>
          <p:cNvPr id="59" name="Shape 52"/>
          <p:cNvSpPr/>
          <p:nvPr/>
        </p:nvSpPr>
        <p:spPr>
          <a:xfrm>
            <a:off x="9144000" y="6990588"/>
            <a:ext cx="7619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3"/>
          <p:cNvSpPr txBox="1"/>
          <p:nvPr/>
        </p:nvSpPr>
        <p:spPr>
          <a:xfrm>
            <a:off x="9144000" y="6447434"/>
            <a:ext cx="7620610" cy="4489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§IV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Special provisions: Factories, Mines, Dock, Plantations, BOCW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XI</a:t>
            </a:r>
            <a:endParaRPr lang="en-US" sz="1400" dirty="0"/>
          </a:p>
        </p:txBody>
      </p:sp>
      <p:sp>
        <p:nvSpPr>
          <p:cNvPr id="61" name="Shape 54"/>
          <p:cNvSpPr/>
          <p:nvPr/>
        </p:nvSpPr>
        <p:spPr>
          <a:xfrm>
            <a:off x="9144000" y="7536485"/>
            <a:ext cx="76196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5"/>
          <p:cNvSpPr txBox="1"/>
          <p:nvPr/>
        </p:nvSpPr>
        <p:spPr>
          <a:xfrm>
            <a:off x="9144000" y="6993331"/>
            <a:ext cx="7620610" cy="4489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§V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Contract Labour &amp; ISMW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Sec. 45-58 &amp; 60-64</a:t>
            </a:r>
            <a:endParaRPr lang="en-US" sz="1400" dirty="0"/>
          </a:p>
        </p:txBody>
      </p:sp>
      <p:sp>
        <p:nvSpPr>
          <p:cNvPr id="63" name="Text 56"/>
          <p:cNvSpPr txBox="1"/>
          <p:nvPr/>
        </p:nvSpPr>
        <p:spPr>
          <a:xfrm>
            <a:off x="9144000" y="7539228"/>
            <a:ext cx="762061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§VI</a:t>
            </a:r>
            <a:r>
              <a:rPr lang="en-US" sz="14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Offences &amp; penalties — </a:t>
            </a:r>
            <a:r>
              <a:rPr lang="en-US" sz="1400" i="1" dirty="0">
                <a:solidFill>
                  <a:srgbClr val="F3E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Chap. XII</a:t>
            </a:r>
            <a:endParaRPr lang="en-US" sz="1400" dirty="0"/>
          </a:p>
        </p:txBody>
      </p:sp>
      <p:sp>
        <p:nvSpPr>
          <p:cNvPr id="64" name="Text 57"/>
          <p:cNvSpPr txBox="1"/>
          <p:nvPr/>
        </p:nvSpPr>
        <p:spPr>
          <a:xfrm>
            <a:off x="9144000" y="9001354"/>
            <a:ext cx="7620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3E9C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"One registration, one licence, one return, one law."</a:t>
            </a:r>
            <a:endParaRPr lang="en-US" sz="1600" dirty="0"/>
          </a:p>
        </p:txBody>
      </p:sp>
      <p:sp>
        <p:nvSpPr>
          <p:cNvPr id="65" name="Text 58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OSH CODE · OVERVIEW</a:t>
            </a:r>
            <a:endParaRPr lang="en-US" sz="900" dirty="0"/>
          </a:p>
        </p:txBody>
      </p:sp>
      <p:sp>
        <p:nvSpPr>
          <p:cNvPr id="66" name="Text 59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36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762402"/>
            <a:ext cx="7830007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2476195" y="5191049"/>
            <a:ext cx="6096305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9144000" y="2762402"/>
            <a:ext cx="8020202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0477195" y="5191049"/>
            <a:ext cx="6286500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143000" y="6096305"/>
            <a:ext cx="7830007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476195" y="8524951"/>
            <a:ext cx="6096305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144000" y="6096305"/>
            <a:ext cx="8020202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0477195" y="8524951"/>
            <a:ext cx="6286500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gen-dedup-38d9db64e9131c2aec57f2468bdc88e2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pic>
        <p:nvPicPr>
          <p:cNvPr id="12" name="Image 2" descr="gen-dedup-bf1e7e8f2bf0a9bf5427fa7420cb37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1143000" y="2762402"/>
            <a:ext cx="47549" cy="3047695"/>
          </a:xfrm>
          <a:prstGeom prst="rect">
            <a:avLst/>
          </a:prstGeom>
        </p:spPr>
      </p:pic>
      <p:pic>
        <p:nvPicPr>
          <p:cNvPr id="13" name="Image 3" descr="gen-dedup-bf1e7e8f2bf0a9bf5427fa7420cb37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9144000" y="2762402"/>
            <a:ext cx="47549" cy="3047695"/>
          </a:xfrm>
          <a:prstGeom prst="rect">
            <a:avLst/>
          </a:prstGeom>
        </p:spPr>
      </p:pic>
      <p:pic>
        <p:nvPicPr>
          <p:cNvPr id="14" name="Image 4" descr="gen-dedup-bf1e7e8f2bf0a9bf5427fa7420cb37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1143000" y="6096305"/>
            <a:ext cx="47549" cy="3047695"/>
          </a:xfrm>
          <a:prstGeom prst="rect">
            <a:avLst/>
          </a:prstGeom>
        </p:spPr>
      </p:pic>
      <p:pic>
        <p:nvPicPr>
          <p:cNvPr id="15" name="Image 5" descr="gen-dedup-bf1e7e8f2bf0a9bf5427fa7420cb37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9144000" y="6096305"/>
            <a:ext cx="47549" cy="30476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CHANGES · PART 1 OF 2</a:t>
            </a:r>
            <a:endParaRPr lang="en-US" sz="100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1380744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Formalisation, health &amp; hours</a:t>
            </a:r>
            <a:endParaRPr lang="en-US" sz="4500" dirty="0"/>
          </a:p>
        </p:txBody>
      </p:sp>
      <p:sp>
        <p:nvSpPr>
          <p:cNvPr id="18" name="Text 10"/>
          <p:cNvSpPr txBox="1"/>
          <p:nvPr/>
        </p:nvSpPr>
        <p:spPr>
          <a:xfrm>
            <a:off x="1524305" y="3000146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3300" dirty="0"/>
          </a:p>
        </p:txBody>
      </p:sp>
      <p:sp>
        <p:nvSpPr>
          <p:cNvPr id="19" name="Text 11"/>
          <p:cNvSpPr txBox="1"/>
          <p:nvPr/>
        </p:nvSpPr>
        <p:spPr>
          <a:xfrm>
            <a:off x="2476195" y="3000146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6 · CHAPTER III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2476195" y="3238805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Mandatory appointment letters</a:t>
            </a:r>
            <a:endParaRPr lang="en-US" sz="2400" dirty="0"/>
          </a:p>
        </p:txBody>
      </p:sp>
      <p:sp>
        <p:nvSpPr>
          <p:cNvPr id="21" name="Text 13"/>
          <p:cNvSpPr txBox="1"/>
          <p:nvPr/>
        </p:nvSpPr>
        <p:spPr>
          <a:xfrm>
            <a:off x="2476195" y="3810305"/>
            <a:ext cx="6096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employee —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including contract labour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must receive a written appointment letter in the prescribed format: designation, wages, category, social security details, date of joining.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2619756" y="5257800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most important formalisation lever.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9525305" y="3000146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3300" dirty="0"/>
          </a:p>
        </p:txBody>
      </p:sp>
      <p:sp>
        <p:nvSpPr>
          <p:cNvPr id="24" name="Text 16"/>
          <p:cNvSpPr txBox="1"/>
          <p:nvPr/>
        </p:nvSpPr>
        <p:spPr>
          <a:xfrm>
            <a:off x="10477195" y="3000146"/>
            <a:ext cx="6286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6(1)(g)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0477195" y="3238805"/>
            <a:ext cx="6286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Free annual health check-ups</a:t>
            </a:r>
            <a:endParaRPr lang="en-US" sz="2400" dirty="0"/>
          </a:p>
        </p:txBody>
      </p:sp>
      <p:sp>
        <p:nvSpPr>
          <p:cNvPr id="26" name="Text 18"/>
          <p:cNvSpPr txBox="1"/>
          <p:nvPr/>
        </p:nvSpPr>
        <p:spPr>
          <a:xfrm>
            <a:off x="10477195" y="3810305"/>
            <a:ext cx="6286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employee gets an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health check-up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at employer's cost. Coverage tiers: workers above prescribed age; hazardous processes; women.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10620756" y="5257800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Bake OHC vendor contracts into employee lifecycle.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524305" y="6334049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3300" dirty="0"/>
          </a:p>
        </p:txBody>
      </p:sp>
      <p:sp>
        <p:nvSpPr>
          <p:cNvPr id="29" name="Text 21"/>
          <p:cNvSpPr txBox="1"/>
          <p:nvPr/>
        </p:nvSpPr>
        <p:spPr>
          <a:xfrm>
            <a:off x="2476195" y="6334049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SECTIONS 25 &amp; 28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2476195" y="6572707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Working hours &amp; leave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2476195" y="7144207"/>
            <a:ext cx="6096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hrs/day &amp; 48 hrs/week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cap. Flexi-schedules with consent: 4×12, 5×9.5, 6×8. Paid leave eligibility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180 days worked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(was 240). OT at 2× normal wage.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2619756" y="8591702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patterns can be redesigned with written consent.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9525305" y="6334049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3300" dirty="0"/>
          </a:p>
        </p:txBody>
      </p:sp>
      <p:sp>
        <p:nvSpPr>
          <p:cNvPr id="34" name="Text 26"/>
          <p:cNvSpPr txBox="1"/>
          <p:nvPr/>
        </p:nvSpPr>
        <p:spPr>
          <a:xfrm>
            <a:off x="10477195" y="6334049"/>
            <a:ext cx="6286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43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477195" y="6572707"/>
            <a:ext cx="6286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Women in night shifts</a:t>
            </a:r>
            <a:endParaRPr lang="en-US" sz="2400" dirty="0"/>
          </a:p>
        </p:txBody>
      </p:sp>
      <p:sp>
        <p:nvSpPr>
          <p:cNvPr id="36" name="Text 28"/>
          <p:cNvSpPr txBox="1"/>
          <p:nvPr/>
        </p:nvSpPr>
        <p:spPr>
          <a:xfrm>
            <a:off x="10477195" y="7144207"/>
            <a:ext cx="6286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 can work in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establishments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during night hours (before 6 am / after 7 pm) with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written consent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prescribed safety, welfare, transport arrangements.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10620756" y="8591702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Broader talent pool; layered POSH + safety obligations.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143000" y="9667951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OSH Code 2020 (Act 37 of 2020) · PIB Factsheet Id 150475 · MoLE FAQ 16 Mar 2026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OSH CODE · MAJOR CHANGES 1/2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37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762402"/>
            <a:ext cx="7830007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2476195" y="5191049"/>
            <a:ext cx="6096305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9144000" y="2762402"/>
            <a:ext cx="8020202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0477195" y="5191049"/>
            <a:ext cx="6286500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143000" y="6096305"/>
            <a:ext cx="7830007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476195" y="8524951"/>
            <a:ext cx="6096305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144000" y="6096305"/>
            <a:ext cx="8020202" cy="3066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0477195" y="8524951"/>
            <a:ext cx="6286500" cy="362102"/>
          </a:xfrm>
          <a:prstGeom prst="rect">
            <a:avLst/>
          </a:prstGeom>
          <a:solidFill>
            <a:srgbClr val="F8F5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gen-dedup-38d9db64e9131c2aec57f2468bdc88e2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544507"/>
            <a:ext cx="16002000" cy="9144"/>
          </a:xfrm>
          <a:prstGeom prst="rect">
            <a:avLst/>
          </a:prstGeom>
        </p:spPr>
      </p:pic>
      <p:pic>
        <p:nvPicPr>
          <p:cNvPr id="12" name="Image 2" descr="gen-dedup-bf1e7e8f2bf0a9bf5427fa7420cb37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1143000" y="2762402"/>
            <a:ext cx="47549" cy="3047695"/>
          </a:xfrm>
          <a:prstGeom prst="rect">
            <a:avLst/>
          </a:prstGeom>
        </p:spPr>
      </p:pic>
      <p:pic>
        <p:nvPicPr>
          <p:cNvPr id="13" name="Image 3" descr="gen-dedup-bf1e7e8f2bf0a9bf5427fa7420cb37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9144000" y="2762402"/>
            <a:ext cx="47549" cy="3047695"/>
          </a:xfrm>
          <a:prstGeom prst="rect">
            <a:avLst/>
          </a:prstGeom>
        </p:spPr>
      </p:pic>
      <p:pic>
        <p:nvPicPr>
          <p:cNvPr id="14" name="Image 4" descr="gen-dedup-bf1e7e8f2bf0a9bf5427fa7420cb37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1143000" y="6096305"/>
            <a:ext cx="47549" cy="3047695"/>
          </a:xfrm>
          <a:prstGeom prst="rect">
            <a:avLst/>
          </a:prstGeom>
        </p:spPr>
      </p:pic>
      <p:pic>
        <p:nvPicPr>
          <p:cNvPr id="15" name="Image 5" descr="gen-dedup-bf1e7e8f2bf0a9bf5427fa7420cb37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9144000" y="6096305"/>
            <a:ext cx="47549" cy="30476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CHANGES · PART 2 OF 2</a:t>
            </a:r>
            <a:endParaRPr lang="en-US" sz="100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1380744"/>
            <a:ext cx="16573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Contract Labour, ISMW, single-window compliance</a:t>
            </a:r>
            <a:endParaRPr lang="en-US" sz="4500" dirty="0"/>
          </a:p>
        </p:txBody>
      </p:sp>
      <p:sp>
        <p:nvSpPr>
          <p:cNvPr id="18" name="Text 10"/>
          <p:cNvSpPr txBox="1"/>
          <p:nvPr/>
        </p:nvSpPr>
        <p:spPr>
          <a:xfrm>
            <a:off x="1524305" y="3000146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3300" dirty="0"/>
          </a:p>
        </p:txBody>
      </p:sp>
      <p:sp>
        <p:nvSpPr>
          <p:cNvPr id="19" name="Text 11"/>
          <p:cNvSpPr txBox="1"/>
          <p:nvPr/>
        </p:nvSpPr>
        <p:spPr>
          <a:xfrm>
            <a:off x="2476195" y="3000146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SECTIONS 45–58 · CHAPTER XI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2476195" y="3238805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Contract Labour — 20 → 50</a:t>
            </a:r>
            <a:endParaRPr lang="en-US" sz="2400" dirty="0"/>
          </a:p>
        </p:txBody>
      </p:sp>
      <p:sp>
        <p:nvSpPr>
          <p:cNvPr id="21" name="Text 13"/>
          <p:cNvSpPr txBox="1"/>
          <p:nvPr/>
        </p:nvSpPr>
        <p:spPr>
          <a:xfrm>
            <a:off x="2476195" y="3810305"/>
            <a:ext cx="6096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Contract-labour chapter triggers at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workers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(was 20).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All-India licence for 5 years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contractors; work-order-based system replaces the earlier per-project licence.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2619756" y="5257800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governance framework must be refreshed.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9525305" y="3000146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3300" dirty="0"/>
          </a:p>
        </p:txBody>
      </p:sp>
      <p:sp>
        <p:nvSpPr>
          <p:cNvPr id="24" name="Text 16"/>
          <p:cNvSpPr txBox="1"/>
          <p:nvPr/>
        </p:nvSpPr>
        <p:spPr>
          <a:xfrm>
            <a:off x="10477195" y="3000146"/>
            <a:ext cx="6286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SECTIONS 60–64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0477195" y="3238805"/>
            <a:ext cx="6286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ISMW — wider definition</a:t>
            </a:r>
            <a:endParaRPr lang="en-US" sz="2400" dirty="0"/>
          </a:p>
        </p:txBody>
      </p:sp>
      <p:sp>
        <p:nvSpPr>
          <p:cNvPr id="26" name="Text 18"/>
          <p:cNvSpPr txBox="1"/>
          <p:nvPr/>
        </p:nvSpPr>
        <p:spPr>
          <a:xfrm>
            <a:off x="10477195" y="3810305"/>
            <a:ext cx="6286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Inter-State Migrant Workers now include those employed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directly, via contractor, or self-migrating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Journey allowance to native place once a year; PDS &amp; BOCW portability; toll-free helpline.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10620756" y="5257800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Declare ISMW in registration; travel allowance accrual.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524305" y="6334049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07</a:t>
            </a:r>
            <a:endParaRPr lang="en-US" sz="3300" dirty="0"/>
          </a:p>
        </p:txBody>
      </p:sp>
      <p:sp>
        <p:nvSpPr>
          <p:cNvPr id="29" name="Text 21"/>
          <p:cNvSpPr txBox="1"/>
          <p:nvPr/>
        </p:nvSpPr>
        <p:spPr>
          <a:xfrm>
            <a:off x="2476195" y="6334049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SECTIONS 3 &amp; 4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2476195" y="6572707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Single-window compliance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2476195" y="7144207"/>
            <a:ext cx="6096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Electronic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registration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10 employees.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all-India licence, one return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replaces 6 registrations / 4 licences / 21 returns. Registers cut from 84 → 8.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2619756" y="8591702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Migrate to Shram Suvidha; retire legacy paper registers.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9525305" y="6334049"/>
            <a:ext cx="76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08</a:t>
            </a:r>
            <a:endParaRPr lang="en-US" sz="3300" dirty="0"/>
          </a:p>
        </p:txBody>
      </p:sp>
      <p:sp>
        <p:nvSpPr>
          <p:cNvPr id="34" name="Text 26"/>
          <p:cNvSpPr txBox="1"/>
          <p:nvPr/>
        </p:nvSpPr>
        <p:spPr>
          <a:xfrm>
            <a:off x="10477195" y="6334049"/>
            <a:ext cx="6286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22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477195" y="6572707"/>
            <a:ext cx="6286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Safety Committee — 500/250/100</a:t>
            </a:r>
            <a:endParaRPr lang="en-US" sz="2400" dirty="0"/>
          </a:p>
        </p:txBody>
      </p:sp>
      <p:sp>
        <p:nvSpPr>
          <p:cNvPr id="36" name="Text 28"/>
          <p:cNvSpPr txBox="1"/>
          <p:nvPr/>
        </p:nvSpPr>
        <p:spPr>
          <a:xfrm>
            <a:off x="10477195" y="7144207"/>
            <a:ext cx="6286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Safety Committees: factories with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500 workers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BOCW sites with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250 workers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mines with </a:t>
            </a:r>
            <a:r>
              <a:rPr lang="en-US" sz="13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100 workers</a:t>
            </a:r>
            <a:r>
              <a:rPr lang="en-US" sz="13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Equal employer-worker representation.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10620756" y="8591702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</a:t>
            </a:r>
            <a:r>
              <a:rPr lang="en-US" sz="1000" dirty="0">
                <a:solidFill>
                  <a:srgbClr val="15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Constitute committee &amp; document quarterly minutes.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143000" y="9667951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OSH Code 2020 · PIB Factsheet Id 150475 · Cyril Amarchand Guide (Nov 2025)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OSH CODE · MAJOR CHANGES 2/2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38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pic>
        <p:nvPicPr>
          <p:cNvPr id="3" name="Image 1" descr="gen-dedup-38d9db64e9131c2aec57f2468bdc88e2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572854"/>
            <a:ext cx="16002000" cy="91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THRESHOLD READY-RECKONER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1143000" y="1380744"/>
            <a:ext cx="1518727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Every headcount, every duty — at a glance</a:t>
            </a:r>
            <a:endParaRPr lang="en-US" sz="4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67305"/>
          <a:ext cx="16002000" cy="5998544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6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5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3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F8F5EE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Compliance duty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F8F5EE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Old law threshold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C9A227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New Code threshold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F8F5EE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Source section</a:t>
                      </a:r>
                      <a:endParaRPr lang="en-US" sz="16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Factory registration — with power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10 workers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20 workers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A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Sec. 2(w) OSH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Factory registration — without power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20 workers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40 workers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A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Sec. 2(w) OSH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Contract labour chapter applicability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20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50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A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Sec. 45 OSH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Standing Orders certification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100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300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A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Sec. 28 IR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 approval — lay-off / retrenchment / closure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100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300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A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Sec. 77 IR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Grievance Redressal Committee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50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20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A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Sec. 4 IR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Safety Committee — factory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—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500 workers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A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Sec. 22 OSH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Crèche facility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30 women / 50 (MB)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50 (gender-neutral)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A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Sec. 24 OSH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EPF applicability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20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20 (unchanged)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A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Sec. 2(38) 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ESI applicability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0F1F3D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10 (notified areas)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B8860B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10 (pan-India)</a:t>
                      </a:r>
                      <a:endParaRPr lang="en-US" sz="1425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A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Sec. 28 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9398" marR="209398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1143000" y="9696298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Applicable Sections of Code on Wages, IR, SS &amp; OSH Codes · MoLE FAQ 16 Mar 2026 · PIB Factsheets 2025-26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 READY-RECKONER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39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af3b0884c94f655e5366e496a60d645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762402"/>
            <a:ext cx="16068751" cy="15435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43000" y="2762402"/>
            <a:ext cx="57607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13144500" y="3047695"/>
            <a:ext cx="3810305" cy="952805"/>
          </a:xfrm>
          <a:prstGeom prst="roundRect">
            <a:avLst>
              <a:gd name="adj" fmla="val 2015"/>
            </a:avLst>
          </a:prstGeom>
          <a:solidFill>
            <a:srgbClr val="FB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143000" y="4429354"/>
            <a:ext cx="16068751" cy="15435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143000" y="4429354"/>
            <a:ext cx="57607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3144500" y="4714646"/>
            <a:ext cx="3810305" cy="952805"/>
          </a:xfrm>
          <a:prstGeom prst="roundRect">
            <a:avLst>
              <a:gd name="adj" fmla="val 2015"/>
            </a:avLst>
          </a:prstGeom>
          <a:solidFill>
            <a:srgbClr val="FB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143000" y="6096305"/>
            <a:ext cx="16068751" cy="15435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143000" y="6096305"/>
            <a:ext cx="57607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3144500" y="6381598"/>
            <a:ext cx="3810305" cy="952805"/>
          </a:xfrm>
          <a:prstGeom prst="roundRect">
            <a:avLst>
              <a:gd name="adj" fmla="val 2015"/>
            </a:avLst>
          </a:prstGeom>
          <a:solidFill>
            <a:srgbClr val="FB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1143000" y="7763256"/>
            <a:ext cx="16068751" cy="15435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1143000" y="7763256"/>
            <a:ext cx="57607" cy="1543507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13144500" y="8048549"/>
            <a:ext cx="3810305" cy="952805"/>
          </a:xfrm>
          <a:prstGeom prst="roundRect">
            <a:avLst>
              <a:gd name="adj" fmla="val 2015"/>
            </a:avLst>
          </a:prstGeom>
          <a:solidFill>
            <a:srgbClr val="FB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gen-dedup-38d9db64e9131c2aec57f2468bdc88e2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572854"/>
            <a:ext cx="16002000" cy="91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68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PITFALLS · OSH CODE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1380744"/>
            <a:ext cx="16573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Where safety &amp; formalisation duties are missed</a:t>
            </a:r>
            <a:endParaRPr lang="en-US" sz="4500" dirty="0"/>
          </a:p>
        </p:txBody>
      </p:sp>
      <p:sp>
        <p:nvSpPr>
          <p:cNvPr id="18" name="Text 14"/>
          <p:cNvSpPr txBox="1"/>
          <p:nvPr/>
        </p:nvSpPr>
        <p:spPr>
          <a:xfrm>
            <a:off x="1429207" y="3000146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3300" dirty="0"/>
          </a:p>
        </p:txBody>
      </p:sp>
      <p:sp>
        <p:nvSpPr>
          <p:cNvPr id="19" name="Text 15"/>
          <p:cNvSpPr txBox="1"/>
          <p:nvPr/>
        </p:nvSpPr>
        <p:spPr>
          <a:xfrm>
            <a:off x="2190902" y="2905049"/>
            <a:ext cx="9525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 appointment letter — even for existing staff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2190902" y="3238805"/>
            <a:ext cx="10478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logistics firm inherited 300 workers from acquisition. Believes existing "verbal appointment" continues. Section 6 requires the </a:t>
            </a:r>
            <a:r>
              <a:rPr lang="en-US" sz="1200" b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prescribed appointment letter for every employee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 legacy exemption.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3334695" y="3191256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· Sec. 94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3334695" y="3429000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₹2,00,000 – ₹3,00,000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3334695" y="3733495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penalty for offences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429207" y="4667098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3300" dirty="0"/>
          </a:p>
        </p:txBody>
      </p:sp>
      <p:sp>
        <p:nvSpPr>
          <p:cNvPr id="25" name="Text 21"/>
          <p:cNvSpPr txBox="1"/>
          <p:nvPr/>
        </p:nvSpPr>
        <p:spPr>
          <a:xfrm>
            <a:off x="2190902" y="4572000"/>
            <a:ext cx="9525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Contract labour engaged from an unlicensed contractor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2190902" y="4905756"/>
            <a:ext cx="10478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Manufacturing plant with 60 contract workers relies on a housekeeping vendor whose all-India licence lapsed. Section 47(1) prohibits engagement from a non-licensed contractor — </a:t>
            </a:r>
            <a:r>
              <a:rPr lang="en-US" sz="1200" b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principal employer liable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3334695" y="4858207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· Sec. 94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3334695" y="5095951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₹1,00,000 – ₹3,00,000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13334695" y="5381244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back-wages liability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1429207" y="6334049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3300" dirty="0"/>
          </a:p>
        </p:txBody>
      </p:sp>
      <p:sp>
        <p:nvSpPr>
          <p:cNvPr id="31" name="Text 27"/>
          <p:cNvSpPr txBox="1"/>
          <p:nvPr/>
        </p:nvSpPr>
        <p:spPr>
          <a:xfrm>
            <a:off x="2190902" y="6238951"/>
            <a:ext cx="10478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Women deployed at night without written consent + safety plan</a:t>
            </a:r>
            <a:endParaRPr lang="en-US" sz="1900" dirty="0"/>
          </a:p>
        </p:txBody>
      </p:sp>
      <p:sp>
        <p:nvSpPr>
          <p:cNvPr id="32" name="Text 28"/>
          <p:cNvSpPr txBox="1"/>
          <p:nvPr/>
        </p:nvSpPr>
        <p:spPr>
          <a:xfrm>
            <a:off x="2190902" y="6572707"/>
            <a:ext cx="10478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BPO extends shifts beyond 7 pm for women employees without individual </a:t>
            </a:r>
            <a:r>
              <a:rPr lang="en-US" sz="1200" b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written consent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without transport / security arrangements. Contravention of Sec. 43 — plus a workplace safety incident is a criminal risk.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13334695" y="6524244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13334695" y="6762902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Up to ₹3,00,000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13334695" y="7048195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Escalated if injury / harassment follows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1429207" y="8001000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3300" dirty="0"/>
          </a:p>
        </p:txBody>
      </p:sp>
      <p:sp>
        <p:nvSpPr>
          <p:cNvPr id="37" name="Text 33"/>
          <p:cNvSpPr txBox="1"/>
          <p:nvPr/>
        </p:nvSpPr>
        <p:spPr>
          <a:xfrm>
            <a:off x="2190902" y="7905902"/>
            <a:ext cx="10478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Contravention causing serious bodily injury or death</a:t>
            </a:r>
            <a:endParaRPr lang="en-US" sz="1900" dirty="0"/>
          </a:p>
        </p:txBody>
      </p:sp>
      <p:sp>
        <p:nvSpPr>
          <p:cNvPr id="38" name="Text 34"/>
          <p:cNvSpPr txBox="1"/>
          <p:nvPr/>
        </p:nvSpPr>
        <p:spPr>
          <a:xfrm>
            <a:off x="2190902" y="8238744"/>
            <a:ext cx="10478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Plant manager ignores flagged hazard on a boiler; a technician suffers grievous injury. Under Sec. 95, if a contravention causes death: </a:t>
            </a:r>
            <a:r>
              <a:rPr lang="en-US" sz="1200" b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imprisonment up to 2 yrs + fine up to ₹5,00,000</a:t>
            </a: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Courts may direct 50% of the fine as victim compensation.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13334695" y="8191195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· Sec. 95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13334695" y="8429854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Up to 2 yrs + ₹5,00,000</a:t>
            </a:r>
            <a:endParaRPr lang="en-US" sz="1600" dirty="0"/>
          </a:p>
        </p:txBody>
      </p:sp>
      <p:sp>
        <p:nvSpPr>
          <p:cNvPr id="41" name="Text 37"/>
          <p:cNvSpPr txBox="1"/>
          <p:nvPr/>
        </p:nvSpPr>
        <p:spPr>
          <a:xfrm>
            <a:off x="13334695" y="8715146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Occupier + Manager both liable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1143000" y="9696298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Sec. 6, 43, 47, 94, 95, 96 of OSH Code · MoLE FAQ 16 Mar 2026 · PIB Factsheet Id 150475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OSH CODE · PITFALLS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40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6452cb36722d5fa805e613771ce1a31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pic>
        <p:nvPicPr>
          <p:cNvPr id="3" name="Image 1" descr="gen-dedup-249db179fa6fc54706b8b2c0bbf6a854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1143000" y="2762402"/>
            <a:ext cx="7810805" cy="6286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24305" y="8191195"/>
            <a:ext cx="7067398" cy="590702"/>
          </a:xfrm>
          <a:prstGeom prst="rect">
            <a:avLst/>
          </a:prstGeom>
          <a:solidFill>
            <a:srgbClr val="C9A227">
              <a:alpha val="15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2" descr="gen-dedup-38d9db64e9131c2aec57f2468bdc88e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572854"/>
            <a:ext cx="16002000" cy="91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68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SAFEGUARDS · OSH CODE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1380744"/>
            <a:ext cx="16573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safety-first, paper-light compliance regime</a:t>
            </a:r>
            <a:endParaRPr lang="en-US" sz="4500" dirty="0"/>
          </a:p>
        </p:txBody>
      </p:sp>
      <p:sp>
        <p:nvSpPr>
          <p:cNvPr id="8" name="Text 3"/>
          <p:cNvSpPr txBox="1"/>
          <p:nvPr/>
        </p:nvSpPr>
        <p:spPr>
          <a:xfrm>
            <a:off x="1524305" y="3095244"/>
            <a:ext cx="7049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OSH COMPLIANCE PROTOCOL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1524305" y="3381451"/>
            <a:ext cx="70491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Contract → Consent → Commit → Certify</a:t>
            </a:r>
            <a:endParaRPr lang="en-US" sz="2800" dirty="0"/>
          </a:p>
        </p:txBody>
      </p:sp>
      <p:pic>
        <p:nvPicPr>
          <p:cNvPr id="10" name="Image 3" descr="gen-dedup-587bf74b6462f210fb4a2245c25dbfdf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524305" y="4381805"/>
            <a:ext cx="761695" cy="192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524305" y="5629046"/>
            <a:ext cx="70481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6"/>
          <p:cNvSpPr txBox="1"/>
          <p:nvPr/>
        </p:nvSpPr>
        <p:spPr>
          <a:xfrm>
            <a:off x="1524305" y="4714646"/>
            <a:ext cx="7049110" cy="7818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·</a:t>
            </a: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Appointment letter to every employee, including contract labour. Backfill legacy.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1524305" y="6553505"/>
            <a:ext cx="70481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8"/>
          <p:cNvSpPr txBox="1"/>
          <p:nvPr/>
        </p:nvSpPr>
        <p:spPr>
          <a:xfrm>
            <a:off x="1524305" y="5639105"/>
            <a:ext cx="7049110" cy="7818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 ·</a:t>
            </a: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Written consent + safety &amp; transport plan for every woman on night shift.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1524305" y="7477049"/>
            <a:ext cx="7048195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 txBox="1"/>
          <p:nvPr/>
        </p:nvSpPr>
        <p:spPr>
          <a:xfrm>
            <a:off x="1524305" y="6562649"/>
            <a:ext cx="7049110" cy="7818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 ·</a:t>
            </a: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Annual health check-ups, safety committee, crèche where thresholds are crossed.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524305" y="7487107"/>
            <a:ext cx="70491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 ·</a:t>
            </a:r>
            <a:r>
              <a:rPr lang="en-US" sz="15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Certify</a:t>
            </a:r>
            <a:r>
              <a:rPr lang="en-US" sz="15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Contractor's all-India licence verified &amp; refreshed 90 days before expiry.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714500" y="8363102"/>
            <a:ext cx="696498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"The principal employer is the safety net of last resort."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430207" y="2762402"/>
            <a:ext cx="7715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CHECKLIST · 6 SAFEGUARDS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9430207" y="4286707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9430207" y="3247949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9430207" y="3247949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9430207" y="5487314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9430207" y="4447642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9430207" y="4447642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9430207" y="6409944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9430207" y="5647334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9430207" y="5647334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9430207" y="7605979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9430207" y="6567221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9430207" y="6567221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9430207" y="8528609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9430207" y="7766914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/>
          <p:nvPr/>
        </p:nvSpPr>
        <p:spPr>
          <a:xfrm>
            <a:off x="9430207" y="7766914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9430207" y="8686800"/>
            <a:ext cx="418795" cy="418795"/>
          </a:xfrm>
          <a:prstGeom prst="ellipse">
            <a:avLst/>
          </a:prstGeom>
          <a:solidFill>
            <a:srgbClr val="DC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0"/>
          <p:cNvSpPr/>
          <p:nvPr/>
        </p:nvSpPr>
        <p:spPr>
          <a:xfrm>
            <a:off x="9430207" y="8686800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10039198" y="3276295"/>
            <a:ext cx="428853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Universal appointment-letter drive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039198" y="3620110"/>
            <a:ext cx="658185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template · issued to every existing &amp; new employee (incl. contract labour) · signed acknowledgement archived.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10039198" y="4476902"/>
            <a:ext cx="427207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Contractor governance framework</a:t>
            </a:r>
            <a:endParaRPr lang="en-US" sz="1600" dirty="0"/>
          </a:p>
        </p:txBody>
      </p:sp>
      <p:sp>
        <p:nvSpPr>
          <p:cNvPr id="40" name="Text 34"/>
          <p:cNvSpPr txBox="1"/>
          <p:nvPr/>
        </p:nvSpPr>
        <p:spPr>
          <a:xfrm>
            <a:off x="10039198" y="4819802"/>
            <a:ext cx="69540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All-India licence copy on file · quarterly renewal alerts · minimum-wage &amp; PF/ESI attestation from contractor.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10039198" y="5676595"/>
            <a:ext cx="440649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Annual health check-up programme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039198" y="6020410"/>
            <a:ext cx="66394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Empanelled Occupational Health Centre · calendar drives · confidential record trail.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10039198" y="6595567"/>
            <a:ext cx="29151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Women night-shift SOP</a:t>
            </a:r>
            <a:endParaRPr lang="en-US" sz="1600" dirty="0"/>
          </a:p>
        </p:txBody>
      </p:sp>
      <p:sp>
        <p:nvSpPr>
          <p:cNvPr id="44" name="Text 38"/>
          <p:cNvSpPr txBox="1"/>
          <p:nvPr/>
        </p:nvSpPr>
        <p:spPr>
          <a:xfrm>
            <a:off x="10039198" y="6939382"/>
            <a:ext cx="68964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Written consent · GPS-tracked transport · buddy roster · POSH refreshers · monthly incident-log review.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10039198" y="7795260"/>
            <a:ext cx="452445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Safety committee &amp; incident register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039198" y="8139074"/>
            <a:ext cx="65059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Constituted at 500 workers · quarterly minutes · third-party safety audit annually.</a:t>
            </a:r>
            <a:endParaRPr lang="en-US" sz="1200" dirty="0"/>
          </a:p>
        </p:txBody>
      </p:sp>
      <p:sp>
        <p:nvSpPr>
          <p:cNvPr id="47" name="Text 41"/>
          <p:cNvSpPr txBox="1"/>
          <p:nvPr/>
        </p:nvSpPr>
        <p:spPr>
          <a:xfrm>
            <a:off x="10039198" y="8715146"/>
            <a:ext cx="4668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ISMW declaration &amp; benefits calendar</a:t>
            </a:r>
            <a:endParaRPr lang="en-US" sz="1600" dirty="0"/>
          </a:p>
        </p:txBody>
      </p:sp>
      <p:sp>
        <p:nvSpPr>
          <p:cNvPr id="48" name="Text 42"/>
          <p:cNvSpPr txBox="1"/>
          <p:nvPr/>
        </p:nvSpPr>
        <p:spPr>
          <a:xfrm>
            <a:off x="10039198" y="9058961"/>
            <a:ext cx="75538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Declared in registration · annual travel allowance accrual · eShram/PDS portability documented.</a:t>
            </a:r>
            <a:endParaRPr lang="en-US" sz="1200" dirty="0"/>
          </a:p>
        </p:txBody>
      </p:sp>
      <p:sp>
        <p:nvSpPr>
          <p:cNvPr id="49" name="Text 43"/>
          <p:cNvSpPr txBox="1"/>
          <p:nvPr/>
        </p:nvSpPr>
        <p:spPr>
          <a:xfrm>
            <a:off x="1143000" y="9696298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Practitioner guidance from Sec. 6, 22, 43, 45-58, 60-64 of OSH Code · OSH (Central) Rules 2026 · PIB Factsheet Id 150475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OSH CODE · SAFEGUARDS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41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375be14941e62041ad24427fe080590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2667305"/>
            <a:ext cx="7620610" cy="2915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0" i="1" dirty="0">
                <a:solidFill>
                  <a:srgbClr val="C9A227">
                    <a:alpha val="18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VII</a:t>
            </a:r>
            <a:endParaRPr lang="en-US" sz="25500" dirty="0"/>
          </a:p>
        </p:txBody>
      </p:sp>
      <p:pic>
        <p:nvPicPr>
          <p:cNvPr id="4" name="Image 1" descr="gen-dedup-e3fdc12e66f4c942a9280406b7949b65.png"/>
          <p:cNvPicPr>
            <a:picLocks noChangeAspect="1"/>
          </p:cNvPicPr>
          <p:nvPr/>
        </p:nvPicPr>
        <p:blipFill>
          <a:blip r:embed="rId3"/>
          <a:srcRect l="-392" r="-392"/>
          <a:stretch/>
        </p:blipFill>
        <p:spPr>
          <a:xfrm>
            <a:off x="6096305" y="4238244"/>
            <a:ext cx="666598" cy="2834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53098" y="4143146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42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SEVEN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096305" y="4524451"/>
            <a:ext cx="11430000" cy="9244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Road Ahead</a:t>
            </a:r>
            <a:endParaRPr lang="en-US" sz="6900" dirty="0"/>
          </a:p>
        </p:txBody>
      </p:sp>
      <p:sp>
        <p:nvSpPr>
          <p:cNvPr id="7" name="Text 3"/>
          <p:cNvSpPr txBox="1"/>
          <p:nvPr/>
        </p:nvSpPr>
        <p:spPr>
          <a:xfrm>
            <a:off x="6096305" y="5762549"/>
            <a:ext cx="11430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F3E9C7">
                    <a:alpha val="8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Where India stands today — and the 30-60-90 day action plan for every business.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9858146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93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CCC · 17 JULY 2026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7145000" y="9858146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42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pic>
        <p:nvPicPr>
          <p:cNvPr id="3" name="Image 1" descr="gen-dedup-729209499b5e800986b0fd5b6cbe8f4e.png"/>
          <p:cNvPicPr>
            <a:picLocks noChangeAspect="1"/>
          </p:cNvPicPr>
          <p:nvPr/>
        </p:nvPicPr>
        <p:blipFill>
          <a:blip r:embed="rId3"/>
          <a:srcRect l="-397" r="-397"/>
          <a:stretch/>
        </p:blipFill>
        <p:spPr>
          <a:xfrm>
            <a:off x="1904695" y="2762402"/>
            <a:ext cx="38405" cy="6096305"/>
          </a:xfrm>
          <a:prstGeom prst="rect">
            <a:avLst/>
          </a:prstGeom>
        </p:spPr>
      </p:pic>
      <p:pic>
        <p:nvPicPr>
          <p:cNvPr id="4" name="Image 2" descr="gen-dedup-b037c200bb250c848b584279e246cf62.png"/>
          <p:cNvPicPr>
            <a:picLocks noChangeAspect="1"/>
          </p:cNvPicPr>
          <p:nvPr/>
        </p:nvPicPr>
        <p:blipFill>
          <a:blip r:embed="rId4"/>
          <a:srcRect l="-21" r="-21"/>
          <a:stretch/>
        </p:blipFill>
        <p:spPr>
          <a:xfrm>
            <a:off x="5143500" y="4667098"/>
            <a:ext cx="12039905" cy="761695"/>
          </a:xfrm>
          <a:prstGeom prst="rect">
            <a:avLst/>
          </a:prstGeom>
        </p:spPr>
      </p:pic>
      <p:pic>
        <p:nvPicPr>
          <p:cNvPr id="5" name="Image 3" descr="gen-dedup-b037c200bb250c848b584279e246cf62.png"/>
          <p:cNvPicPr>
            <a:picLocks noChangeAspect="1"/>
          </p:cNvPicPr>
          <p:nvPr/>
        </p:nvPicPr>
        <p:blipFill>
          <a:blip r:embed="rId4"/>
          <a:srcRect l="-21" r="-21"/>
          <a:stretch/>
        </p:blipFill>
        <p:spPr>
          <a:xfrm>
            <a:off x="5143500" y="7524598"/>
            <a:ext cx="12039905" cy="761695"/>
          </a:xfrm>
          <a:prstGeom prst="rect">
            <a:avLst/>
          </a:prstGeom>
        </p:spPr>
      </p:pic>
      <p:pic>
        <p:nvPicPr>
          <p:cNvPr id="6" name="Image 4" descr="gen-dedup-38d9db64e9131c2aec57f2468bdc88e2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43000" y="9572854"/>
            <a:ext cx="16002000" cy="9144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1772107" y="2876702"/>
            <a:ext cx="400507" cy="400507"/>
          </a:xfrm>
          <a:prstGeom prst="ellipse">
            <a:avLst/>
          </a:prstGeom>
          <a:solidFill>
            <a:srgbClr val="C9A227"/>
          </a:solidFill>
          <a:ln w="63500">
            <a:solidFill>
              <a:srgbClr val="FDF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1"/>
          <p:cNvSpPr/>
          <p:nvPr/>
        </p:nvSpPr>
        <p:spPr>
          <a:xfrm>
            <a:off x="1772107" y="3829507"/>
            <a:ext cx="400507" cy="400507"/>
          </a:xfrm>
          <a:prstGeom prst="ellipse">
            <a:avLst/>
          </a:prstGeom>
          <a:solidFill>
            <a:srgbClr val="C9A227"/>
          </a:solidFill>
          <a:ln w="63500">
            <a:solidFill>
              <a:srgbClr val="FDF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2"/>
          <p:cNvSpPr/>
          <p:nvPr/>
        </p:nvSpPr>
        <p:spPr>
          <a:xfrm>
            <a:off x="1714500" y="4743907"/>
            <a:ext cx="514807" cy="514807"/>
          </a:xfrm>
          <a:prstGeom prst="ellipse">
            <a:avLst/>
          </a:prstGeom>
          <a:solidFill>
            <a:srgbClr val="8B2635"/>
          </a:solidFill>
          <a:ln w="63500">
            <a:solidFill>
              <a:srgbClr val="FDF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3"/>
          <p:cNvSpPr/>
          <p:nvPr/>
        </p:nvSpPr>
        <p:spPr>
          <a:xfrm>
            <a:off x="1772107" y="5810098"/>
            <a:ext cx="400507" cy="400507"/>
          </a:xfrm>
          <a:prstGeom prst="ellipse">
            <a:avLst/>
          </a:prstGeom>
          <a:solidFill>
            <a:srgbClr val="C9A227"/>
          </a:solidFill>
          <a:ln w="63500">
            <a:solidFill>
              <a:srgbClr val="FDF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4"/>
          <p:cNvSpPr/>
          <p:nvPr/>
        </p:nvSpPr>
        <p:spPr>
          <a:xfrm>
            <a:off x="1772107" y="6687007"/>
            <a:ext cx="400507" cy="400507"/>
          </a:xfrm>
          <a:prstGeom prst="ellipse">
            <a:avLst/>
          </a:prstGeom>
          <a:solidFill>
            <a:srgbClr val="C9A227"/>
          </a:solidFill>
          <a:ln w="63500">
            <a:solidFill>
              <a:srgbClr val="FDF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5"/>
          <p:cNvSpPr/>
          <p:nvPr/>
        </p:nvSpPr>
        <p:spPr>
          <a:xfrm>
            <a:off x="1714500" y="7601407"/>
            <a:ext cx="514807" cy="514807"/>
          </a:xfrm>
          <a:prstGeom prst="ellipse">
            <a:avLst/>
          </a:prstGeom>
          <a:solidFill>
            <a:srgbClr val="8B2635"/>
          </a:solidFill>
          <a:ln w="63500">
            <a:solidFill>
              <a:srgbClr val="FDF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6"/>
          <p:cNvSpPr/>
          <p:nvPr/>
        </p:nvSpPr>
        <p:spPr>
          <a:xfrm>
            <a:off x="1772107" y="8591702"/>
            <a:ext cx="400507" cy="400507"/>
          </a:xfrm>
          <a:prstGeom prst="ellipse">
            <a:avLst/>
          </a:prstGeom>
          <a:solidFill>
            <a:srgbClr val="FDFCF8"/>
          </a:solidFill>
          <a:ln w="635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7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INDIA STANDS · JULY 2026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1380744"/>
            <a:ext cx="1482151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Implementation timeline — a live picture</a:t>
            </a:r>
            <a:endParaRPr lang="en-US" sz="4500" dirty="0"/>
          </a:p>
        </p:txBody>
      </p:sp>
      <p:sp>
        <p:nvSpPr>
          <p:cNvPr id="16" name="Text 9"/>
          <p:cNvSpPr txBox="1"/>
          <p:nvPr/>
        </p:nvSpPr>
        <p:spPr>
          <a:xfrm>
            <a:off x="2381098" y="2809951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886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8 August 2019</a:t>
            </a:r>
            <a:endParaRPr lang="en-US" sz="1900" dirty="0"/>
          </a:p>
        </p:txBody>
      </p:sp>
      <p:sp>
        <p:nvSpPr>
          <p:cNvPr id="17" name="Text 10"/>
          <p:cNvSpPr txBox="1"/>
          <p:nvPr/>
        </p:nvSpPr>
        <p:spPr>
          <a:xfrm>
            <a:off x="5238598" y="2809951"/>
            <a:ext cx="11906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Code on Wages, 2019 notified</a:t>
            </a:r>
            <a:endParaRPr lang="en-US" sz="1800" dirty="0"/>
          </a:p>
        </p:txBody>
      </p:sp>
      <p:sp>
        <p:nvSpPr>
          <p:cNvPr id="18" name="Text 11"/>
          <p:cNvSpPr txBox="1"/>
          <p:nvPr/>
        </p:nvSpPr>
        <p:spPr>
          <a:xfrm>
            <a:off x="5238598" y="3095244"/>
            <a:ext cx="11906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of the four Codes to be enacted (Act 29 of 2019).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2381098" y="3762756"/>
            <a:ext cx="280172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886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29 September 2020</a:t>
            </a:r>
            <a:endParaRPr lang="en-US" sz="1900" dirty="0"/>
          </a:p>
        </p:txBody>
      </p:sp>
      <p:sp>
        <p:nvSpPr>
          <p:cNvPr id="20" name="Text 13"/>
          <p:cNvSpPr txBox="1"/>
          <p:nvPr/>
        </p:nvSpPr>
        <p:spPr>
          <a:xfrm>
            <a:off x="5238598" y="3762756"/>
            <a:ext cx="11906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IR, SS &amp; OSH Codes notified together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5238598" y="4048049"/>
            <a:ext cx="11906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Acts 35, 36 &amp; 37 of 2020. Draft central rules put out in November-December 2020.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2381098" y="4714646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21 November 2025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5333695" y="4743907"/>
            <a:ext cx="117162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All four Codes brought into force by Gazette notification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5333695" y="5029200"/>
            <a:ext cx="11716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legacy laws stand repealed. Uniform "wages" definition and gratuity accrual become effective from this date.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2381098" y="5743346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886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30 December 2025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5238598" y="5743346"/>
            <a:ext cx="11906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First set of MoLE FAQs — clarifying "wages" &amp; the 50% rule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5238598" y="6029554"/>
            <a:ext cx="11906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Ministry of Labour clarifies bonus, gratuity, PF calculations under the new wage definition.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2381098" y="6620256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886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16 March 2026</a:t>
            </a:r>
            <a:endParaRPr lang="en-US" sz="1900" dirty="0"/>
          </a:p>
        </p:txBody>
      </p:sp>
      <p:sp>
        <p:nvSpPr>
          <p:cNvPr id="29" name="Text 22"/>
          <p:cNvSpPr txBox="1"/>
          <p:nvPr/>
        </p:nvSpPr>
        <p:spPr>
          <a:xfrm>
            <a:off x="5238598" y="6620256"/>
            <a:ext cx="11906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Additional MoLE FAQs — FTE gratuity, ISMW, OSH clarifications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5238598" y="6905549"/>
            <a:ext cx="11906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Clarifies FTE 1-year gratuity, contract labour treatment, and state-vs-central rule precedence.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2381098" y="7572146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8B26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8-9 May 2026</a:t>
            </a:r>
            <a:endParaRPr lang="en-US" sz="1900" dirty="0"/>
          </a:p>
        </p:txBody>
      </p:sp>
      <p:sp>
        <p:nvSpPr>
          <p:cNvPr id="32" name="Text 25"/>
          <p:cNvSpPr txBox="1"/>
          <p:nvPr/>
        </p:nvSpPr>
        <p:spPr>
          <a:xfrm>
            <a:off x="5333695" y="7601407"/>
            <a:ext cx="117162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Central Rules under all four Codes notified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5333695" y="7886700"/>
            <a:ext cx="11716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COW Rules, SS Rules, OSH Rules, IR Rules — the operational rulebook is now live.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2381098" y="8524951"/>
            <a:ext cx="311810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886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Today · 17 Jul 2026</a:t>
            </a:r>
            <a:endParaRPr lang="en-US" sz="1900" dirty="0"/>
          </a:p>
        </p:txBody>
      </p:sp>
      <p:sp>
        <p:nvSpPr>
          <p:cNvPr id="35" name="Text 28"/>
          <p:cNvSpPr txBox="1"/>
          <p:nvPr/>
        </p:nvSpPr>
        <p:spPr>
          <a:xfrm>
            <a:off x="5238598" y="8524951"/>
            <a:ext cx="11906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Full operational enforcement — no transition safety net</a:t>
            </a:r>
            <a:endParaRPr lang="en-US" sz="1800" dirty="0"/>
          </a:p>
        </p:txBody>
      </p:sp>
      <p:sp>
        <p:nvSpPr>
          <p:cNvPr id="36" name="Text 29"/>
          <p:cNvSpPr txBox="1"/>
          <p:nvPr/>
        </p:nvSpPr>
        <p:spPr>
          <a:xfrm>
            <a:off x="5238598" y="8810244"/>
            <a:ext cx="11906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States rolling out their own rules; Shram Suvidha unified compliance portal is live. Inspection cycle has begun.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1143000" y="9696298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PIB PRID 2192524 · MoLE FAQs 30 Dec 2025 &amp; 16 Mar 2026 · KPMG Flash Alert May 2026 · LKS Employment Law tracker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STATUS · JULY 2026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43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762402"/>
            <a:ext cx="5162702" cy="63441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43000" y="2762402"/>
            <a:ext cx="5162702" cy="47549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572707" y="2762402"/>
            <a:ext cx="5162702" cy="6344107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572707" y="2762402"/>
            <a:ext cx="5162702" cy="47549"/>
          </a:xfrm>
          <a:prstGeom prst="rect">
            <a:avLst/>
          </a:prstGeom>
          <a:solidFill>
            <a:srgbClr val="2E5480"/>
          </a:solidFill>
          <a:ln w="12700">
            <a:solidFill>
              <a:srgbClr val="2E54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gen-dedup-478962f771626dc7688d85cb83a5220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001500" y="2762402"/>
            <a:ext cx="5143500" cy="6286500"/>
          </a:xfrm>
          <a:prstGeom prst="rect">
            <a:avLst/>
          </a:prstGeom>
        </p:spPr>
      </p:pic>
      <p:pic>
        <p:nvPicPr>
          <p:cNvPr id="8" name="Image 2" descr="gen-dedup-38d9db64e9131c2aec57f2468bdc88e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572854"/>
            <a:ext cx="16002000" cy="9144"/>
          </a:xfrm>
          <a:prstGeom prst="rect">
            <a:avLst/>
          </a:prstGeom>
        </p:spPr>
      </p:pic>
      <p:pic>
        <p:nvPicPr>
          <p:cNvPr id="9" name="Image 3" descr="gen-dedup-bfbb3d63f25418febaf9babbcaecfb54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2001500" y="2762402"/>
            <a:ext cx="5143500" cy="47549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LIVING COMPLIANCE CALENDAR</a:t>
            </a:r>
            <a:endParaRPr lang="en-US" sz="10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1380744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monthly, quarterly &amp; annual rhythm</a:t>
            </a:r>
            <a:endParaRPr lang="en-US" sz="4500" dirty="0"/>
          </a:p>
        </p:txBody>
      </p:sp>
      <p:sp>
        <p:nvSpPr>
          <p:cNvPr id="12" name="Text 6"/>
          <p:cNvSpPr txBox="1"/>
          <p:nvPr/>
        </p:nvSpPr>
        <p:spPr>
          <a:xfrm>
            <a:off x="1429207" y="3000146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68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CADENCE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1429207" y="3286354"/>
            <a:ext cx="4572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12 turns</a:t>
            </a:r>
            <a:endParaRPr lang="en-US" sz="2700" dirty="0"/>
          </a:p>
        </p:txBody>
      </p:sp>
      <p:sp>
        <p:nvSpPr>
          <p:cNvPr id="14" name="Shape 8"/>
          <p:cNvSpPr/>
          <p:nvPr/>
        </p:nvSpPr>
        <p:spPr>
          <a:xfrm>
            <a:off x="1429207" y="4467758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9"/>
          <p:cNvSpPr txBox="1"/>
          <p:nvPr/>
        </p:nvSpPr>
        <p:spPr>
          <a:xfrm>
            <a:off x="1429207" y="3952951"/>
            <a:ext cx="457200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886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r>
              <a:rPr lang="en-US" sz="1000" b="1" dirty="0">
                <a:solidFill>
                  <a:srgbClr val="B886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Wages disbursed for prior month (10</a:t>
            </a:r>
            <a:r>
              <a:rPr lang="en-US" sz="10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≥1,000-emp)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1429207" y="4982566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1"/>
          <p:cNvSpPr txBox="1"/>
          <p:nvPr/>
        </p:nvSpPr>
        <p:spPr>
          <a:xfrm>
            <a:off x="1429207" y="4476902"/>
            <a:ext cx="457200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886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000" b="1" dirty="0">
                <a:solidFill>
                  <a:srgbClr val="B886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PF &amp; ESI contributions deposited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1429207" y="5496458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429207" y="4990795"/>
            <a:ext cx="457200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886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000" b="1" dirty="0">
                <a:solidFill>
                  <a:srgbClr val="B886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TDS remittance on salaries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1429207" y="6011266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429207" y="5505602"/>
            <a:ext cx="457200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886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r>
              <a:rPr lang="en-US" sz="1000" b="1" dirty="0">
                <a:solidFill>
                  <a:srgbClr val="B886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Professional Tax (state-wise)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1429207" y="6505956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 txBox="1"/>
          <p:nvPr/>
        </p:nvSpPr>
        <p:spPr>
          <a:xfrm>
            <a:off x="1429207" y="6019495"/>
            <a:ext cx="457200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886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M-end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Aggregator turnover-contribution reconciliation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429207" y="6508699"/>
            <a:ext cx="45720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886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M-end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HR MIS: headcount vs. 20 / 100 / 300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0" y="3000146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68" dirty="0">
                <a:solidFill>
                  <a:srgbClr val="2E54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REVIEW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6858000" y="3286354"/>
            <a:ext cx="4572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4 audits</a:t>
            </a:r>
            <a:endParaRPr lang="en-US" sz="2700" dirty="0"/>
          </a:p>
        </p:txBody>
      </p:sp>
      <p:sp>
        <p:nvSpPr>
          <p:cNvPr id="27" name="Shape 21"/>
          <p:cNvSpPr/>
          <p:nvPr/>
        </p:nvSpPr>
        <p:spPr>
          <a:xfrm>
            <a:off x="6858000" y="4439412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 txBox="1"/>
          <p:nvPr/>
        </p:nvSpPr>
        <p:spPr>
          <a:xfrm>
            <a:off x="6858000" y="3952951"/>
            <a:ext cx="457200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Independent wage-structure diagnostic (50% rule)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858000" y="5176418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 txBox="1"/>
          <p:nvPr/>
        </p:nvSpPr>
        <p:spPr>
          <a:xfrm>
            <a:off x="6858000" y="4442155"/>
            <a:ext cx="4572000" cy="619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Grievance Redressal Committee minutes; women-workforce audit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6858000" y="5668366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 txBox="1"/>
          <p:nvPr/>
        </p:nvSpPr>
        <p:spPr>
          <a:xfrm>
            <a:off x="6858000" y="5181905"/>
            <a:ext cx="457200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Contractor licence &amp; PF/ESI compliance certificate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858000" y="6157570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6858000" y="5671109"/>
            <a:ext cx="457200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Q4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Safety Committee review; incident-log signoff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6858000" y="6160313"/>
            <a:ext cx="45720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Actuarial provisioning review for gratuity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12287707" y="3000146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68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BOARD FILE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2287707" y="3286354"/>
            <a:ext cx="4572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one filing</a:t>
            </a:r>
            <a:endParaRPr lang="en-US" sz="2700" dirty="0"/>
          </a:p>
        </p:txBody>
      </p:sp>
      <p:sp>
        <p:nvSpPr>
          <p:cNvPr id="38" name="Shape 32"/>
          <p:cNvSpPr/>
          <p:nvPr/>
        </p:nvSpPr>
        <p:spPr>
          <a:xfrm>
            <a:off x="12287707" y="4687214"/>
            <a:ext cx="4572000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3"/>
          <p:cNvSpPr txBox="1"/>
          <p:nvPr/>
        </p:nvSpPr>
        <p:spPr>
          <a:xfrm>
            <a:off x="12287707" y="3952951"/>
            <a:ext cx="4572000" cy="619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</a:t>
            </a:r>
            <a:r>
              <a:rPr lang="en-US" sz="1200" b="1" dirty="0">
                <a:solidFill>
                  <a:srgbClr val="F8F5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Annual Return</a:t>
            </a: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under all four Codes on Shram Suvidha portal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12287707" y="5179162"/>
            <a:ext cx="4572000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5"/>
          <p:cNvSpPr txBox="1"/>
          <p:nvPr/>
        </p:nvSpPr>
        <p:spPr>
          <a:xfrm>
            <a:off x="12287707" y="4692701"/>
            <a:ext cx="457200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Annual health check-up campaign for all employees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12287707" y="5668366"/>
            <a:ext cx="4572000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7"/>
          <p:cNvSpPr txBox="1"/>
          <p:nvPr/>
        </p:nvSpPr>
        <p:spPr>
          <a:xfrm>
            <a:off x="12287707" y="5181905"/>
            <a:ext cx="457200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Third-party safety audit for units ≥ 500 workers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12287707" y="6157570"/>
            <a:ext cx="4572000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9"/>
          <p:cNvSpPr txBox="1"/>
          <p:nvPr/>
        </p:nvSpPr>
        <p:spPr>
          <a:xfrm>
            <a:off x="12287707" y="5671109"/>
            <a:ext cx="457200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ISMW journey-allowance settlement (once in 12 months)</a:t>
            </a:r>
            <a:endParaRPr lang="en-US" sz="1200" dirty="0"/>
          </a:p>
        </p:txBody>
      </p:sp>
      <p:sp>
        <p:nvSpPr>
          <p:cNvPr id="46" name="Shape 40"/>
          <p:cNvSpPr/>
          <p:nvPr/>
        </p:nvSpPr>
        <p:spPr>
          <a:xfrm>
            <a:off x="12287707" y="6646774"/>
            <a:ext cx="4572000" cy="9144"/>
          </a:xfrm>
          <a:prstGeom prst="rect">
            <a:avLst/>
          </a:prstGeom>
          <a:solidFill>
            <a:srgbClr val="C9A227">
              <a:alpha val="25000"/>
            </a:srgbClr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1"/>
          <p:cNvSpPr txBox="1"/>
          <p:nvPr/>
        </p:nvSpPr>
        <p:spPr>
          <a:xfrm>
            <a:off x="12287707" y="6160313"/>
            <a:ext cx="457200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14300" rIns="1143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Bonus computation on new wage base</a:t>
            </a:r>
            <a:endParaRPr lang="en-US" sz="1200" dirty="0"/>
          </a:p>
        </p:txBody>
      </p:sp>
      <p:sp>
        <p:nvSpPr>
          <p:cNvPr id="48" name="Text 42"/>
          <p:cNvSpPr txBox="1"/>
          <p:nvPr/>
        </p:nvSpPr>
        <p:spPr>
          <a:xfrm>
            <a:off x="12287707" y="6648602"/>
            <a:ext cx="45720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C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Standing Orders review / re-certification (300+ units)</a:t>
            </a:r>
            <a:endParaRPr lang="en-US" sz="1200" dirty="0"/>
          </a:p>
        </p:txBody>
      </p:sp>
      <p:sp>
        <p:nvSpPr>
          <p:cNvPr id="49" name="Text 43"/>
          <p:cNvSpPr txBox="1"/>
          <p:nvPr/>
        </p:nvSpPr>
        <p:spPr>
          <a:xfrm>
            <a:off x="1143000" y="9696298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Central Rules 2026 · Shram Suvidha portal · Sec. 17 &amp; 39 COW · Sec. 15 SS · Sec. 22 OSH · Sec. 4 IR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CALENDAR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44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762402"/>
            <a:ext cx="5162702" cy="6495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6572707" y="2762402"/>
            <a:ext cx="5162702" cy="6495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12001500" y="2762402"/>
            <a:ext cx="5162702" cy="6495898"/>
          </a:xfrm>
          <a:prstGeom prst="rect">
            <a:avLst/>
          </a:prstGeom>
          <a:solidFill>
            <a:srgbClr val="FDFCF8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1" descr="gen-dedup-38d9db64e9131c2aec57f2468bdc88e2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572854"/>
            <a:ext cx="16002000" cy="9144"/>
          </a:xfrm>
          <a:prstGeom prst="rect">
            <a:avLst/>
          </a:prstGeom>
        </p:spPr>
      </p:pic>
      <p:pic>
        <p:nvPicPr>
          <p:cNvPr id="7" name="Image 2" descr="gen-dedup-8da2f80e6121a4748cd1585053fb660f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1143000" y="2762402"/>
            <a:ext cx="5143500" cy="1047902"/>
          </a:xfrm>
          <a:prstGeom prst="rect">
            <a:avLst/>
          </a:prstGeom>
        </p:spPr>
      </p:pic>
      <p:pic>
        <p:nvPicPr>
          <p:cNvPr id="8" name="Image 3" descr="gen-dedup-3d6881c1e2a4eda1769db36f87e94e3f.png"/>
          <p:cNvPicPr>
            <a:picLocks noChangeAspect="1"/>
          </p:cNvPicPr>
          <p:nvPr/>
        </p:nvPicPr>
        <p:blipFill>
          <a:blip r:embed="rId5"/>
          <a:srcRect t="-7" b="-7"/>
          <a:stretch/>
        </p:blipFill>
        <p:spPr>
          <a:xfrm>
            <a:off x="6572707" y="2762402"/>
            <a:ext cx="5143500" cy="1047902"/>
          </a:xfrm>
          <a:prstGeom prst="rect">
            <a:avLst/>
          </a:prstGeom>
        </p:spPr>
      </p:pic>
      <p:pic>
        <p:nvPicPr>
          <p:cNvPr id="9" name="Image 4" descr="gen-dedup-3085837c9fc99cf461eb7c6e6d46b44e.png"/>
          <p:cNvPicPr>
            <a:picLocks noChangeAspect="1"/>
          </p:cNvPicPr>
          <p:nvPr/>
        </p:nvPicPr>
        <p:blipFill>
          <a:blip r:embed="rId6"/>
          <a:srcRect t="-7" b="-7"/>
          <a:stretch/>
        </p:blipFill>
        <p:spPr>
          <a:xfrm>
            <a:off x="12001500" y="2762402"/>
            <a:ext cx="5143500" cy="1047902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30–60–90 DAY PLAN</a:t>
            </a:r>
            <a:endParaRPr lang="en-US" sz="10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1380744"/>
            <a:ext cx="1591879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phased action plan — start Monday morning</a:t>
            </a:r>
            <a:endParaRPr lang="en-US" sz="4500" dirty="0"/>
          </a:p>
        </p:txBody>
      </p:sp>
      <p:sp>
        <p:nvSpPr>
          <p:cNvPr id="12" name="Text 5"/>
          <p:cNvSpPr txBox="1"/>
          <p:nvPr/>
        </p:nvSpPr>
        <p:spPr>
          <a:xfrm>
            <a:off x="1429207" y="3000146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2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I · STABILISE</a:t>
            </a:r>
            <a:endParaRPr lang="en-US" sz="1000" dirty="0"/>
          </a:p>
        </p:txBody>
      </p:sp>
      <p:sp>
        <p:nvSpPr>
          <p:cNvPr id="13" name="Text 6"/>
          <p:cNvSpPr txBox="1"/>
          <p:nvPr/>
        </p:nvSpPr>
        <p:spPr>
          <a:xfrm>
            <a:off x="1429207" y="3286354"/>
            <a:ext cx="4572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First 30 days</a:t>
            </a:r>
            <a:endParaRPr lang="en-US" sz="3100" dirty="0"/>
          </a:p>
        </p:txBody>
      </p:sp>
      <p:sp>
        <p:nvSpPr>
          <p:cNvPr id="14" name="Shape 7"/>
          <p:cNvSpPr/>
          <p:nvPr/>
        </p:nvSpPr>
        <p:spPr>
          <a:xfrm>
            <a:off x="1429207" y="4867351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8"/>
          <p:cNvSpPr txBox="1"/>
          <p:nvPr/>
        </p:nvSpPr>
        <p:spPr>
          <a:xfrm>
            <a:off x="1429207" y="4229100"/>
            <a:ext cx="1335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□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1688897" y="4229100"/>
            <a:ext cx="431505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Wage-structure diagnostic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CTC-by-CTC audit against Sec. 2(y).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1429207" y="5645506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1"/>
          <p:cNvSpPr txBox="1"/>
          <p:nvPr/>
        </p:nvSpPr>
        <p:spPr>
          <a:xfrm>
            <a:off x="1429207" y="5007254"/>
            <a:ext cx="1335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□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1688897" y="5007254"/>
            <a:ext cx="431505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Appointment-letter drive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template rolled to every existing employee.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1429207" y="6175858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4"/>
          <p:cNvSpPr txBox="1"/>
          <p:nvPr/>
        </p:nvSpPr>
        <p:spPr>
          <a:xfrm>
            <a:off x="1429207" y="5785409"/>
            <a:ext cx="13990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□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1688897" y="5785409"/>
            <a:ext cx="4543654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Shram Suvidha registration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the establishment.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1429207" y="6702552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7"/>
          <p:cNvSpPr txBox="1"/>
          <p:nvPr/>
        </p:nvSpPr>
        <p:spPr>
          <a:xfrm>
            <a:off x="1429207" y="6312103"/>
            <a:ext cx="13990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□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1688897" y="6312103"/>
            <a:ext cx="48774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Headcount vs. threshold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dashboard live on CFO desk.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429207" y="6839712"/>
            <a:ext cx="1335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□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1688897" y="6839712"/>
            <a:ext cx="431505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 licence audit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copies collected &amp; expiry logged.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6858000" y="3000146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20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II · TRANSFORM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0" y="3286354"/>
            <a:ext cx="4572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Days 31 – 60</a:t>
            </a:r>
            <a:endParaRPr lang="en-US" sz="3100" dirty="0"/>
          </a:p>
        </p:txBody>
      </p:sp>
      <p:sp>
        <p:nvSpPr>
          <p:cNvPr id="30" name="Shape 23"/>
          <p:cNvSpPr/>
          <p:nvPr/>
        </p:nvSpPr>
        <p:spPr>
          <a:xfrm>
            <a:off x="6858000" y="4867351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4"/>
          <p:cNvSpPr txBox="1"/>
          <p:nvPr/>
        </p:nvSpPr>
        <p:spPr>
          <a:xfrm>
            <a:off x="6858000" y="4229100"/>
            <a:ext cx="1335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□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7117690" y="4229100"/>
            <a:ext cx="431505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Restructure payroll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Basic ≥ 50% of remuneration; net take-home neutral.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6858000" y="5645506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7"/>
          <p:cNvSpPr txBox="1"/>
          <p:nvPr/>
        </p:nvSpPr>
        <p:spPr>
          <a:xfrm>
            <a:off x="6858000" y="5007254"/>
            <a:ext cx="1335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□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7117690" y="5007254"/>
            <a:ext cx="431505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Actuarial re-valuation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gratuity &amp; leave-encashment liability.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6858000" y="6423660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0"/>
          <p:cNvSpPr txBox="1"/>
          <p:nvPr/>
        </p:nvSpPr>
        <p:spPr>
          <a:xfrm>
            <a:off x="6858000" y="5785409"/>
            <a:ext cx="1335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□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7117690" y="5785409"/>
            <a:ext cx="431505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Grievance Redressal Committee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constituted (≥ 20 workers).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6858000" y="6954012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3"/>
          <p:cNvSpPr txBox="1"/>
          <p:nvPr/>
        </p:nvSpPr>
        <p:spPr>
          <a:xfrm>
            <a:off x="6858000" y="6563563"/>
            <a:ext cx="13990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□</a:t>
            </a:r>
            <a:endParaRPr lang="en-US" sz="1600" dirty="0"/>
          </a:p>
        </p:txBody>
      </p:sp>
      <p:sp>
        <p:nvSpPr>
          <p:cNvPr id="41" name="Text 34"/>
          <p:cNvSpPr txBox="1"/>
          <p:nvPr/>
        </p:nvSpPr>
        <p:spPr>
          <a:xfrm>
            <a:off x="7117690" y="6563563"/>
            <a:ext cx="45153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FTE &amp; contract labour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policy templates refreshed.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6858000" y="7090258"/>
            <a:ext cx="13990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□</a:t>
            </a:r>
            <a:endParaRPr lang="en-US" sz="1600" dirty="0"/>
          </a:p>
        </p:txBody>
      </p:sp>
      <p:sp>
        <p:nvSpPr>
          <p:cNvPr id="43" name="Text 36"/>
          <p:cNvSpPr txBox="1"/>
          <p:nvPr/>
        </p:nvSpPr>
        <p:spPr>
          <a:xfrm>
            <a:off x="7117690" y="7090258"/>
            <a:ext cx="49149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Standing Orders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filed for certification if ≥ 300 workers.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12287707" y="3000146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20" dirty="0">
                <a:solidFill>
                  <a:srgbClr val="FDF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III · SUSTAIN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12287707" y="3286354"/>
            <a:ext cx="4572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A162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Days 61 – 90</a:t>
            </a:r>
            <a:endParaRPr lang="en-US" sz="3100" dirty="0"/>
          </a:p>
        </p:txBody>
      </p:sp>
      <p:sp>
        <p:nvSpPr>
          <p:cNvPr id="46" name="Shape 39"/>
          <p:cNvSpPr/>
          <p:nvPr/>
        </p:nvSpPr>
        <p:spPr>
          <a:xfrm>
            <a:off x="12287707" y="4867351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0"/>
          <p:cNvSpPr txBox="1"/>
          <p:nvPr/>
        </p:nvSpPr>
        <p:spPr>
          <a:xfrm>
            <a:off x="12287707" y="4229100"/>
            <a:ext cx="1335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86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□</a:t>
            </a:r>
            <a:endParaRPr lang="en-US" sz="1600" dirty="0"/>
          </a:p>
        </p:txBody>
      </p:sp>
      <p:sp>
        <p:nvSpPr>
          <p:cNvPr id="48" name="Text 41"/>
          <p:cNvSpPr txBox="1"/>
          <p:nvPr/>
        </p:nvSpPr>
        <p:spPr>
          <a:xfrm>
            <a:off x="12547397" y="4229100"/>
            <a:ext cx="431505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health check-up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vendor tied up &amp; drive scheduled.</a:t>
            </a:r>
            <a:endParaRPr lang="en-US" sz="1200" dirty="0"/>
          </a:p>
        </p:txBody>
      </p:sp>
      <p:sp>
        <p:nvSpPr>
          <p:cNvPr id="49" name="Shape 42"/>
          <p:cNvSpPr/>
          <p:nvPr/>
        </p:nvSpPr>
        <p:spPr>
          <a:xfrm>
            <a:off x="12287707" y="5397703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3"/>
          <p:cNvSpPr txBox="1"/>
          <p:nvPr/>
        </p:nvSpPr>
        <p:spPr>
          <a:xfrm>
            <a:off x="12287707" y="5007254"/>
            <a:ext cx="13990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86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□</a:t>
            </a:r>
            <a:endParaRPr lang="en-US" sz="1600" dirty="0"/>
          </a:p>
        </p:txBody>
      </p:sp>
      <p:sp>
        <p:nvSpPr>
          <p:cNvPr id="51" name="Text 44"/>
          <p:cNvSpPr txBox="1"/>
          <p:nvPr/>
        </p:nvSpPr>
        <p:spPr>
          <a:xfrm>
            <a:off x="12547397" y="5007254"/>
            <a:ext cx="49149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Committee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constituted (≥ 500 factory workers).</a:t>
            </a:r>
            <a:endParaRPr lang="en-US" sz="1200" dirty="0"/>
          </a:p>
        </p:txBody>
      </p:sp>
      <p:sp>
        <p:nvSpPr>
          <p:cNvPr id="52" name="Shape 45"/>
          <p:cNvSpPr/>
          <p:nvPr/>
        </p:nvSpPr>
        <p:spPr>
          <a:xfrm>
            <a:off x="12287707" y="6173114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6"/>
          <p:cNvSpPr txBox="1"/>
          <p:nvPr/>
        </p:nvSpPr>
        <p:spPr>
          <a:xfrm>
            <a:off x="12287707" y="5533949"/>
            <a:ext cx="1335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86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□</a:t>
            </a:r>
            <a:endParaRPr lang="en-US" sz="1600" dirty="0"/>
          </a:p>
        </p:txBody>
      </p:sp>
      <p:sp>
        <p:nvSpPr>
          <p:cNvPr id="54" name="Text 47"/>
          <p:cNvSpPr txBox="1"/>
          <p:nvPr/>
        </p:nvSpPr>
        <p:spPr>
          <a:xfrm>
            <a:off x="12547397" y="5533949"/>
            <a:ext cx="431505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compliance audit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CA-certified for board file.</a:t>
            </a:r>
            <a:endParaRPr lang="en-US" sz="1200" dirty="0"/>
          </a:p>
        </p:txBody>
      </p:sp>
      <p:sp>
        <p:nvSpPr>
          <p:cNvPr id="55" name="Shape 48"/>
          <p:cNvSpPr/>
          <p:nvPr/>
        </p:nvSpPr>
        <p:spPr>
          <a:xfrm>
            <a:off x="12287707" y="6702552"/>
            <a:ext cx="4572000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49"/>
          <p:cNvSpPr txBox="1"/>
          <p:nvPr/>
        </p:nvSpPr>
        <p:spPr>
          <a:xfrm>
            <a:off x="12287707" y="6312103"/>
            <a:ext cx="13990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86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□</a:t>
            </a:r>
            <a:endParaRPr lang="en-US" sz="1600" dirty="0"/>
          </a:p>
        </p:txBody>
      </p:sp>
      <p:sp>
        <p:nvSpPr>
          <p:cNvPr id="57" name="Text 50"/>
          <p:cNvSpPr txBox="1"/>
          <p:nvPr/>
        </p:nvSpPr>
        <p:spPr>
          <a:xfrm>
            <a:off x="12547397" y="6312103"/>
            <a:ext cx="4543654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eShram enrolment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unorganised + gig workers.</a:t>
            </a:r>
            <a:endParaRPr lang="en-US" sz="1200" dirty="0"/>
          </a:p>
        </p:txBody>
      </p:sp>
      <p:sp>
        <p:nvSpPr>
          <p:cNvPr id="58" name="Text 51"/>
          <p:cNvSpPr txBox="1"/>
          <p:nvPr/>
        </p:nvSpPr>
        <p:spPr>
          <a:xfrm>
            <a:off x="12287707" y="6839712"/>
            <a:ext cx="1335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860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□</a:t>
            </a:r>
            <a:endParaRPr lang="en-US" sz="1600" dirty="0"/>
          </a:p>
        </p:txBody>
      </p:sp>
      <p:sp>
        <p:nvSpPr>
          <p:cNvPr id="59" name="Text 52"/>
          <p:cNvSpPr txBox="1"/>
          <p:nvPr/>
        </p:nvSpPr>
        <p:spPr>
          <a:xfrm>
            <a:off x="12547397" y="6839712"/>
            <a:ext cx="431505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Board-level policy sign-off</a:t>
            </a:r>
            <a:r>
              <a:rPr lang="en-US" sz="12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annual compliance certificate.</a:t>
            </a:r>
            <a:endParaRPr lang="en-US" sz="1200" dirty="0"/>
          </a:p>
        </p:txBody>
      </p:sp>
      <p:sp>
        <p:nvSpPr>
          <p:cNvPr id="60" name="Text 53"/>
          <p:cNvSpPr txBox="1"/>
          <p:nvPr/>
        </p:nvSpPr>
        <p:spPr>
          <a:xfrm>
            <a:off x="1143000" y="9696298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phased blueprint synthesised from the four Codes and Central Rules 2026 · Practitioner guidance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30–60–90 DAY ACTION PLAN</a:t>
            </a:r>
            <a:endParaRPr lang="en-US" sz="900" dirty="0"/>
          </a:p>
        </p:txBody>
      </p:sp>
      <p:sp>
        <p:nvSpPr>
          <p:cNvPr id="62" name="Text 55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45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af3b0884c94f655e5366e496a60d645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8438645"/>
            <a:ext cx="16002000" cy="5715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1" descr="gen-dedup-38d9db64e9131c2aec57f2468bdc88e2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105242"/>
            <a:ext cx="16002000" cy="914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68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PENALTIES AT A GLANCE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1143000" y="1380744"/>
            <a:ext cx="16573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Cost of non-compliance — the numbers to remember</a:t>
            </a:r>
            <a:endParaRPr lang="en-US" sz="4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046830"/>
              </p:ext>
            </p:extLst>
          </p:nvPr>
        </p:nvGraphicFramePr>
        <p:xfrm>
          <a:off x="1143000" y="2104596"/>
          <a:ext cx="16002000" cy="6618850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0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7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8F5EE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Code</a:t>
                      </a:r>
                      <a:endParaRPr lang="en-US" sz="15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8F5EE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Section</a:t>
                      </a:r>
                      <a:endParaRPr lang="en-US" sz="15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8F5EE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Offence</a:t>
                      </a:r>
                      <a:endParaRPr lang="en-US" sz="15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C9A227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Penalty</a:t>
                      </a:r>
                      <a:endParaRPr lang="en-US" sz="15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Code on Wages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5A7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54(1)(a)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Paying less than the due wages / bonus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B2635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Fine up to ₹50,000</a:t>
                      </a:r>
                      <a:endParaRPr lang="en-US" sz="13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Code on Wages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5A7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54(1)(a) — repeat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Repeat offence within 5 years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B2635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3 mo. jail + ₹1,00,000</a:t>
                      </a:r>
                      <a:endParaRPr lang="en-US" sz="13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Code on Wages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5A7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54(1)(b)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Other contraventions of Code / rules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B2635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Fine up to ₹20,000</a:t>
                      </a:r>
                      <a:endParaRPr lang="en-US" sz="13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IR Code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5A7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86(1)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Employer commencing illegal lock-out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B2635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₹50,000 – ₹1,00,000</a:t>
                      </a:r>
                      <a:endParaRPr lang="en-US" sz="13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IR Code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5A7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86(5)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Breach of Standing Orders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B2635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Up to ₹1,00,000</a:t>
                      </a:r>
                      <a:endParaRPr lang="en-US" sz="13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IR Code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5A7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86(14)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Retrenchment / closure without permission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B2635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₹1,00,000 – ₹10,00,000</a:t>
                      </a:r>
                      <a:endParaRPr lang="en-US" sz="13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Social Security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5A7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133(a)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Non-payment of PF/ESI </a:t>
                      </a:r>
                      <a:r>
                        <a:rPr lang="en-US" sz="1350" i="1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deducted</a:t>
                      </a:r>
                      <a:r>
                        <a:rPr lang="en-US" sz="13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from wages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B2635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1-3 yrs jail + ₹1,00,000</a:t>
                      </a:r>
                      <a:endParaRPr lang="en-US" sz="13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7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Social Security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5A7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133(b)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Non-payment of employer's own contribution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B2635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 yr jail or ₹50,000</a:t>
                      </a:r>
                      <a:endParaRPr lang="en-US" sz="13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7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Social Security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5A7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134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Enhanced punishment on repeat conviction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B2635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2-5 yrs jail + ₹3,00,000</a:t>
                      </a:r>
                      <a:endParaRPr lang="en-US" sz="13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7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OSH Code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5A7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94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General penalty for offences (default)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B2635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₹2,00,000 – ₹3,00,000</a:t>
                      </a:r>
                      <a:endParaRPr lang="en-US" sz="13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07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OSH Code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5A7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95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Contravention causing </a:t>
                      </a:r>
                      <a:r>
                        <a:rPr lang="en-US" sz="1350" b="1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death</a:t>
                      </a:r>
                      <a:r>
                        <a:rPr lang="en-US" sz="13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or serious injury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B2635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2 yrs jail + ₹5,00,000</a:t>
                      </a:r>
                      <a:endParaRPr lang="en-US" sz="13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07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OSH Code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A5A7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96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Obstruction of Inspector-cum-Facilitator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B2635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3 mo. jail + ₹1,00,000</a:t>
                      </a:r>
                      <a:endParaRPr lang="en-US" sz="13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1354986" y="8725549"/>
            <a:ext cx="157167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REMEMBER →</a:t>
            </a:r>
            <a:r>
              <a:rPr lang="en-US" sz="1600" i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Courts may direct </a:t>
            </a:r>
            <a:r>
              <a:rPr lang="en-US" sz="1600" b="1" i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≥ 50% of the fine as compensation to the victim</a:t>
            </a:r>
            <a:r>
              <a:rPr lang="en-US" sz="1600" i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in cases of injury or death (OSH Sec. 155).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9715500"/>
            <a:ext cx="1333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Bare Act — Code on Wages 2019 · IR Code 2020 · SS Code 2020 · OSH Code 2020 · indiacode.nic.in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PENALTY SUMMARY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46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f7d439f1708d6b2c78fb4dcf548d03b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1143000" y="1047902"/>
            <a:ext cx="571500" cy="28346"/>
          </a:xfrm>
          <a:prstGeom prst="rect">
            <a:avLst/>
          </a:prstGeom>
        </p:spPr>
      </p:pic>
      <p:pic>
        <p:nvPicPr>
          <p:cNvPr id="3" name="Image 1" descr="gen-dedup-9102ba83a4b8e2ddec1a5d26b8245921.png"/>
          <p:cNvPicPr>
            <a:picLocks noChangeAspect="1"/>
          </p:cNvPicPr>
          <p:nvPr/>
        </p:nvPicPr>
        <p:blipFill>
          <a:blip r:embed="rId3"/>
          <a:srcRect l="-10" r="-10"/>
          <a:stretch/>
        </p:blipFill>
        <p:spPr>
          <a:xfrm>
            <a:off x="9430207" y="7905902"/>
            <a:ext cx="7753198" cy="1333195"/>
          </a:xfrm>
          <a:prstGeom prst="rect">
            <a:avLst/>
          </a:prstGeom>
        </p:spPr>
      </p:pic>
      <p:pic>
        <p:nvPicPr>
          <p:cNvPr id="4" name="Image 2" descr="gen-dedup-38d9db64e9131c2aec57f2468bdc88e2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572854"/>
            <a:ext cx="16002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904695" y="952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368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CARRY HOME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1380744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Seven takeaways for tomorrow morning</a:t>
            </a:r>
            <a:endParaRPr lang="en-US" sz="4500" dirty="0"/>
          </a:p>
        </p:txBody>
      </p:sp>
      <p:sp>
        <p:nvSpPr>
          <p:cNvPr id="7" name="Shape 2"/>
          <p:cNvSpPr/>
          <p:nvPr/>
        </p:nvSpPr>
        <p:spPr>
          <a:xfrm>
            <a:off x="1143000" y="3734410"/>
            <a:ext cx="7905902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1143000" y="2971800"/>
            <a:ext cx="667512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3300" dirty="0"/>
          </a:p>
        </p:txBody>
      </p:sp>
      <p:sp>
        <p:nvSpPr>
          <p:cNvPr id="9" name="Text 4"/>
          <p:cNvSpPr txBox="1"/>
          <p:nvPr/>
        </p:nvSpPr>
        <p:spPr>
          <a:xfrm>
            <a:off x="2018995" y="2971800"/>
            <a:ext cx="63441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Codes are live — no waiting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2018995" y="3272638"/>
            <a:ext cx="70299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Nov 2025 for the Codes; 8 May 2026 for Central Rules. Enforcement has begun.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1143000" y="4971593"/>
            <a:ext cx="7905902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7"/>
          <p:cNvSpPr txBox="1"/>
          <p:nvPr/>
        </p:nvSpPr>
        <p:spPr>
          <a:xfrm>
            <a:off x="1143000" y="3952037"/>
            <a:ext cx="667512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3300" dirty="0"/>
          </a:p>
        </p:txBody>
      </p:sp>
      <p:sp>
        <p:nvSpPr>
          <p:cNvPr id="13" name="Text 8"/>
          <p:cNvSpPr txBox="1"/>
          <p:nvPr/>
        </p:nvSpPr>
        <p:spPr>
          <a:xfrm>
            <a:off x="2018995" y="3952037"/>
            <a:ext cx="70299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Wages is the master key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2018995" y="4252874"/>
            <a:ext cx="70299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Sec. 2(y) 50% rule flows into PF, ESI, gratuity, bonus. Fix the payroll first — everything else follows.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1143000" y="6203290"/>
            <a:ext cx="7905902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 txBox="1"/>
          <p:nvPr/>
        </p:nvSpPr>
        <p:spPr>
          <a:xfrm>
            <a:off x="1143000" y="5183734"/>
            <a:ext cx="667512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3300" dirty="0"/>
          </a:p>
        </p:txBody>
      </p:sp>
      <p:sp>
        <p:nvSpPr>
          <p:cNvPr id="17" name="Text 12"/>
          <p:cNvSpPr txBox="1"/>
          <p:nvPr/>
        </p:nvSpPr>
        <p:spPr>
          <a:xfrm>
            <a:off x="2018995" y="5183734"/>
            <a:ext cx="70299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Headcount is a compliance number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2018995" y="5484571"/>
            <a:ext cx="70299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· 100 · 300 — every threshold triggers a distinct duty. Publish a monthly board dashboard.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6415430"/>
            <a:ext cx="667512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3300" dirty="0"/>
          </a:p>
        </p:txBody>
      </p:sp>
      <p:sp>
        <p:nvSpPr>
          <p:cNvPr id="20" name="Text 15"/>
          <p:cNvSpPr txBox="1"/>
          <p:nvPr/>
        </p:nvSpPr>
        <p:spPr>
          <a:xfrm>
            <a:off x="2018995" y="6415430"/>
            <a:ext cx="70299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Formalise every relationship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2018995" y="6716268"/>
            <a:ext cx="70299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Appointment letters for all — including contract labour. No "verbal understanding" survives Sec. 6.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430207" y="3734410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 txBox="1"/>
          <p:nvPr/>
        </p:nvSpPr>
        <p:spPr>
          <a:xfrm>
            <a:off x="9430207" y="2971800"/>
            <a:ext cx="667512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3300" dirty="0"/>
          </a:p>
        </p:txBody>
      </p:sp>
      <p:sp>
        <p:nvSpPr>
          <p:cNvPr id="24" name="Text 19"/>
          <p:cNvSpPr txBox="1"/>
          <p:nvPr/>
        </p:nvSpPr>
        <p:spPr>
          <a:xfrm>
            <a:off x="10306202" y="2971800"/>
            <a:ext cx="66294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FTE unlocks flexibility — with parity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0306202" y="3272638"/>
            <a:ext cx="73152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Fixed-term employment is a legitimate tool, but with full parity and gratuity from 1 year.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9430207" y="4714646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 txBox="1"/>
          <p:nvPr/>
        </p:nvSpPr>
        <p:spPr>
          <a:xfrm>
            <a:off x="9430207" y="3952037"/>
            <a:ext cx="667512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3300" dirty="0"/>
          </a:p>
        </p:txBody>
      </p:sp>
      <p:sp>
        <p:nvSpPr>
          <p:cNvPr id="28" name="Text 23"/>
          <p:cNvSpPr txBox="1"/>
          <p:nvPr/>
        </p:nvSpPr>
        <p:spPr>
          <a:xfrm>
            <a:off x="10306202" y="3952037"/>
            <a:ext cx="62106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Gig economy is inside the perimeter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10306202" y="4252874"/>
            <a:ext cx="68964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Aggregators owe 1-2% of turnover to the Social Security Fund — non-negotiable.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9430207" y="5951830"/>
            <a:ext cx="7715707" cy="9144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6"/>
          <p:cNvSpPr txBox="1"/>
          <p:nvPr/>
        </p:nvSpPr>
        <p:spPr>
          <a:xfrm>
            <a:off x="9430207" y="4933188"/>
            <a:ext cx="667512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2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07</a:t>
            </a:r>
            <a:endParaRPr lang="en-US" sz="3300" dirty="0"/>
          </a:p>
        </p:txBody>
      </p:sp>
      <p:sp>
        <p:nvSpPr>
          <p:cNvPr id="32" name="Text 27"/>
          <p:cNvSpPr txBox="1"/>
          <p:nvPr/>
        </p:nvSpPr>
        <p:spPr>
          <a:xfrm>
            <a:off x="10306202" y="4933188"/>
            <a:ext cx="68397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Prevention is cheaper than penalty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10306202" y="5234026"/>
            <a:ext cx="68397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Sec. 133(a): 1-3 years jail for non-remittance of deducted contributions. There is no cheaper safeguard than compliance.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9715500" y="8143646"/>
            <a:ext cx="71442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THOUGHT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9715500" y="8429854"/>
            <a:ext cx="714420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"The Codes reward the employer who codifies the workplace. Every appointment letter, every register, every filed return is a defence."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1143000" y="96962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Synthesis of Codes on Wages, IR, SS &amp; OSH — Practitioner reflections by CA Vivek Agarwal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1143000" y="9924898"/>
            <a:ext cx="9525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2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TAKEAWAYS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17145000" y="9924898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B04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47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7cfee4bf07411df954f4c03bd9bea76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Image 1" descr="gen-dedup-df26d1f825bd9f54b806173ac026e34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71500" y="1429207"/>
            <a:ext cx="7620610" cy="3657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0" i="1" dirty="0">
                <a:solidFill>
                  <a:srgbClr val="C9A227">
                    <a:alpha val="1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&amp;</a:t>
            </a:r>
            <a:endParaRPr lang="en-US" sz="36000" dirty="0"/>
          </a:p>
        </p:txBody>
      </p:sp>
      <p:sp>
        <p:nvSpPr>
          <p:cNvPr id="5" name="Shape 1"/>
          <p:cNvSpPr/>
          <p:nvPr/>
        </p:nvSpPr>
        <p:spPr>
          <a:xfrm>
            <a:off x="10363200" y="1353312"/>
            <a:ext cx="2283666" cy="2506371"/>
          </a:xfrm>
          <a:prstGeom prst="ellipse">
            <a:avLst/>
          </a:prstGeom>
          <a:noFill/>
          <a:ln w="381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2" descr="gen-dedup-9f9228a7ad9d02bd3bb83b8e23aa1809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0477195" y="3905402"/>
            <a:ext cx="6667805" cy="914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477195" y="4714646"/>
            <a:ext cx="6705295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10477195" y="4714646"/>
            <a:ext cx="28346" cy="972007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10477195" y="5857646"/>
            <a:ext cx="6705295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10477195" y="5857646"/>
            <a:ext cx="28346" cy="972007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0477195" y="7000646"/>
            <a:ext cx="6705295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10477195" y="7000646"/>
            <a:ext cx="28346" cy="972007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3" descr="gen-dedup-9f9228a7ad9d02bd3bb83b8e23aa1809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0477195" y="9096451"/>
            <a:ext cx="6667805" cy="9144"/>
          </a:xfrm>
          <a:prstGeom prst="rect">
            <a:avLst/>
          </a:prstGeom>
        </p:spPr>
      </p:pic>
      <p:pic>
        <p:nvPicPr>
          <p:cNvPr id="14" name="Image 4" descr="gen-dedup-fe313c6d634a9d6d94ec65b5200a4cdf.png"/>
          <p:cNvPicPr>
            <a:picLocks noChangeAspect="1"/>
          </p:cNvPicPr>
          <p:nvPr/>
        </p:nvPicPr>
        <p:blipFill>
          <a:blip r:embed="rId5"/>
          <a:srcRect t="-80" b="-80"/>
          <a:stretch/>
        </p:blipFill>
        <p:spPr>
          <a:xfrm>
            <a:off x="9144000" y="0"/>
            <a:ext cx="47549" cy="10287000"/>
          </a:xfrm>
          <a:prstGeom prst="rect">
            <a:avLst/>
          </a:prstGeom>
        </p:spPr>
      </p:pic>
      <p:pic>
        <p:nvPicPr>
          <p:cNvPr id="15" name="Image 5" descr="gen-dedup-6f7d439f1708d6b2c78fb4dcf548d03b.png"/>
          <p:cNvPicPr>
            <a:picLocks noChangeAspect="1"/>
          </p:cNvPicPr>
          <p:nvPr/>
        </p:nvPicPr>
        <p:blipFill>
          <a:blip r:embed="rId6"/>
          <a:srcRect l="-404" r="-404"/>
          <a:stretch/>
        </p:blipFill>
        <p:spPr>
          <a:xfrm>
            <a:off x="1143000" y="1714500"/>
            <a:ext cx="571500" cy="28346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904695" y="1619402"/>
            <a:ext cx="4763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472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FLOOR</a:t>
            </a:r>
            <a:endParaRPr lang="en-US" sz="100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2667305"/>
            <a:ext cx="979231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0" b="1" kern="0" spc="-270" dirty="0">
                <a:solidFill>
                  <a:srgbClr val="F8F5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Questions</a:t>
            </a:r>
            <a:endParaRPr lang="en-US" sz="13500" dirty="0"/>
          </a:p>
        </p:txBody>
      </p:sp>
      <p:pic>
        <p:nvPicPr>
          <p:cNvPr id="18" name="Image 6" descr="gen-dedup-279eb22148ba3bcdf153f6d74422d694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143000" y="4667098"/>
            <a:ext cx="1714500" cy="19202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143000" y="5000854"/>
            <a:ext cx="85725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i="1" dirty="0">
                <a:solidFill>
                  <a:srgbClr val="F3E9C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&amp; Discussion</a:t>
            </a:r>
            <a:endParaRPr lang="en-US" sz="3300" dirty="0"/>
          </a:p>
        </p:txBody>
      </p:sp>
      <p:sp>
        <p:nvSpPr>
          <p:cNvPr id="20" name="Text 11"/>
          <p:cNvSpPr txBox="1"/>
          <p:nvPr/>
        </p:nvSpPr>
        <p:spPr>
          <a:xfrm>
            <a:off x="1143000" y="6286500"/>
            <a:ext cx="76206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F3E9C7">
                    <a:alpha val="8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"The best way to predict the future of your compliance regime is to design it — deliberately."</a:t>
            </a:r>
            <a:endParaRPr lang="en-US" sz="1900" dirty="0"/>
          </a:p>
        </p:txBody>
      </p:sp>
      <p:pic>
        <p:nvPicPr>
          <p:cNvPr id="21" name="Image 7" descr="gen-dedup-0a74c50527a740fca4d2414b0d0d0563.png"/>
          <p:cNvPicPr>
            <a:picLocks noChangeAspect="1"/>
          </p:cNvPicPr>
          <p:nvPr/>
        </p:nvPicPr>
        <p:blipFill>
          <a:blip r:embed="rId8"/>
          <a:srcRect l="-2100" r="-2100"/>
          <a:stretch/>
        </p:blipFill>
        <p:spPr>
          <a:xfrm>
            <a:off x="1143000" y="9430207"/>
            <a:ext cx="952805" cy="9144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143000" y="9572854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341" dirty="0">
                <a:solidFill>
                  <a:srgbClr val="D4B0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LISTENING</a:t>
            </a:r>
            <a:endParaRPr lang="en-US" sz="900" dirty="0"/>
          </a:p>
        </p:txBody>
      </p:sp>
      <p:sp>
        <p:nvSpPr>
          <p:cNvPr id="24" name="Text 14"/>
          <p:cNvSpPr txBox="1"/>
          <p:nvPr/>
        </p:nvSpPr>
        <p:spPr>
          <a:xfrm>
            <a:off x="12859207" y="1714500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39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SPEAKER</a:t>
            </a:r>
            <a:endParaRPr lang="en-US" sz="900" dirty="0"/>
          </a:p>
        </p:txBody>
      </p:sp>
      <p:sp>
        <p:nvSpPr>
          <p:cNvPr id="25" name="Text 15"/>
          <p:cNvSpPr txBox="1"/>
          <p:nvPr/>
        </p:nvSpPr>
        <p:spPr>
          <a:xfrm>
            <a:off x="12859207" y="2000707"/>
            <a:ext cx="5262372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 Vivek Agarwal</a:t>
            </a:r>
            <a:endParaRPr lang="en-US" sz="3900" dirty="0"/>
          </a:p>
        </p:txBody>
      </p:sp>
      <p:sp>
        <p:nvSpPr>
          <p:cNvPr id="26" name="Text 16"/>
          <p:cNvSpPr txBox="1"/>
          <p:nvPr/>
        </p:nvSpPr>
        <p:spPr>
          <a:xfrm>
            <a:off x="12859207" y="2762402"/>
            <a:ext cx="4763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A5A7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FCA · DISA (ICAI) · B.Com</a:t>
            </a:r>
            <a:endParaRPr lang="en-US" sz="1600" dirty="0"/>
          </a:p>
        </p:txBody>
      </p:sp>
      <p:sp>
        <p:nvSpPr>
          <p:cNvPr id="27" name="Text 17"/>
          <p:cNvSpPr txBox="1"/>
          <p:nvPr/>
        </p:nvSpPr>
        <p:spPr>
          <a:xfrm>
            <a:off x="12859207" y="3095244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B886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in Labour &amp; Employment Laws</a:t>
            </a:r>
            <a:endParaRPr lang="en-US" sz="1200" dirty="0"/>
          </a:p>
        </p:txBody>
      </p:sp>
      <p:sp>
        <p:nvSpPr>
          <p:cNvPr id="28" name="Text 18"/>
          <p:cNvSpPr txBox="1"/>
          <p:nvPr/>
        </p:nvSpPr>
        <p:spPr>
          <a:xfrm>
            <a:off x="10477195" y="4238244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IN TOUCH</a:t>
            </a:r>
            <a:endParaRPr lang="en-US" sz="1000" dirty="0"/>
          </a:p>
        </p:txBody>
      </p:sp>
      <p:sp>
        <p:nvSpPr>
          <p:cNvPr id="29" name="Text 19"/>
          <p:cNvSpPr txBox="1"/>
          <p:nvPr/>
        </p:nvSpPr>
        <p:spPr>
          <a:xfrm>
            <a:off x="10763402" y="4858207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00" dirty="0"/>
          </a:p>
        </p:txBody>
      </p:sp>
      <p:sp>
        <p:nvSpPr>
          <p:cNvPr id="30" name="Text 20"/>
          <p:cNvSpPr txBox="1"/>
          <p:nvPr/>
        </p:nvSpPr>
        <p:spPr>
          <a:xfrm>
            <a:off x="10763402" y="5095951"/>
            <a:ext cx="6096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vivek@epagaar.com</a:t>
            </a:r>
            <a:endParaRPr lang="en-US" sz="1900" dirty="0"/>
          </a:p>
        </p:txBody>
      </p:sp>
      <p:sp>
        <p:nvSpPr>
          <p:cNvPr id="31" name="Text 21"/>
          <p:cNvSpPr txBox="1"/>
          <p:nvPr/>
        </p:nvSpPr>
        <p:spPr>
          <a:xfrm>
            <a:off x="10763402" y="5381244"/>
            <a:ext cx="6096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follow-up queries &amp; opinion memoranda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10763402" y="6001207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TELEPHONE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10763402" y="6238951"/>
            <a:ext cx="6096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+91 9832373066</a:t>
            </a:r>
            <a:endParaRPr lang="en-US" sz="1900" dirty="0"/>
          </a:p>
        </p:txBody>
      </p:sp>
      <p:sp>
        <p:nvSpPr>
          <p:cNvPr id="34" name="Text 24"/>
          <p:cNvSpPr txBox="1"/>
          <p:nvPr/>
        </p:nvSpPr>
        <p:spPr>
          <a:xfrm>
            <a:off x="10763402" y="6524244"/>
            <a:ext cx="6096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 to Saturday · 10:00 – 18:00 IST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10763402" y="7144207"/>
            <a:ext cx="6096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CHAMBERS</a:t>
            </a:r>
            <a:endParaRPr lang="en-US" sz="900" dirty="0"/>
          </a:p>
        </p:txBody>
      </p:sp>
      <p:sp>
        <p:nvSpPr>
          <p:cNvPr id="36" name="Text 26"/>
          <p:cNvSpPr txBox="1"/>
          <p:nvPr/>
        </p:nvSpPr>
        <p:spPr>
          <a:xfrm>
            <a:off x="10763402" y="7381951"/>
            <a:ext cx="60963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F3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Vivek Raj &amp; Associates</a:t>
            </a:r>
            <a:endParaRPr lang="en-US" sz="1600" dirty="0"/>
          </a:p>
        </p:txBody>
      </p:sp>
      <p:sp>
        <p:nvSpPr>
          <p:cNvPr id="37" name="Text 27"/>
          <p:cNvSpPr txBox="1"/>
          <p:nvPr/>
        </p:nvSpPr>
        <p:spPr>
          <a:xfrm>
            <a:off x="10763402" y="7667244"/>
            <a:ext cx="6096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Siliguri · West Bengal</a:t>
            </a:r>
            <a:endParaRPr lang="en-US" sz="1000" dirty="0"/>
          </a:p>
        </p:txBody>
      </p:sp>
      <p:sp>
        <p:nvSpPr>
          <p:cNvPr id="38" name="Text 28"/>
          <p:cNvSpPr txBox="1"/>
          <p:nvPr/>
        </p:nvSpPr>
        <p:spPr>
          <a:xfrm>
            <a:off x="10477195" y="9286646"/>
            <a:ext cx="6667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4A5A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HOSTED BY THE CALCUTTA CHAMBER OF COMMERCE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10477195" y="9572854"/>
            <a:ext cx="6667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5A7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17</a:t>
            </a:r>
            <a:r>
              <a:rPr lang="en-US" sz="1100" i="1" dirty="0">
                <a:solidFill>
                  <a:srgbClr val="4A5A7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</a:t>
            </a:r>
            <a:r>
              <a:rPr lang="en-US" sz="1300" i="1" dirty="0">
                <a:solidFill>
                  <a:srgbClr val="4A5A7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July, 2026 · Kolkata</a:t>
            </a:r>
            <a:endParaRPr lang="en-US" sz="1300" dirty="0"/>
          </a:p>
        </p:txBody>
      </p:sp>
      <p:sp>
        <p:nvSpPr>
          <p:cNvPr id="40" name="Text 30"/>
          <p:cNvSpPr txBox="1"/>
          <p:nvPr/>
        </p:nvSpPr>
        <p:spPr>
          <a:xfrm>
            <a:off x="17145000" y="9858146"/>
            <a:ext cx="762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4A5A7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48</a:t>
            </a:r>
            <a:endParaRPr lang="en-US" sz="13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392E74A-EE92-DA53-C6E2-AFD428DFD1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9874" y="1423069"/>
            <a:ext cx="2090319" cy="2376000"/>
          </a:xfrm>
          <a:prstGeom prst="flowChartConnector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9302</Words>
  <Application>Microsoft Office PowerPoint</Application>
  <PresentationFormat>Custom</PresentationFormat>
  <Paragraphs>1296</Paragraphs>
  <Slides>48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Fraunces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Vivek Agarwal</cp:lastModifiedBy>
  <cp:revision>4</cp:revision>
  <dcterms:created xsi:type="dcterms:W3CDTF">2026-07-16T08:44:04Z</dcterms:created>
  <dcterms:modified xsi:type="dcterms:W3CDTF">2026-07-16T11:54:57Z</dcterms:modified>
</cp:coreProperties>
</file>